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embeddedFontLst>
    <p:embeddedFont>
      <p:font typeface="Roboto Mon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8" roundtripDataSignature="AMtx7mj5jpS+aCtK5ywW+Q1Wid8hXrTg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Mono-bold.fntdata"/><Relationship Id="rId10" Type="http://schemas.openxmlformats.org/officeDocument/2006/relationships/slide" Target="slides/slide5.xml"/><Relationship Id="rId54" Type="http://schemas.openxmlformats.org/officeDocument/2006/relationships/font" Target="fonts/RobotoMono-regular.fntdata"/><Relationship Id="rId13" Type="http://schemas.openxmlformats.org/officeDocument/2006/relationships/slide" Target="slides/slide8.xml"/><Relationship Id="rId57" Type="http://schemas.openxmlformats.org/officeDocument/2006/relationships/font" Target="fonts/RobotoMono-boldItalic.fntdata"/><Relationship Id="rId12" Type="http://schemas.openxmlformats.org/officeDocument/2006/relationships/slide" Target="slides/slide7.xml"/><Relationship Id="rId56"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let’s talk about serverless</a:t>
            </a:r>
            <a:r>
              <a:rPr lang="en"/>
              <a:t> GPUs, where the cold start latency comes from, why it happens,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and what practical strategies significantly reduce or eliminate it.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8d5a2bf02_0_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98d5a2bf02_0_6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a:t>The ideal picture of serverless is simple: zero infrastructure management, scale up on demand, and scale to zero when idle so there’s no cost when unused. </a:t>
            </a:r>
            <a:br>
              <a:rPr lang="en"/>
            </a:br>
            <a:r>
              <a:rPr lang="en"/>
              <a:t>The issue is that GPU workloads do not start instantly. </a:t>
            </a:r>
            <a:br>
              <a:rPr lang="en"/>
            </a:br>
            <a:r>
              <a:rPr lang="en"/>
              <a:t>Cold starts on GPUs commonly take 15 to 25 seconds, sometimes longer, which makes real-time inference impractical. By the time the GPU is ready, the user request that triggered it may have long since timed out. </a:t>
            </a:r>
            <a:endParaRPr/>
          </a:p>
          <a:p>
            <a:pPr indent="0" lvl="0" marL="0" rtl="0" algn="l">
              <a:lnSpc>
                <a:spcPct val="115000"/>
              </a:lnSpc>
              <a:spcBef>
                <a:spcPts val="1200"/>
              </a:spcBef>
              <a:spcAft>
                <a:spcPts val="0"/>
              </a:spcAft>
              <a:buSzPts val="1100"/>
              <a:buNone/>
            </a:pPr>
            <a:r>
              <a:rPr lang="en"/>
              <a:t>The end result is that teams often avoid scale-to-zero and run “warm” GPUs continuously, which eliminates the cost advantage. </a:t>
            </a:r>
            <a:endParaRPr/>
          </a:p>
          <a:p>
            <a:pPr indent="0" lvl="0" marL="0" rtl="0" algn="l">
              <a:lnSpc>
                <a:spcPct val="115000"/>
              </a:lnSpc>
              <a:spcBef>
                <a:spcPts val="1200"/>
              </a:spcBef>
              <a:spcAft>
                <a:spcPts val="1200"/>
              </a:spcAft>
              <a:buSzPts val="1100"/>
              <a:buNone/>
            </a:pPr>
            <a:r>
              <a:rPr lang="en"/>
              <a:t>The key question becomes: why is the GPU cold start so slow, and what can we do about it?</a:t>
            </a:r>
            <a:endParaRPr/>
          </a:p>
        </p:txBody>
      </p:sp>
      <p:sp>
        <p:nvSpPr>
          <p:cNvPr id="60" name="Google Shape;60;g398d5a2bf02_0_6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8d5a2bf02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g398d5a2bf0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8d5a2bf02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g398d5a2bf02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
              <a:t>On CPU-based serverless compute, starting a container, launching the runtime, and importing code typically completes within a couple of seconds. GPUs, however, require loading drivers, establishing CUDA runtime state, transferring model weights into GPU memory, and building execution contexts. These steps add up to much longer startup times. So while CPU serverless workloads feel instant, GPU serverless workloads often feel sluggish unless pre-warmed. This contrast sets the stage for why GPU cold starts are fundamentally a deeper system issue, not just an application detail.</a:t>
            </a:r>
            <a:endParaRPr/>
          </a:p>
        </p:txBody>
      </p:sp>
      <p:sp>
        <p:nvSpPr>
          <p:cNvPr id="81" name="Google Shape;81;g398d5a2bf02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8d5a2bf02_0_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8d5a2bf02_0_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
              <a:t>The root cause is that GPU execution depends on hardware-level context setup and model memory placement. CPU workloads can begin running with minimal memory preparation, but GPU workloads require binding VRAM, initializing kernels, and sometimes power-state transitions. These operations can’t be skipped or shortcut the first time. So GPU cold starts have structural latency that must be understood before being optimized. The key is breaking this down into the stages that shape the total delay.</a:t>
            </a:r>
            <a:endParaRPr/>
          </a:p>
        </p:txBody>
      </p:sp>
      <p:sp>
        <p:nvSpPr>
          <p:cNvPr id="95" name="Google Shape;95;g398d5a2bf02_0_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8d5a2bf02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8d5a2bf02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chemeClr val="dk1"/>
                </a:solidFill>
              </a:rPr>
              <a:t>A GPU workload in Kubernetes involves several interacting layers beyond just the application. </a:t>
            </a:r>
            <a:br>
              <a:rPr b="1" lang="en">
                <a:solidFill>
                  <a:schemeClr val="dk1"/>
                </a:solidFill>
              </a:rPr>
            </a:br>
            <a:br>
              <a:rPr b="1" lang="en">
                <a:solidFill>
                  <a:schemeClr val="dk1"/>
                </a:solidFill>
              </a:rPr>
            </a:br>
            <a:r>
              <a:rPr b="1" lang="en">
                <a:solidFill>
                  <a:schemeClr val="dk1"/>
                </a:solidFill>
              </a:rPr>
              <a:t>NVIDIA device plugin</a:t>
            </a:r>
            <a:r>
              <a:rPr lang="en">
                <a:solidFill>
                  <a:schemeClr val="dk1"/>
                </a:solidFill>
              </a:rPr>
              <a:t> first advertises GPU resources to the scheduler. </a:t>
            </a:r>
            <a:br>
              <a:rPr lang="en">
                <a:solidFill>
                  <a:schemeClr val="dk1"/>
                </a:solidFill>
              </a:rPr>
            </a:br>
            <a:r>
              <a:rPr lang="en">
                <a:solidFill>
                  <a:schemeClr val="dk1"/>
                </a:solidFill>
              </a:rPr>
              <a:t>Then the </a:t>
            </a:r>
            <a:r>
              <a:rPr b="1" lang="en">
                <a:solidFill>
                  <a:schemeClr val="dk1"/>
                </a:solidFill>
              </a:rPr>
              <a:t>NVIDIA container runtime</a:t>
            </a:r>
            <a:r>
              <a:rPr lang="en">
                <a:solidFill>
                  <a:schemeClr val="dk1"/>
                </a:solidFill>
              </a:rPr>
              <a:t> injects driver libraries (</a:t>
            </a:r>
            <a:r>
              <a:rPr lang="en">
                <a:solidFill>
                  <a:srgbClr val="188038"/>
                </a:solidFill>
                <a:latin typeface="Roboto Mono"/>
                <a:ea typeface="Roboto Mono"/>
                <a:cs typeface="Roboto Mono"/>
                <a:sym typeface="Roboto Mono"/>
              </a:rPr>
              <a:t>libcuda.so</a:t>
            </a:r>
            <a:r>
              <a:rPr lang="en">
                <a:solidFill>
                  <a:schemeClr val="dk1"/>
                </a:solidFill>
              </a:rPr>
              <a:t>, </a:t>
            </a:r>
            <a:r>
              <a:rPr lang="en">
                <a:solidFill>
                  <a:srgbClr val="188038"/>
                </a:solidFill>
                <a:latin typeface="Roboto Mono"/>
                <a:ea typeface="Roboto Mono"/>
                <a:cs typeface="Roboto Mono"/>
                <a:sym typeface="Roboto Mono"/>
              </a:rPr>
              <a:t>libnvidia-ml.so</a:t>
            </a:r>
            <a:r>
              <a:rPr lang="en">
                <a:solidFill>
                  <a:schemeClr val="dk1"/>
                </a:solidFill>
              </a:rPr>
              <a:t>) into the pod.</a:t>
            </a:r>
            <a:br>
              <a:rPr lang="en">
                <a:solidFill>
                  <a:schemeClr val="dk1"/>
                </a:solidFill>
              </a:rPr>
            </a:br>
            <a:r>
              <a:rPr lang="en">
                <a:solidFill>
                  <a:schemeClr val="dk1"/>
                </a:solidFill>
              </a:rPr>
              <a:t>Nvidia drivers actually talk to the gpu hardware and which in turn do the actual computation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8d5a2bf02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8d5a2bf02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There are four major phases: pod scheduling and resource binding, GPU driver/runtime setup, CUDA context creation, and finally, loading model weights into GPU memory. Each phase adds latency, and each one behaves differently depending on system state. Some parts only happen once per node boot; others happen once per container; others happen once per model; and some even happen once per request. Our job is to identify which steps are avoidable, which are reducible, and which can be deferred or parallelized.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8d5a2bf02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8d5a2bf02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When a GPU-backed pod is requested, Kubernetes can’t just schedule it anywhere. GPUs aren’t native resources in Kubernetes, so the scheduler relies on NVIDIA’s device plugin to advertise which nodes actually have available GPUs. </a:t>
            </a:r>
            <a:r>
              <a:rPr lang="en">
                <a:solidFill>
                  <a:schemeClr val="dk1"/>
                </a:solidFill>
              </a:rPr>
              <a:t>The scheduler has to wait until a node reports a free </a:t>
            </a:r>
            <a:r>
              <a:rPr lang="en">
                <a:solidFill>
                  <a:srgbClr val="188038"/>
                </a:solidFill>
                <a:latin typeface="Roboto Mono"/>
                <a:ea typeface="Roboto Mono"/>
                <a:cs typeface="Roboto Mono"/>
                <a:sym typeface="Roboto Mono"/>
              </a:rPr>
              <a:t>nvidia.com/gpu</a:t>
            </a:r>
            <a:r>
              <a:rPr lang="en">
                <a:solidFill>
                  <a:schemeClr val="dk1"/>
                </a:solidFill>
              </a:rPr>
              <a:t> before it can even place the pod. And the kubelet on that node then has to coordinate attaching the GPU into the container runtime. All of that adds overhead before we even get to drivers, CUDA, or model loading. </a:t>
            </a:r>
            <a:r>
              <a:rPr lang="en">
                <a:solidFill>
                  <a:schemeClr val="dk1"/>
                </a:solidFill>
              </a:rPr>
              <a:t>So part of the cold start cost is simply the cluster figuring out where this workload is allowed to run.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8d5a2bf02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8d5a2bf02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First, the pod can sit in a “Pending” state while the device plugin reports which GPUs are available. That can take anywhere from a few hundred milliseconds to a couple of seconds. Then, once a node is chosen, the kubelet has to request a specific GPU ID from the device plugin over gRPC before the container can start. And if the node has just been restarted or recently joined the cluster, that initial handshake between kubelet and the plugin adds another second or two. None of this involves loading the model yet — this is just the cluster negotiating who gets which GPU.</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8d5a2bf02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8d5a2bf02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In short, The device plugin scans for GPUs and assigns device files to containers. </a:t>
            </a:r>
            <a:br>
              <a:rPr lang="en">
                <a:solidFill>
                  <a:schemeClr val="dk1"/>
                </a:solidFill>
              </a:rPr>
            </a:br>
            <a:br>
              <a:rPr lang="en">
                <a:solidFill>
                  <a:schemeClr val="dk1"/>
                </a:solidFill>
              </a:rPr>
            </a:br>
            <a:r>
              <a:rPr lang="en">
                <a:solidFill>
                  <a:schemeClr val="dk1"/>
                </a:solidFill>
              </a:rPr>
              <a:t>The important point is that GPU resource exposure itself is not instant.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8d5a2bf02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8d5a2bf02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Even inside the device plugin itself, there are places where latency creeps in. When a node comes online, NVML needs a second or two just to enumerate all the GPUs. Then, for every pod that requests a GPU, the plugin and kubelet coordinate over gRPC to allocate a specific device. If the GPU was recently freed or the driver context needs to be reinitialized, that call can take a few extra seconds. And in multi-GPU nodes, the plugin sometimes serializes allocation decisions to avoid conflicts, which adds just a bit more delay. These steps are small individually, but together they stack up before the container even begins loading the model.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8d5a2bf02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8d5a2bf02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Once Kubernetes selects a node, the CRI runtime (typically containerd) initializes the container environment. </a:t>
            </a:r>
            <a:br>
              <a:rPr lang="en">
                <a:solidFill>
                  <a:schemeClr val="dk1"/>
                </a:solidFill>
              </a:rPr>
            </a:br>
            <a:br>
              <a:rPr lang="en">
                <a:solidFill>
                  <a:schemeClr val="dk1"/>
                </a:solidFill>
              </a:rPr>
            </a:br>
            <a:r>
              <a:rPr lang="en">
                <a:solidFill>
                  <a:schemeClr val="dk1"/>
                </a:solidFill>
              </a:rPr>
              <a:t>When GPUs are requested, the NVIDIA runtime hook injects the necessary libraries and device mounts. </a:t>
            </a:r>
            <a:br>
              <a:rPr lang="en">
                <a:solidFill>
                  <a:schemeClr val="dk1"/>
                </a:solidFill>
              </a:rPr>
            </a:br>
            <a:br>
              <a:rPr lang="en">
                <a:solidFill>
                  <a:schemeClr val="dk1"/>
                </a:solidFill>
              </a:rPr>
            </a:br>
            <a:r>
              <a:rPr lang="en">
                <a:solidFill>
                  <a:schemeClr val="dk1"/>
                </a:solidFill>
              </a:rPr>
              <a:t> easiest areas to optimize through pre-pulling, caching, and persistent driver containers.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8d5a2bf02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8d5a2bf02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a few more latency contributors once the runtime hook kicks in. First, mounting the GPU device files and copying or linking the CUDA libraries into the container can take from milliseconds to a couple of seconds, depending on disk and filesystem speed. Then the NVIDIA runtime hook does a compatibility check to make sure the container’s CUDA libraries and the host drivers match. That check is quick on warm nodes, but on first use it adds a few seconds. And if the driver or runtime cache was evicted, the node may need to re-pull and unpack those driver components, which can add tens of seconds. So again, these small steps stack up and show why GPU cold starts feel so slow.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8d5a2bf02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98d5a2bf02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the container is finally running, the application still has a bit of work to do before it can actually run inference. creating a CUDA context, allocating GPU memory, often in pretty large blocks, depending on the model. And then launching kernels and doing the real compute work.</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8d5a2bf02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8d5a2bf02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lets see what all happens once the container has started and how each step adds up to the latency sources</a:t>
            </a:r>
            <a:endParaRPr>
              <a:solidFill>
                <a:schemeClr val="dk1"/>
              </a:solidFill>
            </a:endParaRPr>
          </a:p>
          <a:p>
            <a:pPr indent="0" lvl="0" marL="0" rtl="0" algn="l">
              <a:spcBef>
                <a:spcPts val="0"/>
              </a:spcBef>
              <a:spcAft>
                <a:spcPts val="0"/>
              </a:spcAft>
              <a:buNone/>
            </a:pPr>
            <a:r>
              <a:rPr lang="en">
                <a:solidFill>
                  <a:schemeClr val="dk1"/>
                </a:solidFill>
              </a:rPr>
              <a:t>First comes The </a:t>
            </a:r>
            <a:r>
              <a:rPr b="1" lang="en">
                <a:solidFill>
                  <a:schemeClr val="dk1"/>
                </a:solidFill>
              </a:rPr>
              <a:t>CUDA Runtime, </a:t>
            </a:r>
            <a:br>
              <a:rPr b="1" lang="en">
                <a:solidFill>
                  <a:schemeClr val="dk1"/>
                </a:solidFill>
              </a:rPr>
            </a:br>
            <a:br>
              <a:rPr b="1" lang="en">
                <a:solidFill>
                  <a:schemeClr val="dk1"/>
                </a:solidFill>
              </a:rPr>
            </a:br>
            <a:r>
              <a:rPr b="1" lang="en">
                <a:solidFill>
                  <a:schemeClr val="dk1"/>
                </a:solidFill>
              </a:rPr>
              <a:t>CUDA runtime </a:t>
            </a:r>
            <a:r>
              <a:rPr lang="en">
                <a:solidFill>
                  <a:schemeClr val="dk1"/>
                </a:solidFill>
              </a:rPr>
              <a:t> is the </a:t>
            </a:r>
            <a:r>
              <a:rPr i="1" lang="en">
                <a:solidFill>
                  <a:schemeClr val="dk1"/>
                </a:solidFill>
              </a:rPr>
              <a:t>API layer</a:t>
            </a:r>
            <a:r>
              <a:rPr lang="en">
                <a:solidFill>
                  <a:schemeClr val="dk1"/>
                </a:solidFill>
              </a:rPr>
              <a:t> (the functions you call in code, like </a:t>
            </a:r>
            <a:r>
              <a:rPr lang="en">
                <a:solidFill>
                  <a:srgbClr val="188038"/>
                </a:solidFill>
                <a:latin typeface="Roboto Mono"/>
                <a:ea typeface="Roboto Mono"/>
                <a:cs typeface="Roboto Mono"/>
                <a:sym typeface="Roboto Mono"/>
              </a:rPr>
              <a:t>cudaMalloc</a:t>
            </a:r>
            <a:r>
              <a:rPr lang="en">
                <a:solidFill>
                  <a:schemeClr val="dk1"/>
                </a:solidFill>
              </a:rPr>
              <a:t>, </a:t>
            </a:r>
            <a:r>
              <a:rPr lang="en">
                <a:solidFill>
                  <a:srgbClr val="188038"/>
                </a:solidFill>
                <a:latin typeface="Roboto Mono"/>
                <a:ea typeface="Roboto Mono"/>
                <a:cs typeface="Roboto Mono"/>
                <a:sym typeface="Roboto Mono"/>
              </a:rPr>
              <a:t>cudaLaunchKernel</a:t>
            </a:r>
            <a:r>
              <a:rPr lang="en">
                <a:solidFill>
                  <a:schemeClr val="dk1"/>
                </a:solidFill>
              </a:rPr>
              <a:t>, etc.). It’s essentially a convenience wrapper on top of the lower-level Driver APIs. So, When you make your </a:t>
            </a:r>
            <a:r>
              <a:rPr b="1" lang="en">
                <a:solidFill>
                  <a:schemeClr val="dk1"/>
                </a:solidFill>
              </a:rPr>
              <a:t>first</a:t>
            </a:r>
            <a:r>
              <a:rPr lang="en">
                <a:solidFill>
                  <a:schemeClr val="dk1"/>
                </a:solidFill>
              </a:rPr>
              <a:t> CUDA Runtime call that requires GPU access, the runtime will </a:t>
            </a:r>
            <a:r>
              <a:rPr b="1" lang="en">
                <a:solidFill>
                  <a:schemeClr val="dk1"/>
                </a:solidFill>
              </a:rPr>
              <a:t>implicitly create a CUDA context</a:t>
            </a:r>
            <a:r>
              <a:rPr lang="en">
                <a:solidFill>
                  <a:schemeClr val="dk1"/>
                </a:solidFill>
              </a:rPr>
              <a:t> by calling into the </a:t>
            </a:r>
            <a:r>
              <a:rPr b="1" lang="en">
                <a:solidFill>
                  <a:schemeClr val="dk1"/>
                </a:solidFill>
              </a:rPr>
              <a:t>Driver API</a:t>
            </a:r>
            <a:r>
              <a:rPr lang="en">
                <a:solidFill>
                  <a:schemeClr val="dk1"/>
                </a:solidFill>
              </a:rPr>
              <a: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8d5a2bf02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98d5a2bf02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a:solidFill>
                  <a:schemeClr val="dk1"/>
                </a:solidFill>
              </a:rPr>
            </a:br>
            <a:r>
              <a:rPr lang="en">
                <a:solidFill>
                  <a:schemeClr val="dk1"/>
                </a:solidFill>
              </a:rPr>
              <a:t>So as i just mentioned  the runtime Calls trigger the creation of a CUDA context by talking to the GPU drivers. </a:t>
            </a:r>
            <a:br>
              <a:rPr lang="en">
                <a:solidFill>
                  <a:schemeClr val="dk1"/>
                </a:solidFill>
              </a:rPr>
            </a:br>
            <a:br>
              <a:rPr lang="en">
                <a:solidFill>
                  <a:schemeClr val="dk1"/>
                </a:solidFill>
              </a:rPr>
            </a:br>
            <a:r>
              <a:rPr lang="en">
                <a:solidFill>
                  <a:schemeClr val="dk1"/>
                </a:solidFill>
              </a:rPr>
              <a:t>So lets now understand </a:t>
            </a:r>
            <a:r>
              <a:rPr lang="en">
                <a:solidFill>
                  <a:schemeClr val="dk1"/>
                </a:solidFill>
              </a:rPr>
              <a:t>what</a:t>
            </a:r>
            <a:r>
              <a:rPr lang="en">
                <a:solidFill>
                  <a:schemeClr val="dk1"/>
                </a:solidFill>
              </a:rPr>
              <a:t> does the CUDA context initialization do  why is it needed</a:t>
            </a:r>
            <a:br>
              <a:rPr lang="en">
                <a:solidFill>
                  <a:schemeClr val="dk1"/>
                </a:solidFill>
              </a:rPr>
            </a:br>
            <a:br>
              <a:rPr lang="en">
                <a:solidFill>
                  <a:schemeClr val="dk1"/>
                </a:solidFill>
              </a:rPr>
            </a:br>
            <a:r>
              <a:rPr lang="en">
                <a:solidFill>
                  <a:schemeClr val="dk1"/>
                </a:solidFill>
              </a:rPr>
              <a:t>Mainly this  context creation step sets up the GPU for use: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it allocates some private memory in VRAM to track things like kernels and streams,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it initializes the GPU’s command processor</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it loads PTX or SASS kernel stubs into instruction memory, sometimes JIT-compiling them the first time.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CUDA context also sets up virtual memory mappings and communication channels between the user-space CUDA runtime and the kernel driver.</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8d5a2bf02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8d5a2bf02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understand how cuda runtime and cuda context add up to latency sources</a:t>
            </a:r>
            <a:br>
              <a:rPr lang="en"/>
            </a:br>
            <a:br>
              <a:rPr lang="en"/>
            </a:br>
            <a:r>
              <a:rPr lang="en"/>
              <a:t>Even after the CUDA context is created, there can be some additional latency depending on the GPU’s current state. The driver and kernel still have to negotiate command channels with the hardware.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the GPU was idle, it may be sitting in a low-power mode, typically P8,  </a:t>
            </a:r>
            <a:r>
              <a:rPr b="1" lang="en"/>
              <a:t>BUT</a:t>
            </a:r>
            <a:r>
              <a:rPr lang="en"/>
              <a:t> it needs to ramp up to a full performance state like P0 before execution begins.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power transition alone can </a:t>
            </a:r>
            <a:r>
              <a:rPr b="1" lang="en"/>
              <a:t>add noticeable delay</a:t>
            </a:r>
            <a:r>
              <a:rPr lang="en"/>
              <a:t>. So we often see anywhere from around 150 milliseconds up to a couple of seconds just from the GPU waking up and getting ready to run and work.</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8d5a2bf02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98d5a2bf02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comes one of the biggest contributors to GPU cold start time:</a:t>
            </a:r>
            <a:r>
              <a:rPr b="1" lang="en"/>
              <a:t> loading the model weights</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model has to be read from disk or the container image into CPU memory. Then the framework deserializes those weights into actual tensor buffers.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Once that’s done, GPU memory is allocated and the weights have to be copied from </a:t>
            </a:r>
            <a:r>
              <a:rPr b="1" lang="en"/>
              <a:t>CPU RAM into GPU VRAM</a:t>
            </a:r>
            <a:r>
              <a:rPr lang="en"/>
              <a:t>. That copy happens over PCIe or NVLink, and for large models this alone can take several seconds. So this is where you really feel the cost of large transformers or diffusion models — the data movement itself becomes a significant part of the cold start path.</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8d5a2bf02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8d5a2bf02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the challenge grows with model size. A 7B parameter model might mean moving one to three gigabytes of weights into GPU memory. Larger models like 13B or 70B scale that cost up very quickly. If the weights are stored in fp32, many frameworks will convert them to fp16 or bf16 during load, which adds extra compute time up front. And depending on system architecture, if the CPU memory holding the weights is on the wrong NUMA node relative to the GPU, you pay an additional bandwidth penalty just moving the data. So even after all the orchestration overhead, we still have this final and very real cost: moving gigabytes of model state over the bus before inference can begin.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8d5a2bf02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8d5a2bf02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 lets learn about Workspace and Memory Pool Allocation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 </a:t>
            </a:r>
            <a:br>
              <a:rPr lang="en"/>
            </a:br>
            <a:r>
              <a:rPr lang="en"/>
              <a:t>Once the model weights are in VRAM, most deep learning libraries also need to allocate extra GPU memory for temporary workspace. Libraries like cuBLAS and cuDNN use scratch buffers to optimize GEMM and convolution operations.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Attention layers also need their own workspace for QKV projections and softmax. And frameworks like PyTorch manage a memory pool with the CUDA caching allocator to avoid repeated malloc/free calls.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Allocating these buffers is usually fast, but it still adds a bit of latency on the first request. After that, the memory is reused and performance becomes steady.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8d5a2bf02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8d5a2bf02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br>
              <a:rPr lang="en"/>
            </a:br>
            <a:r>
              <a:rPr lang="en"/>
              <a:t>Coming to </a:t>
            </a:r>
            <a:r>
              <a:rPr lang="en"/>
              <a:t>the</a:t>
            </a:r>
            <a:r>
              <a:rPr lang="en"/>
              <a:t> latency contributions, </a:t>
            </a:r>
            <a:r>
              <a:rPr lang="en"/>
              <a:t>Once the workspace buffers are allocated, the GPU allocator may still need to do some cleanup during the first few requests. If the GPU memory is fragmented or previously used by something else, the allocator may need to compact or reallocate blocks, which can involve extra memcpy operations.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rPr lang="en"/>
              <a:t>also during the first few inference runs, the framework may dynamically resize memory pools as it figures out the steady-state footprint for the model. So those first one or two batches can be slower, and then performance levels out once the memory layout stabilizes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8d5a2bf02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8d5a2bf02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The last major piece that adds up to our troubles is the Runtime Data Transfer and Batching</a:t>
            </a:r>
            <a:endParaRPr/>
          </a:p>
          <a:p>
            <a:pPr indent="0" lvl="0" marL="0" rtl="0" algn="l">
              <a:lnSpc>
                <a:spcPct val="115000"/>
              </a:lnSpc>
              <a:spcBef>
                <a:spcPts val="1200"/>
              </a:spcBef>
              <a:spcAft>
                <a:spcPts val="0"/>
              </a:spcAft>
              <a:buNone/>
            </a:pPr>
            <a:br>
              <a:rPr lang="en"/>
            </a:br>
            <a:r>
              <a:rPr lang="en"/>
              <a:t>At inference time, most inputs start in CPU memory, whether that’s token IDs for language models or image tensors for vision models. So each request involves copying that input data into GPU staging buffers before execution can start. If we’re using dynamic batching with something like Triton, vLLM, or FasterTransformer, requests may wait briefly while the system forms a batch.</a:t>
            </a:r>
            <a:endParaRPr/>
          </a:p>
          <a:p>
            <a:pPr indent="0" lvl="0" marL="0" rtl="0" algn="l">
              <a:lnSpc>
                <a:spcPct val="115000"/>
              </a:lnSpc>
              <a:spcBef>
                <a:spcPts val="1200"/>
              </a:spcBef>
              <a:spcAft>
                <a:spcPts val="1200"/>
              </a:spcAft>
              <a:buNone/>
            </a:pPr>
            <a:r>
              <a:rPr lang="en"/>
              <a:t> The upside is that batching amortizes compute across multiple inputs and improves throughput, but it does add a small queueing delay. So even after the model is fully loaded, we still have this constant CPU-to-GPU data movement in the hot path.</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8d5a2bf02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98d5a2bf02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A big thing to notice here is that when inputs are small, the time spent just moving the data to the GPU can actually be larger than the time spent computing on it. That leads to pretty poor efficiency. And if we’re using dynamic batching, batching helps throughput, but under low traffic it means requests may wait a little while for a batch to form. So depending on workload patterns, input transfer and batching can add a bit of unpredictable latency on top of the compute itself</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186b5d295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a186b5d295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
              <a:t>So now that we’ve seen where all the latency comes from, the solutions fall into three broad strategies. First, we can avoid cold starts entirely by keeping a pool of GPU pods already warm, ready to serve traffic immediately. Second, if we do need to spin up new pods, we can speed up the startup itself by using model snapshotting techniques like TorchScript, ONNX, or Safetensors to reduce load and deserialization overhead. And third, we can defer parts of initialization by using lazy loading so that only the work needed for the first request is done upfront, with the rest happening gradually as traffic arrives. We'll go through each of these in detail.</a:t>
            </a:r>
            <a:endParaRPr/>
          </a:p>
        </p:txBody>
      </p:sp>
      <p:sp>
        <p:nvSpPr>
          <p:cNvPr id="240" name="Google Shape;240;g3a186b5d295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186b5d295_0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a186b5d295_0_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
              <a:t>The simplest approach is to avoid cold starts entirely by maintaining a small pool of warm GPU instances. Each instance already has the model loaded, CUDA initialized, and memory pools set up. The load balancer sits in front, and requests are immediately routed to whichever GPU is free. This works well when request volume is steady or predictable. The tradeoff is cost: you’re paying for GPU time even when traffic is low. But for real-time systems, it’s often worth it because you get consistent latency with no startup penalty.</a:t>
            </a:r>
            <a:endParaRPr/>
          </a:p>
        </p:txBody>
      </p:sp>
      <p:sp>
        <p:nvSpPr>
          <p:cNvPr id="258" name="Google Shape;258;g3a186b5d295_0_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186b5d295_0_3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a186b5d295_0_33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There are a few ways to manage these warm GPU pools. The simplest is a static pool, where you keep a fixed number of instances ready at all times. It’s reliable, but you might overpay during quiet periods. A more balanced approach is a dynamic pool with a minimum replica count: you always keep some GPUs warm, and autoscaling adds more only when traffic rises. And for teams with predictable patterns, predictive scaling works really well. By forecasting demand with basic ML or even simple time-based rules, you can scale GPUs up </a:t>
            </a:r>
            <a:r>
              <a:rPr i="1" lang="en">
                <a:solidFill>
                  <a:schemeClr val="dk1"/>
                </a:solidFill>
              </a:rPr>
              <a:t>before</a:t>
            </a:r>
            <a:r>
              <a:rPr lang="en">
                <a:solidFill>
                  <a:schemeClr val="dk1"/>
                </a:solidFill>
              </a:rPr>
              <a:t> the traffic spike hits, avoiding cold starts entirely.</a:t>
            </a:r>
            <a:endParaRPr/>
          </a:p>
        </p:txBody>
      </p:sp>
      <p:sp>
        <p:nvSpPr>
          <p:cNvPr id="278" name="Google Shape;278;g3a186b5d295_0_33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186b5d295_0_3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a186b5d295_0_32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Pre-warmed pools keep a small set of GPU instances already initialized with the model loaded. That removes cold start latency completely and gives predictable, stable performance. It also lets us scale out immediately when traffic increases.</a:t>
            </a:r>
            <a:endParaRPr/>
          </a:p>
          <a:p>
            <a:pPr indent="0" lvl="0" marL="0" rtl="0" algn="l">
              <a:lnSpc>
                <a:spcPct val="115000"/>
              </a:lnSpc>
              <a:spcBef>
                <a:spcPts val="1200"/>
              </a:spcBef>
              <a:spcAft>
                <a:spcPts val="1200"/>
              </a:spcAft>
              <a:buSzPts val="1100"/>
              <a:buNone/>
            </a:pPr>
            <a:r>
              <a:rPr lang="en"/>
              <a:t>The tradeoff is cost. If traffic is low, we’re paying for GPUs that mostly sit idle. The pool size needs to be tuned carefully: too small and we still hit cold starts, too large and we waste resources. Autoscaling can still lag if traffic is highly bursty.</a:t>
            </a:r>
            <a:endParaRPr/>
          </a:p>
        </p:txBody>
      </p:sp>
      <p:sp>
        <p:nvSpPr>
          <p:cNvPr id="294" name="Google Shape;294;g3a186b5d295_0_32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186b5d295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a186b5d295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There are some simple Kubernetes-level tactics to reduce cold start overhead.</a:t>
            </a:r>
            <a:endParaRPr/>
          </a:p>
          <a:p>
            <a:pPr indent="0" lvl="0" marL="0" rtl="0" algn="l">
              <a:spcBef>
                <a:spcPts val="0"/>
              </a:spcBef>
              <a:spcAft>
                <a:spcPts val="0"/>
              </a:spcAft>
              <a:buClr>
                <a:schemeClr val="dk1"/>
              </a:buClr>
              <a:buSzPts val="1100"/>
              <a:buFont typeface="Arial"/>
              <a:buNone/>
            </a:pPr>
            <a:r>
              <a:rPr lang="en"/>
              <a:t>First, keep at least one replica warm if the budget allows, or extend cooldown so the pod stays alive longer.</a:t>
            </a:r>
            <a:endParaRPr/>
          </a:p>
          <a:p>
            <a:pPr indent="0" lvl="0" marL="0" rtl="0" algn="l">
              <a:spcBef>
                <a:spcPts val="0"/>
              </a:spcBef>
              <a:spcAft>
                <a:spcPts val="0"/>
              </a:spcAft>
              <a:buClr>
                <a:schemeClr val="dk1"/>
              </a:buClr>
              <a:buSzPts val="1100"/>
              <a:buFont typeface="Arial"/>
              <a:buNone/>
            </a:pPr>
            <a:r>
              <a:rPr lang="en"/>
              <a:t>Next, pre-pull the container image on all GPU nodes so scale-up never waits on image pulls.</a:t>
            </a:r>
            <a:endParaRPr/>
          </a:p>
          <a:p>
            <a:pPr indent="0" lvl="0" marL="0" rtl="0" algn="l">
              <a:spcBef>
                <a:spcPts val="0"/>
              </a:spcBef>
              <a:spcAft>
                <a:spcPts val="0"/>
              </a:spcAft>
              <a:buClr>
                <a:schemeClr val="dk1"/>
              </a:buClr>
              <a:buSzPts val="1100"/>
              <a:buFont typeface="Arial"/>
              <a:buNone/>
            </a:pPr>
            <a:r>
              <a:rPr lang="en"/>
              <a:t>Then, try to schedule onto nodes that recently ran the model, since GPU context and allocations are likely still warm.</a:t>
            </a:r>
            <a:endParaRPr/>
          </a:p>
          <a:p>
            <a:pPr indent="0" lvl="0" marL="0" rtl="0" algn="l">
              <a:spcBef>
                <a:spcPts val="0"/>
              </a:spcBef>
              <a:spcAft>
                <a:spcPts val="0"/>
              </a:spcAft>
              <a:buNone/>
            </a:pPr>
            <a:r>
              <a:rPr lang="en"/>
              <a:t>Finally, enable GPU persistence mode to avoid the driver reinitialization cost when the first CUDA context is created.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186b5d29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a186b5d29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1"/>
                </a:solidFill>
              </a:rPr>
              <a:t>Here we make sure the model cache path inside the container is fixed and baked into the image. That way, the model and tokenizer are already present at startup instead of being re-downloaded into a new ephemeral cache directory on every pod. We also disable tokenizer parallelism to avoid the thread pool initialization spike on the first request. Overall, this makes initialization deterministic and removes a hidden source of cold start slowdown.</a:t>
            </a:r>
            <a:endParaRPr sz="1200">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186b5d295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a186b5d295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200">
                <a:solidFill>
                  <a:schemeClr val="dk1"/>
                </a:solidFill>
              </a:rPr>
              <a:t>We also reduce cold start time by avoiding heavy imports inside the request path. Libraries like Transformers and PyTorch have noticeable module load and class initialization costs. So instead of importing inside the handler, we move those imports to module scope or startup time. That way, the import work happens once when the container starts, not on the first request. This removes a small but consistent latency spike.</a:t>
            </a:r>
            <a:endParaRPr sz="1200">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186b5d295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a186b5d295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If the model isn’t baked into the container, the pod may download it during startup, which adds network time and decompression delays. Instead, we bundle the model and tokenizer directly into the Docker image at build time. That way, cold starts load weights straight from local disk. It removes variability, eliminates external fetch latency, and works well even when scaling to zero, because the image layers remain cached on the node.</a:t>
            </a:r>
            <a:endParaRPr sz="1200">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186b5d295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a186b5d295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rPr>
              <a:t>Okay , so lets now discuss how we plan to  optimize the App runtime .</a:t>
            </a:r>
            <a:endParaRPr sz="1200">
              <a:solidFill>
                <a:schemeClr val="dk1"/>
              </a:solidFill>
            </a:endParaRPr>
          </a:p>
          <a:p>
            <a:pPr indent="0" lvl="0" marL="0" rtl="0" algn="l">
              <a:lnSpc>
                <a:spcPct val="115000"/>
              </a:lnSpc>
              <a:spcBef>
                <a:spcPts val="1200"/>
              </a:spcBef>
              <a:spcAft>
                <a:spcPts val="0"/>
              </a:spcAft>
              <a:buNone/>
            </a:pPr>
            <a:br>
              <a:rPr lang="en" sz="1200">
                <a:solidFill>
                  <a:schemeClr val="dk1"/>
                </a:solidFill>
              </a:rPr>
            </a:br>
            <a:r>
              <a:rPr lang="en" sz="1200">
                <a:solidFill>
                  <a:schemeClr val="dk1"/>
                </a:solidFill>
              </a:rPr>
              <a:t>So , Once the model is loaded onto the GPU, we run a </a:t>
            </a:r>
            <a:r>
              <a:rPr b="1" lang="en" sz="1200">
                <a:solidFill>
                  <a:schemeClr val="dk1"/>
                </a:solidFill>
              </a:rPr>
              <a:t>single dummy forward pass</a:t>
            </a:r>
            <a:r>
              <a:rPr lang="en" sz="1200">
                <a:solidFill>
                  <a:schemeClr val="dk1"/>
                </a:solidFill>
              </a:rPr>
              <a:t>. This warms up the CUDA context, triggers kernel autotuning, allocates cuDNN workspaces, and picks optimized tensor core execution paths. Without this, the first real request pays all of that setup cost. </a:t>
            </a:r>
            <a:endParaRPr sz="1200">
              <a:solidFill>
                <a:schemeClr val="dk1"/>
              </a:solidFill>
            </a:endParaRPr>
          </a:p>
          <a:p>
            <a:pPr indent="0" lvl="0" marL="0" rtl="0" algn="l">
              <a:lnSpc>
                <a:spcPct val="115000"/>
              </a:lnSpc>
              <a:spcBef>
                <a:spcPts val="1200"/>
              </a:spcBef>
              <a:spcAft>
                <a:spcPts val="1200"/>
              </a:spcAft>
              <a:buNone/>
            </a:pPr>
            <a:r>
              <a:rPr lang="en" sz="1200">
                <a:solidFill>
                  <a:schemeClr val="dk1"/>
                </a:solidFill>
              </a:rPr>
              <a:t>By doing a quick warm-up pass at startup, we make the first user request just as fast as all the others.</a:t>
            </a:r>
            <a:endParaRPr sz="1200">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186b5d295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a186b5d295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If the GPU supports tensor cores, we convert the model to FP16 right after loading. This cuts the weight footprint in half and reduces memory movement. Then at inference time, we wrap the forward pass in autocast so inputs are handled in FP16 as well. This usually gives a meaningful speedup and lowers GPU memory pressure without needing quantization or retraining.</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Benefits:</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Weight copy to VRAM is smaller</a:t>
            </a:r>
            <a:br>
              <a:rPr lang="en"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Memory pressure reduced → fewer workspace reallocations</a:t>
            </a:r>
            <a:br>
              <a:rPr lang="en"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Tensor core kernels used automatically</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186b5d295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a186b5d295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Tokenizers have their own first-use cost. The Hugging Face fast tokenizers, which are Rust-based, build internal automata and lookup structures the first time they run. So we trigger a dummy tokenize call at startup. This makes sure that when the first real request arrives, tokenization is already warm and latency is flat from the start.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186b5d295_0_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a186b5d295_0_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Cold start time is heavily affected by how the model is serialized. A standard PyTorch </a:t>
            </a:r>
            <a:r>
              <a:rPr lang="en">
                <a:solidFill>
                  <a:srgbClr val="188038"/>
                </a:solidFill>
                <a:latin typeface="Roboto Mono"/>
                <a:ea typeface="Roboto Mono"/>
                <a:cs typeface="Roboto Mono"/>
                <a:sym typeface="Roboto Mono"/>
              </a:rPr>
              <a:t>.pt</a:t>
            </a:r>
            <a:r>
              <a:rPr lang="en">
                <a:solidFill>
                  <a:schemeClr val="dk1"/>
                </a:solidFill>
              </a:rPr>
              <a:t> or pickle load is convenient, but it’s slow because it reconstructs Python objects, which is expensive. TorchScript improves this by freezing more of the graph, so less Python work happens on load. Safetensors goes further by using a zero-copy, memory-mapped format that avoids deserialization overhead entirely and is safer by design. And for some architectures, exporting to ONNX gives the fastest load times because it’s already in a portable, framework-agnostic graph form that runtime engines can initialize quickly.</a:t>
            </a:r>
            <a:endParaRPr>
              <a:solidFill>
                <a:schemeClr val="dk1"/>
              </a:solidFill>
            </a:endParaRPr>
          </a:p>
          <a:p>
            <a:pPr indent="0" lvl="0" marL="0" rtl="0" algn="l">
              <a:lnSpc>
                <a:spcPct val="115000"/>
              </a:lnSpc>
              <a:spcBef>
                <a:spcPts val="1200"/>
              </a:spcBef>
              <a:spcAft>
                <a:spcPts val="1200"/>
              </a:spcAft>
              <a:buSzPts val="1100"/>
              <a:buNone/>
            </a:pPr>
            <a:r>
              <a:rPr lang="en">
                <a:solidFill>
                  <a:schemeClr val="dk1"/>
                </a:solidFill>
              </a:rPr>
              <a:t>So the choice of serialization format alone can reduce your startup latency from double-digit seconds down to just a few seconds. This is one of the highest-impact levers when trying to speed up cold starts.</a:t>
            </a:r>
            <a:endParaRPr/>
          </a:p>
        </p:txBody>
      </p:sp>
      <p:sp>
        <p:nvSpPr>
          <p:cNvPr id="348" name="Google Shape;348;g3a186b5d295_0_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186b5d295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186b5d295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rPr>
              <a:t>Goal:</a:t>
            </a:r>
            <a:r>
              <a:rPr lang="en" sz="1200">
                <a:solidFill>
                  <a:schemeClr val="dk1"/>
                </a:solidFill>
              </a:rPr>
              <a:t> Reduce time spent </a:t>
            </a:r>
            <a:r>
              <a:rPr b="1" lang="en" sz="1200">
                <a:solidFill>
                  <a:schemeClr val="dk1"/>
                </a:solidFill>
              </a:rPr>
              <a:t>re-deserializing</a:t>
            </a:r>
            <a:r>
              <a:rPr lang="en" sz="1200">
                <a:solidFill>
                  <a:schemeClr val="dk1"/>
                </a:solidFill>
              </a:rPr>
              <a:t> model weights and reconstructing Python-layer modules.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What Happens Normally:</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Transformers load weights from multiple </a:t>
            </a:r>
            <a:r>
              <a:rPr lang="en" sz="1200">
                <a:solidFill>
                  <a:srgbClr val="188038"/>
                </a:solidFill>
              </a:rPr>
              <a:t>.bin</a:t>
            </a:r>
            <a:r>
              <a:rPr lang="en" sz="1200">
                <a:solidFill>
                  <a:schemeClr val="dk1"/>
                </a:solidFill>
              </a:rPr>
              <a:t> / </a:t>
            </a:r>
            <a:r>
              <a:rPr lang="en" sz="1200">
                <a:solidFill>
                  <a:srgbClr val="188038"/>
                </a:solidFill>
              </a:rPr>
              <a:t>.safetensors</a:t>
            </a:r>
            <a:r>
              <a:rPr lang="en" sz="1200">
                <a:solidFill>
                  <a:schemeClr val="dk1"/>
                </a:solidFill>
              </a:rPr>
              <a:t> shards.</a:t>
            </a:r>
            <a:br>
              <a:rPr lang="en"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Python constructors rebuild attention blocks, linear layers, state dict mappings.</a:t>
            </a:r>
            <a:br>
              <a:rPr lang="en"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This costs CPU time + Python object graph setup.</a:t>
            </a:r>
            <a:br>
              <a:rPr lang="en" sz="1200">
                <a:solidFill>
                  <a:schemeClr val="dk1"/>
                </a:solidFill>
              </a:rPr>
            </a:br>
            <a:r>
              <a:rPr b="1" lang="en" sz="1200">
                <a:solidFill>
                  <a:schemeClr val="dk1"/>
                </a:solidFill>
              </a:rPr>
              <a:t>Mitigation:</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Serialize a </a:t>
            </a:r>
            <a:r>
              <a:rPr b="1" lang="en" sz="1200">
                <a:solidFill>
                  <a:schemeClr val="dk1"/>
                </a:solidFill>
              </a:rPr>
              <a:t>ready-to-run</a:t>
            </a:r>
            <a:r>
              <a:rPr lang="en" sz="1200">
                <a:solidFill>
                  <a:schemeClr val="dk1"/>
                </a:solidFill>
              </a:rPr>
              <a:t> version of the model </a:t>
            </a:r>
            <a:r>
              <a:rPr b="1" lang="en" sz="1200">
                <a:solidFill>
                  <a:schemeClr val="dk1"/>
                </a:solidFill>
              </a:rPr>
              <a:t>after</a:t>
            </a:r>
            <a:r>
              <a:rPr lang="en" sz="1200">
                <a:solidFill>
                  <a:schemeClr val="dk1"/>
                </a:solidFill>
              </a:rPr>
              <a:t> construction, shape inflation, and dtype conversion.</a:t>
            </a:r>
            <a:endParaRPr sz="1200">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186b5d295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186b5d295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Benefits: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 PyTorch module graph rebuild on startup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 repeated dtype conversion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Smaller VRAM transfer footprint when fp16 snapshot is used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Often helps </a:t>
            </a:r>
            <a:r>
              <a:rPr b="1" lang="en">
                <a:solidFill>
                  <a:schemeClr val="dk1"/>
                </a:solidFill>
              </a:rPr>
              <a:t>cold start drop ~0.5–2 sec</a:t>
            </a:r>
            <a:r>
              <a:rPr lang="en">
                <a:solidFill>
                  <a:schemeClr val="dk1"/>
                </a:solidFill>
              </a:rPr>
              <a:t> depending on model size</a:t>
            </a:r>
            <a:br>
              <a:rPr lang="en">
                <a:solidFill>
                  <a:schemeClr val="dk1"/>
                </a:solidFill>
              </a:rPr>
            </a:br>
            <a:endParaRPr>
              <a:solidFill>
                <a:schemeClr val="dk1"/>
              </a:solidFill>
            </a:endParaRPr>
          </a:p>
          <a:p>
            <a:pPr indent="0" lvl="0" marL="0" rtl="0" algn="l">
              <a:lnSpc>
                <a:spcPct val="115000"/>
              </a:lnSpc>
              <a:spcBef>
                <a:spcPts val="1200"/>
              </a:spcBef>
              <a:spcAft>
                <a:spcPts val="1200"/>
              </a:spcAft>
              <a:buNone/>
            </a:pPr>
            <a:r>
              <a:rPr b="1" lang="en">
                <a:solidFill>
                  <a:schemeClr val="dk1"/>
                </a:solidFill>
              </a:rPr>
              <a:t>Caution:</a:t>
            </a:r>
            <a:br>
              <a:rPr b="1" lang="en">
                <a:solidFill>
                  <a:schemeClr val="dk1"/>
                </a:solidFill>
              </a:rPr>
            </a:br>
            <a:r>
              <a:rPr lang="en">
                <a:solidFill>
                  <a:schemeClr val="dk1"/>
                </a:solidFill>
              </a:rPr>
              <a:t> If model uses dynamic control flow, prefer </a:t>
            </a:r>
            <a:r>
              <a:rPr lang="en">
                <a:solidFill>
                  <a:srgbClr val="188038"/>
                </a:solidFill>
                <a:latin typeface="Roboto Mono"/>
                <a:ea typeface="Roboto Mono"/>
                <a:cs typeface="Roboto Mono"/>
                <a:sym typeface="Roboto Mono"/>
              </a:rPr>
              <a:t>script()</a:t>
            </a:r>
            <a:r>
              <a:rPr lang="en">
                <a:solidFill>
                  <a:schemeClr val="dk1"/>
                </a:solidFill>
              </a:rPr>
              <a:t> over </a:t>
            </a:r>
            <a:r>
              <a:rPr lang="en">
                <a:solidFill>
                  <a:srgbClr val="188038"/>
                </a:solidFill>
                <a:latin typeface="Roboto Mono"/>
                <a:ea typeface="Roboto Mono"/>
                <a:cs typeface="Roboto Mono"/>
                <a:sym typeface="Roboto Mono"/>
              </a:rPr>
              <a:t>trace()</a:t>
            </a:r>
            <a:r>
              <a:rPr lang="en">
                <a:solidFill>
                  <a:schemeClr val="dk1"/>
                </a:solidFill>
              </a:rPr>
              <a: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186b5d295_0_8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a186b5d295_0_8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Lazy loading flips the strategy. Instead of paying the cost up front, we let the container start instantly with the model still unloaded. The first request is what triggers the model load into GPU memory. After that, performance is just as fast as normal, because the model stays resident.</a:t>
            </a:r>
            <a:endParaRPr/>
          </a:p>
          <a:p>
            <a:pPr indent="0" lvl="0" marL="0" rtl="0" algn="l">
              <a:lnSpc>
                <a:spcPct val="115000"/>
              </a:lnSpc>
              <a:spcBef>
                <a:spcPts val="1200"/>
              </a:spcBef>
              <a:spcAft>
                <a:spcPts val="0"/>
              </a:spcAft>
              <a:buClr>
                <a:schemeClr val="dk1"/>
              </a:buClr>
              <a:buSzPts val="1100"/>
              <a:buFont typeface="Arial"/>
              <a:buNone/>
            </a:pPr>
            <a:r>
              <a:rPr lang="en"/>
              <a:t>This works well when we prioritize very fast scale-to-zero recovery, or when we’re deploying many different models where only a subset get active traffic. The tradeoff is that the first request after startup will be noticeably slower. So this pattern makes sense in workloads where occasional first-request latency is acceptable, like dashboards, internal tools, or workloads with predictable warm-up periods. It’s less ideal for strict real-time API latency guarantees.</a:t>
            </a:r>
            <a:endParaRPr/>
          </a:p>
          <a:p>
            <a:pPr indent="0" lvl="0" marL="0" rtl="0" algn="l">
              <a:spcBef>
                <a:spcPts val="1200"/>
              </a:spcBef>
              <a:spcAft>
                <a:spcPts val="0"/>
              </a:spcAft>
              <a:buNone/>
            </a:pPr>
            <a:r>
              <a:t/>
            </a:r>
            <a:endParaRPr/>
          </a:p>
        </p:txBody>
      </p:sp>
      <p:sp>
        <p:nvSpPr>
          <p:cNvPr id="376" name="Google Shape;376;g3a186b5d295_0_8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fdcb3867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9fdcb3867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Lazy loading doesn’t mean “load nothing.” It means we only load the pieces needed for the critical request path at startup. Everything else is deferred until the moment it’s actually needed, or loaded in the background while the service is already running.</a:t>
            </a:r>
            <a:endParaRPr/>
          </a:p>
          <a:p>
            <a:pPr indent="0" lvl="0" marL="0" rtl="0" algn="l">
              <a:lnSpc>
                <a:spcPct val="115000"/>
              </a:lnSpc>
              <a:spcBef>
                <a:spcPts val="1200"/>
              </a:spcBef>
              <a:spcAft>
                <a:spcPts val="1200"/>
              </a:spcAft>
              <a:buNone/>
            </a:pPr>
            <a:r>
              <a:rPr lang="en"/>
              <a:t>This is especially helpful for things like tokenizer initialization, which has a noticeable first-use cost. It also applies to optional or heavier model components, like classification heads or generation utilities that may not be required for every request. By splitting the load into essential vs. optional, we cut startup time without permanently paying the first-request penalty for every part of the stack.</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a186b5d295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a186b5d295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Here we’re explicitly using lazy initialization features. The tokenizer is loaded in a metadata-only mode first, so it skips building the internal tokenization tables until it’s actually used. For the model, we load it into memory but defer fully mapping all buffers to the GPU until the first inference. Using </a:t>
            </a:r>
            <a:r>
              <a:rPr lang="en">
                <a:solidFill>
                  <a:srgbClr val="188038"/>
                </a:solidFill>
                <a:latin typeface="Roboto Mono"/>
                <a:ea typeface="Roboto Mono"/>
                <a:cs typeface="Roboto Mono"/>
                <a:sym typeface="Roboto Mono"/>
              </a:rPr>
              <a:t>non_blocking=True</a:t>
            </a:r>
            <a:r>
              <a:rPr lang="en">
                <a:solidFill>
                  <a:schemeClr val="dk1"/>
                </a:solidFill>
              </a:rPr>
              <a:t> helps overlap that transfer with other work. The effect is that container startup becomes much faster, because we avoid doing all heavy memory and table initialization up front. Instead, the work is spread across the first few moments of runtime or the first request, smoothing out the cold-start spike.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a186b5d295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a186b5d295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rgbClr val="188038"/>
                </a:solidFill>
                <a:latin typeface="Roboto Mono"/>
                <a:ea typeface="Roboto Mono"/>
                <a:cs typeface="Roboto Mono"/>
                <a:sym typeface="Roboto Mono"/>
              </a:rPr>
              <a:t>dockerfile</a:t>
            </a:r>
            <a:r>
              <a:rPr lang="en">
                <a:solidFill>
                  <a:schemeClr val="dk1"/>
                </a:solidFill>
              </a:rPr>
              <a:t>: pre-caches model/tokenizer, sets cache envs, and uses no-cache installs.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main.py</a:t>
            </a:r>
            <a:r>
              <a:rPr lang="en">
                <a:solidFill>
                  <a:schemeClr val="dk1"/>
                </a:solidFill>
              </a:rPr>
              <a:t>: adds GPU warm-up and faster inference contexts; keeps the same model.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depc.yml</a:t>
            </a:r>
            <a:r>
              <a:rPr lang="en">
                <a:solidFill>
                  <a:schemeClr val="dk1"/>
                </a:solidFill>
              </a:rPr>
              <a:t>: ensures runtime uses the baked HF cache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a186b5d295_0_1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a186b5d295_0_10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 practice, we almost never rely on just one technique. A good production setup layers them. We keep a small pool of pre-warmed GPU instances so most requests see zero cold start. We store models in a faster serialization format like ONNX so loading is quicker and consistent across environments. For models that are rarely hit, we avoid paying that cost upfront by using lazy loading, so they only initialize when traffic actually arrives. And finally, we configure autoscaling to react quickly to spikes, so the warm pool can expand before user latency degrades. The result is predictable performance under normal load, while still staying cost-efficient and resilient when traffic patterns shift.</a:t>
            </a:r>
            <a:endParaRPr/>
          </a:p>
        </p:txBody>
      </p:sp>
      <p:sp>
        <p:nvSpPr>
          <p:cNvPr id="408" name="Google Shape;408;g3a186b5d295_0_10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a186b5d295_0_1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a186b5d295_0_15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
              <a:t>These are techniques that are emerging but not yet widely deployed. GPU state snapshotting uses NVIDIA’s CRIU integration to checkpoint a running GPU process. Instead of reloading the model and rebuilding all GPU state, we restore from a snapshot in seconds. Memory-mapped models go a different direction: weights are kept in shared memory, and new processes simply fork with the model already present, avoiding redundant loads. And speculative warm-up looks at traffic patterns and begins warming models before requests actually arrive. Each of these reduces cold start latency even further, and we’ll likely see them mature into the mainstream over the next couple of years.</a:t>
            </a:r>
            <a:endParaRPr/>
          </a:p>
        </p:txBody>
      </p:sp>
      <p:sp>
        <p:nvSpPr>
          <p:cNvPr id="417" name="Google Shape;417;g3a186b5d295_0_15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a186b5d295_0_1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a186b5d295_0_1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
              <a:t>There’s no single best pattern. It depends on what we’re optimizing for. If we need the absolute lowest latency, we use a pre-warmed pool with a minimum number of replicas always running. If cost is the priority, we lean on lazy loading and scale-to-zero so we only pay when traffic is present. If the goal is simply to get something running quickly without dealing with GPU scheduling or runtime tuning, managed platforms like Modal or RunPod can handle most of the heavy lifting. And if we need full control over scheduling, placement, and GPU behavior, then running on Kubernetes with the NVIDIA device plugin gives us that flexibility. The key is to pick the strategy that aligns with performance, cost, and operational complexity tradeoffs for your workload.</a:t>
            </a:r>
            <a:endParaRPr/>
          </a:p>
        </p:txBody>
      </p:sp>
      <p:sp>
        <p:nvSpPr>
          <p:cNvPr id="435" name="Google Shape;435;g3a186b5d295_0_1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a186b5d295_0_18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g3a186b5d295_0_18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
                <a:solidFill>
                  <a:schemeClr val="dk1"/>
                </a:solidFill>
              </a:rPr>
              <a:t>The main takeaway is that GPU cold starts are fundamentally slower than CPU cold starts, often 5–10x. Most of that delay doesn’t come from your code, but from system-level overhead like driver initialization, CUDA context setup, and model deserialization. In production, the most reliable solution is to avoid cold starts entirely by keeping a small pre-warmed pool running. When you </a:t>
            </a:r>
            <a:r>
              <a:rPr i="1" lang="en">
                <a:solidFill>
                  <a:schemeClr val="dk1"/>
                </a:solidFill>
              </a:rPr>
              <a:t>do</a:t>
            </a:r>
            <a:r>
              <a:rPr lang="en">
                <a:solidFill>
                  <a:schemeClr val="dk1"/>
                </a:solidFill>
              </a:rPr>
              <a:t> need to start from cold, the serialization format has a big impact, with ONNX and Safetensors consistently loading faster than raw PyTorch checkpoints. And finally, if managing all of this at the system level is too heavy, managed serving platforms can abstract the complexity, though you trade that for higher runtime cost.</a:t>
            </a:r>
            <a:endParaRPr/>
          </a:p>
        </p:txBody>
      </p:sp>
      <p:sp>
        <p:nvSpPr>
          <p:cNvPr id="457" name="Google Shape;457;g3a186b5d295_0_18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a186b5d295_0_2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a186b5d295_0_204:notes"/>
          <p:cNvSpPr txBox="1"/>
          <p:nvPr>
            <p:ph idx="1" type="body"/>
          </p:nvPr>
        </p:nvSpPr>
        <p:spPr>
          <a:xfrm>
            <a:off x="914400" y="4400550"/>
            <a:ext cx="73152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a186b5d295_0_204:notes"/>
          <p:cNvSpPr txBox="1"/>
          <p:nvPr>
            <p:ph idx="12" type="sldNum"/>
          </p:nvPr>
        </p:nvSpPr>
        <p:spPr>
          <a:xfrm>
            <a:off x="5179484" y="8685213"/>
            <a:ext cx="39624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10"/>
          <p:cNvSpPr txBox="1"/>
          <p:nvPr>
            <p:ph type="ctrTitle"/>
          </p:nvPr>
        </p:nvSpPr>
        <p:spPr>
          <a:xfrm>
            <a:off x="311215" y="1251446"/>
            <a:ext cx="8010201" cy="2024438"/>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rgbClr val="912666"/>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1" name="Google Shape;11;p10"/>
          <p:cNvSpPr txBox="1"/>
          <p:nvPr>
            <p:ph idx="1" type="subTitle"/>
          </p:nvPr>
        </p:nvSpPr>
        <p:spPr>
          <a:xfrm>
            <a:off x="311214" y="3275884"/>
            <a:ext cx="8010201" cy="60925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sz="2800">
                <a:solidFill>
                  <a:srgbClr val="6ABD45"/>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2" name="Google Shape;12;p10"/>
          <p:cNvSpPr txBox="1"/>
          <p:nvPr/>
        </p:nvSpPr>
        <p:spPr>
          <a:xfrm>
            <a:off x="311216" y="4539184"/>
            <a:ext cx="2473298" cy="5452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13" name="Google Shape;13;p10"/>
          <p:cNvPicPr preferRelativeResize="0"/>
          <p:nvPr/>
        </p:nvPicPr>
        <p:blipFill rotWithShape="1">
          <a:blip r:embed="rId3">
            <a:alphaModFix/>
          </a:blip>
          <a:srcRect b="0" l="0" r="0" t="0"/>
          <a:stretch/>
        </p:blipFill>
        <p:spPr>
          <a:xfrm>
            <a:off x="311215" y="0"/>
            <a:ext cx="2061434" cy="125747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11"/>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rgbClr val="912666"/>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16" name="Google Shape;16;p11"/>
          <p:cNvSpPr txBox="1"/>
          <p:nvPr>
            <p:ph idx="12" type="sldNum"/>
          </p:nvPr>
        </p:nvSpPr>
        <p:spPr>
          <a:xfrm>
            <a:off x="6530671" y="4666204"/>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7" name="Google Shape;17;p11"/>
          <p:cNvPicPr preferRelativeResize="0"/>
          <p:nvPr/>
        </p:nvPicPr>
        <p:blipFill rotWithShape="1">
          <a:blip r:embed="rId3">
            <a:alphaModFix/>
          </a:blip>
          <a:srcRect b="0" l="0" r="0" t="0"/>
          <a:stretch/>
        </p:blipFill>
        <p:spPr>
          <a:xfrm>
            <a:off x="275124" y="4145860"/>
            <a:ext cx="1357346" cy="82798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8" name="Shape 18"/>
        <p:cNvGrpSpPr/>
        <p:nvPr/>
      </p:nvGrpSpPr>
      <p:grpSpPr>
        <a:xfrm>
          <a:off x="0" y="0"/>
          <a:ext cx="0" cy="0"/>
          <a:chOff x="0" y="0"/>
          <a:chExt cx="0" cy="0"/>
        </a:xfrm>
      </p:grpSpPr>
      <p:sp>
        <p:nvSpPr>
          <p:cNvPr id="19" name="Google Shape;19;p12"/>
          <p:cNvSpPr/>
          <p:nvPr/>
        </p:nvSpPr>
        <p:spPr>
          <a:xfrm>
            <a:off x="7100" y="5625"/>
            <a:ext cx="9136900" cy="1047900"/>
          </a:xfrm>
          <a:prstGeom prst="rect">
            <a:avLst/>
          </a:prstGeom>
          <a:gradFill>
            <a:gsLst>
              <a:gs pos="0">
                <a:schemeClr val="lt1"/>
              </a:gs>
              <a:gs pos="100000">
                <a:srgbClr val="96CC4C"/>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2"/>
          <p:cNvSpPr txBox="1"/>
          <p:nvPr>
            <p:ph type="title"/>
          </p:nvPr>
        </p:nvSpPr>
        <p:spPr>
          <a:xfrm>
            <a:off x="311700" y="0"/>
            <a:ext cx="6949739"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rgbClr val="912666"/>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12"/>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 name="Google Shape;22;p12"/>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3" name="Google Shape;23;p12"/>
          <p:cNvPicPr preferRelativeResize="0"/>
          <p:nvPr/>
        </p:nvPicPr>
        <p:blipFill rotWithShape="1">
          <a:blip r:embed="rId2">
            <a:alphaModFix/>
          </a:blip>
          <a:srcRect b="0" l="0" r="0" t="0"/>
          <a:stretch/>
        </p:blipFill>
        <p:spPr>
          <a:xfrm>
            <a:off x="7570920" y="142489"/>
            <a:ext cx="1263600" cy="77079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 2">
    <p:bg>
      <p:bgPr>
        <a:solidFill>
          <a:schemeClr val="lt1"/>
        </a:solidFill>
      </p:bgPr>
    </p:bg>
    <p:spTree>
      <p:nvGrpSpPr>
        <p:cNvPr id="24" name="Shape 24"/>
        <p:cNvGrpSpPr/>
        <p:nvPr/>
      </p:nvGrpSpPr>
      <p:grpSpPr>
        <a:xfrm>
          <a:off x="0" y="0"/>
          <a:ext cx="0" cy="0"/>
          <a:chOff x="0" y="0"/>
          <a:chExt cx="0" cy="0"/>
        </a:xfrm>
      </p:grpSpPr>
      <p:sp>
        <p:nvSpPr>
          <p:cNvPr id="25" name="Google Shape;25;p13"/>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13"/>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27" name="Google Shape;27;p13"/>
          <p:cNvPicPr preferRelativeResize="0"/>
          <p:nvPr/>
        </p:nvPicPr>
        <p:blipFill rotWithShape="1">
          <a:blip r:embed="rId2">
            <a:alphaModFix/>
          </a:blip>
          <a:srcRect b="0" l="0" r="0" t="0"/>
          <a:stretch/>
        </p:blipFill>
        <p:spPr>
          <a:xfrm>
            <a:off x="313167" y="4462175"/>
            <a:ext cx="1126616" cy="687236"/>
          </a:xfrm>
          <a:prstGeom prst="rect">
            <a:avLst/>
          </a:prstGeom>
          <a:noFill/>
          <a:ln>
            <a:noFill/>
          </a:ln>
        </p:spPr>
      </p:pic>
      <p:sp>
        <p:nvSpPr>
          <p:cNvPr id="28" name="Google Shape;28;p13"/>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29" name="Shape 29"/>
        <p:cNvGrpSpPr/>
        <p:nvPr/>
      </p:nvGrpSpPr>
      <p:grpSpPr>
        <a:xfrm>
          <a:off x="0" y="0"/>
          <a:ext cx="0" cy="0"/>
          <a:chOff x="0" y="0"/>
          <a:chExt cx="0" cy="0"/>
        </a:xfrm>
      </p:grpSpPr>
      <p:sp>
        <p:nvSpPr>
          <p:cNvPr id="30" name="Google Shape;30;p14"/>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14"/>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4"/>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pic>
        <p:nvPicPr>
          <p:cNvPr id="33" name="Google Shape;33;p14"/>
          <p:cNvPicPr preferRelativeResize="0"/>
          <p:nvPr/>
        </p:nvPicPr>
        <p:blipFill rotWithShape="1">
          <a:blip r:embed="rId2">
            <a:alphaModFix/>
          </a:blip>
          <a:srcRect b="0" l="0" r="0" t="0"/>
          <a:stretch/>
        </p:blipFill>
        <p:spPr>
          <a:xfrm>
            <a:off x="313167" y="4462175"/>
            <a:ext cx="1126616" cy="687236"/>
          </a:xfrm>
          <a:prstGeom prst="rect">
            <a:avLst/>
          </a:prstGeom>
          <a:noFill/>
          <a:ln>
            <a:noFill/>
          </a:ln>
        </p:spPr>
      </p:pic>
      <p:sp>
        <p:nvSpPr>
          <p:cNvPr id="34" name="Google Shape;34;p14"/>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35" name="Shape 35"/>
        <p:cNvGrpSpPr/>
        <p:nvPr/>
      </p:nvGrpSpPr>
      <p:grpSpPr>
        <a:xfrm>
          <a:off x="0" y="0"/>
          <a:ext cx="0" cy="0"/>
          <a:chOff x="0" y="0"/>
          <a:chExt cx="0" cy="0"/>
        </a:xfrm>
      </p:grpSpPr>
      <p:sp>
        <p:nvSpPr>
          <p:cNvPr id="36" name="Google Shape;36;p15"/>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7" name="Google Shape;37;p15"/>
          <p:cNvPicPr preferRelativeResize="0"/>
          <p:nvPr/>
        </p:nvPicPr>
        <p:blipFill rotWithShape="1">
          <a:blip r:embed="rId2">
            <a:alphaModFix/>
          </a:blip>
          <a:srcRect b="0" l="0" r="0" t="0"/>
          <a:stretch/>
        </p:blipFill>
        <p:spPr>
          <a:xfrm>
            <a:off x="313167" y="4462175"/>
            <a:ext cx="1126616" cy="687236"/>
          </a:xfrm>
          <a:prstGeom prst="rect">
            <a:avLst/>
          </a:prstGeom>
          <a:noFill/>
          <a:ln>
            <a:noFill/>
          </a:ln>
        </p:spPr>
      </p:pic>
      <p:sp>
        <p:nvSpPr>
          <p:cNvPr id="38" name="Google Shape;38;p15"/>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pic>
        <p:nvPicPr>
          <p:cNvPr id="40" name="Google Shape;40;p16"/>
          <p:cNvPicPr preferRelativeResize="0"/>
          <p:nvPr/>
        </p:nvPicPr>
        <p:blipFill rotWithShape="1">
          <a:blip r:embed="rId2">
            <a:alphaModFix/>
          </a:blip>
          <a:srcRect b="0" l="0" r="0" t="0"/>
          <a:stretch/>
        </p:blipFill>
        <p:spPr>
          <a:xfrm>
            <a:off x="313167" y="4462175"/>
            <a:ext cx="1126616" cy="687236"/>
          </a:xfrm>
          <a:prstGeom prst="rect">
            <a:avLst/>
          </a:prstGeom>
          <a:noFill/>
          <a:ln>
            <a:noFill/>
          </a:ln>
        </p:spPr>
      </p:pic>
      <p:sp>
        <p:nvSpPr>
          <p:cNvPr id="41" name="Google Shape;41;p16"/>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Logo">
    <p:bg>
      <p:bgPr>
        <a:blipFill>
          <a:blip r:embed="rId2">
            <a:alphaModFix/>
          </a:blip>
          <a:stretch>
            <a:fillRect/>
          </a:stretch>
        </a:blipFill>
      </p:bgPr>
    </p:bg>
    <p:spTree>
      <p:nvGrpSpPr>
        <p:cNvPr id="42" name="Shape 42"/>
        <p:cNvGrpSpPr/>
        <p:nvPr/>
      </p:nvGrpSpPr>
      <p:grpSpPr>
        <a:xfrm>
          <a:off x="0" y="0"/>
          <a:ext cx="0" cy="0"/>
          <a:chOff x="0" y="0"/>
          <a:chExt cx="0" cy="0"/>
        </a:xfrm>
      </p:grpSpPr>
      <p:pic>
        <p:nvPicPr>
          <p:cNvPr id="43" name="Google Shape;43;p17"/>
          <p:cNvPicPr preferRelativeResize="0"/>
          <p:nvPr/>
        </p:nvPicPr>
        <p:blipFill rotWithShape="1">
          <a:blip r:embed="rId3">
            <a:alphaModFix/>
          </a:blip>
          <a:srcRect b="0" l="0" r="0" t="0"/>
          <a:stretch/>
        </p:blipFill>
        <p:spPr>
          <a:xfrm>
            <a:off x="493776" y="301752"/>
            <a:ext cx="3252054" cy="198375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rgbClr val="FFFFFF"/>
        </a:solidFill>
      </p:bgPr>
    </p:bg>
    <p:spTree>
      <p:nvGrpSpPr>
        <p:cNvPr id="44" name="Shape 44"/>
        <p:cNvGrpSpPr/>
        <p:nvPr/>
      </p:nvGrpSpPr>
      <p:grpSpPr>
        <a:xfrm>
          <a:off x="0" y="0"/>
          <a:ext cx="0" cy="0"/>
          <a:chOff x="0" y="0"/>
          <a:chExt cx="0" cy="0"/>
        </a:xfrm>
      </p:grpSpPr>
      <p:sp>
        <p:nvSpPr>
          <p:cNvPr id="45" name="Google Shape;45;p18"/>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rgbClr val="912666"/>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46" name="Google Shape;46;p18"/>
          <p:cNvPicPr preferRelativeResize="0"/>
          <p:nvPr/>
        </p:nvPicPr>
        <p:blipFill rotWithShape="1">
          <a:blip r:embed="rId2">
            <a:alphaModFix/>
          </a:blip>
          <a:srcRect b="0" l="0" r="0" t="0"/>
          <a:stretch/>
        </p:blipFill>
        <p:spPr>
          <a:xfrm>
            <a:off x="275124" y="4145860"/>
            <a:ext cx="1357346" cy="82798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rgbClr val="FFFFFF"/>
        </a:solidFill>
      </p:bgPr>
    </p:bg>
    <p:spTree>
      <p:nvGrpSpPr>
        <p:cNvPr id="47" name="Shape 47"/>
        <p:cNvGrpSpPr/>
        <p:nvPr/>
      </p:nvGrpSpPr>
      <p:grpSpPr>
        <a:xfrm>
          <a:off x="0" y="0"/>
          <a:ext cx="0" cy="0"/>
          <a:chOff x="0" y="0"/>
          <a:chExt cx="0" cy="0"/>
        </a:xfrm>
      </p:grpSpPr>
      <p:pic>
        <p:nvPicPr>
          <p:cNvPr id="48" name="Google Shape;48;p19"/>
          <p:cNvPicPr preferRelativeResize="0"/>
          <p:nvPr/>
        </p:nvPicPr>
        <p:blipFill rotWithShape="1">
          <a:blip r:embed="rId2">
            <a:alphaModFix/>
          </a:blip>
          <a:srcRect b="0" l="0" r="0" t="0"/>
          <a:stretch/>
        </p:blipFill>
        <p:spPr>
          <a:xfrm>
            <a:off x="398302" y="91440"/>
            <a:ext cx="2437449" cy="1486844"/>
          </a:xfrm>
          <a:prstGeom prst="rect">
            <a:avLst/>
          </a:prstGeom>
          <a:noFill/>
          <a:ln>
            <a:noFill/>
          </a:ln>
        </p:spPr>
      </p:pic>
      <p:sp>
        <p:nvSpPr>
          <p:cNvPr id="49" name="Google Shape;49;p19"/>
          <p:cNvSpPr txBox="1"/>
          <p:nvPr>
            <p:ph type="ctrTitle"/>
          </p:nvPr>
        </p:nvSpPr>
        <p:spPr>
          <a:xfrm>
            <a:off x="398302" y="1373367"/>
            <a:ext cx="8010201" cy="2024438"/>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rgbClr val="912666"/>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50" name="Google Shape;50;p19"/>
          <p:cNvSpPr txBox="1"/>
          <p:nvPr>
            <p:ph idx="1" type="subTitle"/>
          </p:nvPr>
        </p:nvSpPr>
        <p:spPr>
          <a:xfrm>
            <a:off x="398301" y="3397805"/>
            <a:ext cx="8010201" cy="67017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sz="2800">
                <a:solidFill>
                  <a:srgbClr val="6ABD45"/>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drive.google.com/file/d/1NwRXYcA-8auKhzi0AN_zLgXo_olg_qEr/view" TargetMode="Externa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model.t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drive.google.com/file/d/1WOnhjGDcMNcPJ-sEjdYHvGLJcdOSWAtG/view" TargetMode="External"/><Relationship Id="rId4" Type="http://schemas.openxmlformats.org/officeDocument/2006/relationships/image" Target="../media/image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txBox="1"/>
          <p:nvPr>
            <p:ph type="title"/>
          </p:nvPr>
        </p:nvSpPr>
        <p:spPr>
          <a:xfrm>
            <a:off x="311700" y="346152"/>
            <a:ext cx="8520600" cy="1010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b="1" lang="en" sz="3000"/>
              <a:t>No More GPU Cold Starts: Making Serverless ML Inference Truly Real-Time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1" name="Shape 61"/>
        <p:cNvGrpSpPr/>
        <p:nvPr/>
      </p:nvGrpSpPr>
      <p:grpSpPr>
        <a:xfrm>
          <a:off x="0" y="0"/>
          <a:ext cx="0" cy="0"/>
          <a:chOff x="0" y="0"/>
          <a:chExt cx="0" cy="0"/>
        </a:xfrm>
      </p:grpSpPr>
      <p:sp>
        <p:nvSpPr>
          <p:cNvPr id="62" name="Google Shape;62;g398d5a2bf02_0_65"/>
          <p:cNvSpPr/>
          <p:nvPr/>
        </p:nvSpPr>
        <p:spPr>
          <a:xfrm>
            <a:off x="304800" y="2057400"/>
            <a:ext cx="4038600" cy="1790700"/>
          </a:xfrm>
          <a:prstGeom prst="roundRect">
            <a:avLst>
              <a:gd fmla="val 3404"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 name="Google Shape;63;g398d5a2bf02_0_65"/>
          <p:cNvSpPr/>
          <p:nvPr/>
        </p:nvSpPr>
        <p:spPr>
          <a:xfrm>
            <a:off x="533400" y="2286000"/>
            <a:ext cx="36531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92929"/>
              </a:buClr>
              <a:buSzPts val="1800"/>
              <a:buFont typeface="Arial"/>
              <a:buNone/>
            </a:pPr>
            <a:r>
              <a:rPr b="1" i="0" lang="en" sz="1800" u="none" cap="none" strike="noStrike">
                <a:solidFill>
                  <a:srgbClr val="292929"/>
                </a:solidFill>
                <a:latin typeface="Arial"/>
                <a:ea typeface="Arial"/>
                <a:cs typeface="Arial"/>
                <a:sym typeface="Arial"/>
              </a:rPr>
              <a:t>The Dream</a:t>
            </a:r>
            <a:endParaRPr b="0" i="0" sz="1800" u="none" cap="none" strike="noStrike">
              <a:solidFill>
                <a:schemeClr val="dk1"/>
              </a:solidFill>
              <a:latin typeface="Calibri"/>
              <a:ea typeface="Calibri"/>
              <a:cs typeface="Calibri"/>
              <a:sym typeface="Calibri"/>
            </a:endParaRPr>
          </a:p>
        </p:txBody>
      </p:sp>
      <p:sp>
        <p:nvSpPr>
          <p:cNvPr id="64" name="Google Shape;64;g398d5a2bf02_0_65"/>
          <p:cNvSpPr/>
          <p:nvPr/>
        </p:nvSpPr>
        <p:spPr>
          <a:xfrm>
            <a:off x="533400" y="2743200"/>
            <a:ext cx="3581400" cy="8763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Scale to zero when idle</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Pay only for actual usage</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No infrastructure management</a:t>
            </a:r>
            <a:endParaRPr b="0" i="0" sz="1350" u="none" cap="none" strike="noStrike">
              <a:solidFill>
                <a:schemeClr val="dk1"/>
              </a:solidFill>
              <a:latin typeface="Calibri"/>
              <a:ea typeface="Calibri"/>
              <a:cs typeface="Calibri"/>
              <a:sym typeface="Calibri"/>
            </a:endParaRPr>
          </a:p>
        </p:txBody>
      </p:sp>
      <p:sp>
        <p:nvSpPr>
          <p:cNvPr id="65" name="Google Shape;65;g398d5a2bf02_0_65"/>
          <p:cNvSpPr/>
          <p:nvPr/>
        </p:nvSpPr>
        <p:spPr>
          <a:xfrm>
            <a:off x="4800600" y="2057400"/>
            <a:ext cx="4038600" cy="1790700"/>
          </a:xfrm>
          <a:prstGeom prst="roundRect">
            <a:avLst>
              <a:gd fmla="val 3404" name="adj"/>
            </a:avLst>
          </a:prstGeom>
          <a:solidFill>
            <a:srgbClr val="FFE5E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66" name="Google Shape;66;g398d5a2bf02_0_65"/>
          <p:cNvCxnSpPr/>
          <p:nvPr/>
        </p:nvCxnSpPr>
        <p:spPr>
          <a:xfrm>
            <a:off x="4829175" y="2057400"/>
            <a:ext cx="0" cy="1790700"/>
          </a:xfrm>
          <a:prstGeom prst="straightConnector1">
            <a:avLst/>
          </a:prstGeom>
          <a:noFill/>
          <a:ln cap="flat" cmpd="sng" w="57150">
            <a:solidFill>
              <a:srgbClr val="E33737"/>
            </a:solidFill>
            <a:prstDash val="solid"/>
            <a:round/>
            <a:headEnd len="sm" w="sm" type="none"/>
            <a:tailEnd len="sm" w="sm" type="none"/>
          </a:ln>
        </p:spPr>
      </p:cxnSp>
      <p:sp>
        <p:nvSpPr>
          <p:cNvPr id="67" name="Google Shape;67;g398d5a2bf02_0_65"/>
          <p:cNvSpPr/>
          <p:nvPr/>
        </p:nvSpPr>
        <p:spPr>
          <a:xfrm>
            <a:off x="5086350" y="2286000"/>
            <a:ext cx="3594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E33737"/>
              </a:buClr>
              <a:buSzPts val="1800"/>
              <a:buFont typeface="Arial"/>
              <a:buNone/>
            </a:pPr>
            <a:r>
              <a:rPr b="1" i="0" lang="en" sz="1800" u="none" cap="none" strike="noStrike">
                <a:solidFill>
                  <a:srgbClr val="E33737"/>
                </a:solidFill>
                <a:latin typeface="Arial"/>
                <a:ea typeface="Arial"/>
                <a:cs typeface="Arial"/>
                <a:sym typeface="Arial"/>
              </a:rPr>
              <a:t>The Reality</a:t>
            </a:r>
            <a:endParaRPr b="0" i="0" sz="1800" u="none" cap="none" strike="noStrike">
              <a:solidFill>
                <a:schemeClr val="dk1"/>
              </a:solidFill>
              <a:latin typeface="Calibri"/>
              <a:ea typeface="Calibri"/>
              <a:cs typeface="Calibri"/>
              <a:sym typeface="Calibri"/>
            </a:endParaRPr>
          </a:p>
        </p:txBody>
      </p:sp>
      <p:sp>
        <p:nvSpPr>
          <p:cNvPr id="68" name="Google Shape;68;g398d5a2bf02_0_65"/>
          <p:cNvSpPr/>
          <p:nvPr/>
        </p:nvSpPr>
        <p:spPr>
          <a:xfrm>
            <a:off x="5086350" y="2743200"/>
            <a:ext cx="35946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b="1" i="0" lang="en" sz="1500" u="none" cap="none" strike="noStrike">
                <a:solidFill>
                  <a:srgbClr val="292929"/>
                </a:solidFill>
                <a:latin typeface="Arial"/>
                <a:ea typeface="Arial"/>
                <a:cs typeface="Arial"/>
                <a:sym typeface="Arial"/>
              </a:rPr>
              <a:t>GPU cold starts destroy everything</a:t>
            </a:r>
            <a:endParaRPr b="0" i="0" sz="1500" u="none" cap="none" strike="noStrike">
              <a:solidFill>
                <a:schemeClr val="dk1"/>
              </a:solidFill>
              <a:latin typeface="Calibri"/>
              <a:ea typeface="Calibri"/>
              <a:cs typeface="Calibri"/>
              <a:sym typeface="Calibri"/>
            </a:endParaRPr>
          </a:p>
        </p:txBody>
      </p:sp>
      <p:sp>
        <p:nvSpPr>
          <p:cNvPr id="69" name="Google Shape;69;g398d5a2bf02_0_65"/>
          <p:cNvSpPr/>
          <p:nvPr/>
        </p:nvSpPr>
        <p:spPr>
          <a:xfrm>
            <a:off x="5086350" y="3048000"/>
            <a:ext cx="3594600" cy="5334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15-25 second startup times make real-time inference impossible</a:t>
            </a:r>
            <a:endParaRPr b="0" i="0" sz="1350" u="none" cap="none" strike="noStrike">
              <a:solidFill>
                <a:schemeClr val="dk1"/>
              </a:solidFill>
              <a:latin typeface="Calibri"/>
              <a:ea typeface="Calibri"/>
              <a:cs typeface="Calibri"/>
              <a:sym typeface="Calibri"/>
            </a:endParaRPr>
          </a:p>
        </p:txBody>
      </p:sp>
      <p:sp>
        <p:nvSpPr>
          <p:cNvPr id="70" name="Google Shape;70;g398d5a2bf02_0_65"/>
          <p:cNvSpPr txBox="1"/>
          <p:nvPr>
            <p:ph idx="4294967295" type="title"/>
          </p:nvPr>
        </p:nvSpPr>
        <p:spPr>
          <a:xfrm>
            <a:off x="311700" y="268300"/>
            <a:ext cx="6949800" cy="533400"/>
          </a:xfrm>
          <a:prstGeom prst="rect">
            <a:avLst/>
          </a:prstGeom>
        </p:spPr>
        <p:txBody>
          <a:bodyPr anchorCtr="0" anchor="ctr" bIns="0" lIns="0" spcFirstLastPara="1" rIns="0" wrap="square" tIns="0">
            <a:noAutofit/>
          </a:bodyPr>
          <a:lstStyle/>
          <a:p>
            <a:pPr indent="0" lvl="0" marL="0" rtl="0" algn="l">
              <a:lnSpc>
                <a:spcPct val="111111"/>
              </a:lnSpc>
              <a:spcBef>
                <a:spcPts val="0"/>
              </a:spcBef>
              <a:spcAft>
                <a:spcPts val="0"/>
              </a:spcAft>
              <a:buNone/>
            </a:pPr>
            <a:r>
              <a:rPr b="1" lang="en" sz="2700">
                <a:solidFill>
                  <a:srgbClr val="E33737"/>
                </a:solidFill>
              </a:rPr>
              <a:t>The Promise of Serverless ML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98d5a2bf02_0_78"/>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p>
            <a:pPr indent="-22860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Demo showing how cold start takes time compared to a warm one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
        <p:nvSpPr>
          <p:cNvPr id="76" name="Google Shape;76;g398d5a2bf02_0_78"/>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228600" lvl="0" marL="457200" rtl="0" algn="l">
              <a:lnSpc>
                <a:spcPct val="115000"/>
              </a:lnSpc>
              <a:spcBef>
                <a:spcPts val="0"/>
              </a:spcBef>
              <a:spcAft>
                <a:spcPts val="0"/>
              </a:spcAft>
              <a:buNone/>
            </a:pPr>
            <a:r>
              <a:rPr lang="en" sz="2700">
                <a:solidFill>
                  <a:srgbClr val="E33737"/>
                </a:solidFill>
              </a:rPr>
              <a:t>GPU serverless is fast… once it’s warm</a:t>
            </a:r>
            <a:endParaRPr sz="2700">
              <a:solidFill>
                <a:srgbClr val="E33737"/>
              </a:solidFill>
            </a:endParaRPr>
          </a:p>
        </p:txBody>
      </p:sp>
      <p:pic>
        <p:nvPicPr>
          <p:cNvPr id="77" name="Google Shape;77;g398d5a2bf02_0_78" title="Atlanta_Demo_1.mp4">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2" name="Shape 82"/>
        <p:cNvGrpSpPr/>
        <p:nvPr/>
      </p:nvGrpSpPr>
      <p:grpSpPr>
        <a:xfrm>
          <a:off x="0" y="0"/>
          <a:ext cx="0" cy="0"/>
          <a:chOff x="0" y="0"/>
          <a:chExt cx="0" cy="0"/>
        </a:xfrm>
      </p:grpSpPr>
      <p:sp>
        <p:nvSpPr>
          <p:cNvPr id="83" name="Google Shape;83;g398d5a2bf02_0_0"/>
          <p:cNvSpPr/>
          <p:nvPr/>
        </p:nvSpPr>
        <p:spPr>
          <a:xfrm>
            <a:off x="304800" y="228600"/>
            <a:ext cx="43623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CPU vs GPU Cold Starts</a:t>
            </a:r>
            <a:endParaRPr b="0" i="0" sz="2700" u="none" cap="none" strike="noStrike">
              <a:solidFill>
                <a:schemeClr val="dk1"/>
              </a:solidFill>
              <a:latin typeface="Calibri"/>
              <a:ea typeface="Calibri"/>
              <a:cs typeface="Calibri"/>
              <a:sym typeface="Calibri"/>
            </a:endParaRPr>
          </a:p>
        </p:txBody>
      </p:sp>
      <p:sp>
        <p:nvSpPr>
          <p:cNvPr id="84" name="Google Shape;84;g398d5a2bf02_0_0"/>
          <p:cNvSpPr/>
          <p:nvPr/>
        </p:nvSpPr>
        <p:spPr>
          <a:xfrm>
            <a:off x="304800" y="1724025"/>
            <a:ext cx="4038600" cy="2457600"/>
          </a:xfrm>
          <a:prstGeom prst="roundRect">
            <a:avLst>
              <a:gd fmla="val 2481" name="adj"/>
            </a:avLst>
          </a:prstGeom>
          <a:solidFill>
            <a:srgbClr val="E8F5E9"/>
          </a:solidFill>
          <a:ln cap="flat" cmpd="sng" w="28575">
            <a:solidFill>
              <a:srgbClr val="4CAF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5" name="Google Shape;85;g398d5a2bf02_0_0"/>
          <p:cNvSpPr/>
          <p:nvPr/>
        </p:nvSpPr>
        <p:spPr>
          <a:xfrm>
            <a:off x="561975" y="1981200"/>
            <a:ext cx="3594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7D32"/>
              </a:buClr>
              <a:buSzPts val="1800"/>
              <a:buFont typeface="Arial"/>
              <a:buNone/>
            </a:pPr>
            <a:r>
              <a:rPr b="1" i="0" lang="en" sz="1800" u="none" cap="none" strike="noStrike">
                <a:solidFill>
                  <a:srgbClr val="2E7D32"/>
                </a:solidFill>
                <a:latin typeface="Arial"/>
                <a:ea typeface="Arial"/>
                <a:cs typeface="Arial"/>
                <a:sym typeface="Arial"/>
              </a:rPr>
              <a:t>CPU Serverless</a:t>
            </a:r>
            <a:endParaRPr b="0" i="0" sz="1800" u="none" cap="none" strike="noStrike">
              <a:solidFill>
                <a:schemeClr val="dk1"/>
              </a:solidFill>
              <a:latin typeface="Calibri"/>
              <a:ea typeface="Calibri"/>
              <a:cs typeface="Calibri"/>
              <a:sym typeface="Calibri"/>
            </a:endParaRPr>
          </a:p>
        </p:txBody>
      </p:sp>
      <p:sp>
        <p:nvSpPr>
          <p:cNvPr id="86" name="Google Shape;86;g398d5a2bf02_0_0"/>
          <p:cNvSpPr/>
          <p:nvPr/>
        </p:nvSpPr>
        <p:spPr>
          <a:xfrm>
            <a:off x="561975" y="2438400"/>
            <a:ext cx="3524400" cy="8763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Container: 1-2s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Runtime: 0.5s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Code load: 0.5s</a:t>
            </a:r>
            <a:endParaRPr b="0" i="0" sz="1350" u="none" cap="none" strike="noStrike">
              <a:solidFill>
                <a:schemeClr val="dk1"/>
              </a:solidFill>
              <a:latin typeface="Calibri"/>
              <a:ea typeface="Calibri"/>
              <a:cs typeface="Calibri"/>
              <a:sym typeface="Calibri"/>
            </a:endParaRPr>
          </a:p>
        </p:txBody>
      </p:sp>
      <p:sp>
        <p:nvSpPr>
          <p:cNvPr id="87" name="Google Shape;87;g398d5a2bf02_0_0"/>
          <p:cNvSpPr/>
          <p:nvPr/>
        </p:nvSpPr>
        <p:spPr>
          <a:xfrm>
            <a:off x="561975" y="3543300"/>
            <a:ext cx="359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7D32"/>
              </a:buClr>
              <a:buSzPts val="2250"/>
              <a:buFont typeface="Arial"/>
              <a:buNone/>
            </a:pPr>
            <a:r>
              <a:rPr b="1" i="0" lang="en" sz="2250" u="none" cap="none" strike="noStrike">
                <a:solidFill>
                  <a:srgbClr val="2E7D32"/>
                </a:solidFill>
                <a:latin typeface="Arial"/>
                <a:ea typeface="Arial"/>
                <a:cs typeface="Arial"/>
                <a:sym typeface="Arial"/>
              </a:rPr>
              <a:t>Total: 2-3s ✓</a:t>
            </a:r>
            <a:endParaRPr b="0" i="0" sz="2250" u="none" cap="none" strike="noStrike">
              <a:solidFill>
                <a:schemeClr val="dk1"/>
              </a:solidFill>
              <a:latin typeface="Calibri"/>
              <a:ea typeface="Calibri"/>
              <a:cs typeface="Calibri"/>
              <a:sym typeface="Calibri"/>
            </a:endParaRPr>
          </a:p>
        </p:txBody>
      </p:sp>
      <p:sp>
        <p:nvSpPr>
          <p:cNvPr id="88" name="Google Shape;88;g398d5a2bf02_0_0"/>
          <p:cNvSpPr/>
          <p:nvPr/>
        </p:nvSpPr>
        <p:spPr>
          <a:xfrm>
            <a:off x="4800600" y="1724025"/>
            <a:ext cx="4038600" cy="2457600"/>
          </a:xfrm>
          <a:prstGeom prst="roundRect">
            <a:avLst>
              <a:gd fmla="val 2481" name="adj"/>
            </a:avLst>
          </a:prstGeom>
          <a:solidFill>
            <a:srgbClr val="FFE5E5"/>
          </a:solidFill>
          <a:ln cap="flat" cmpd="sng" w="28575">
            <a:solidFill>
              <a:srgbClr val="E337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9" name="Google Shape;89;g398d5a2bf02_0_0"/>
          <p:cNvSpPr/>
          <p:nvPr/>
        </p:nvSpPr>
        <p:spPr>
          <a:xfrm>
            <a:off x="5057775" y="1981200"/>
            <a:ext cx="3594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E33737"/>
              </a:buClr>
              <a:buSzPts val="1800"/>
              <a:buFont typeface="Arial"/>
              <a:buNone/>
            </a:pPr>
            <a:r>
              <a:rPr b="1" i="0" lang="en" sz="1800" u="none" cap="none" strike="noStrike">
                <a:solidFill>
                  <a:srgbClr val="E33737"/>
                </a:solidFill>
                <a:latin typeface="Arial"/>
                <a:ea typeface="Arial"/>
                <a:cs typeface="Arial"/>
                <a:sym typeface="Arial"/>
              </a:rPr>
              <a:t>GPU Serverless</a:t>
            </a:r>
            <a:endParaRPr b="0" i="0" sz="1800" u="none" cap="none" strike="noStrike">
              <a:solidFill>
                <a:schemeClr val="dk1"/>
              </a:solidFill>
              <a:latin typeface="Calibri"/>
              <a:ea typeface="Calibri"/>
              <a:cs typeface="Calibri"/>
              <a:sym typeface="Calibri"/>
            </a:endParaRPr>
          </a:p>
        </p:txBody>
      </p:sp>
      <p:sp>
        <p:nvSpPr>
          <p:cNvPr id="90" name="Google Shape;90;g398d5a2bf02_0_0"/>
          <p:cNvSpPr/>
          <p:nvPr/>
        </p:nvSpPr>
        <p:spPr>
          <a:xfrm>
            <a:off x="5057775" y="2438400"/>
            <a:ext cx="3524400" cy="8763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Container: 3-5s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CUDA setup: 2-4s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Model load: 8-15s</a:t>
            </a:r>
            <a:endParaRPr b="0" i="0" sz="1350" u="none" cap="none" strike="noStrike">
              <a:solidFill>
                <a:schemeClr val="dk1"/>
              </a:solidFill>
              <a:latin typeface="Calibri"/>
              <a:ea typeface="Calibri"/>
              <a:cs typeface="Calibri"/>
              <a:sym typeface="Calibri"/>
            </a:endParaRPr>
          </a:p>
        </p:txBody>
      </p:sp>
      <p:sp>
        <p:nvSpPr>
          <p:cNvPr id="91" name="Google Shape;91;g398d5a2bf02_0_0"/>
          <p:cNvSpPr/>
          <p:nvPr/>
        </p:nvSpPr>
        <p:spPr>
          <a:xfrm>
            <a:off x="5057775" y="3543300"/>
            <a:ext cx="359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33737"/>
              </a:buClr>
              <a:buSzPts val="2250"/>
              <a:buFont typeface="Arial"/>
              <a:buNone/>
            </a:pPr>
            <a:r>
              <a:rPr b="1" i="0" lang="en" sz="2250" u="none" cap="none" strike="noStrike">
                <a:solidFill>
                  <a:srgbClr val="E33737"/>
                </a:solidFill>
                <a:latin typeface="Arial"/>
                <a:ea typeface="Arial"/>
                <a:cs typeface="Arial"/>
                <a:sym typeface="Arial"/>
              </a:rPr>
              <a:t>Total: 15-25s ✗</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6" name="Shape 96"/>
        <p:cNvGrpSpPr/>
        <p:nvPr/>
      </p:nvGrpSpPr>
      <p:grpSpPr>
        <a:xfrm>
          <a:off x="0" y="0"/>
          <a:ext cx="0" cy="0"/>
          <a:chOff x="0" y="0"/>
          <a:chExt cx="0" cy="0"/>
        </a:xfrm>
      </p:grpSpPr>
      <p:sp>
        <p:nvSpPr>
          <p:cNvPr id="97" name="Google Shape;97;g398d5a2bf02_0_13"/>
          <p:cNvSpPr/>
          <p:nvPr/>
        </p:nvSpPr>
        <p:spPr>
          <a:xfrm>
            <a:off x="304800" y="228600"/>
            <a:ext cx="43623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lang="en" sz="2700">
                <a:solidFill>
                  <a:srgbClr val="E33737"/>
                </a:solidFill>
              </a:rPr>
              <a:t>What’s Different?</a:t>
            </a:r>
            <a:endParaRPr b="0" i="0" sz="2700" u="none" cap="none" strike="noStrike">
              <a:solidFill>
                <a:schemeClr val="dk1"/>
              </a:solidFill>
              <a:latin typeface="Calibri"/>
              <a:ea typeface="Calibri"/>
              <a:cs typeface="Calibri"/>
              <a:sym typeface="Calibri"/>
            </a:endParaRPr>
          </a:p>
        </p:txBody>
      </p:sp>
      <p:sp>
        <p:nvSpPr>
          <p:cNvPr id="98" name="Google Shape;98;g398d5a2bf02_0_13"/>
          <p:cNvSpPr/>
          <p:nvPr/>
        </p:nvSpPr>
        <p:spPr>
          <a:xfrm>
            <a:off x="2947800" y="1154350"/>
            <a:ext cx="2514300" cy="2942100"/>
          </a:xfrm>
          <a:prstGeom prst="roundRect">
            <a:avLst>
              <a:gd fmla="val 2481" name="adj"/>
            </a:avLst>
          </a:prstGeom>
          <a:solidFill>
            <a:srgbClr val="E8F5E9"/>
          </a:solidFill>
          <a:ln cap="flat" cmpd="sng" w="28575">
            <a:solidFill>
              <a:srgbClr val="4CAF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99" name="Google Shape;99;g398d5a2bf02_0_13"/>
          <p:cNvSpPr/>
          <p:nvPr/>
        </p:nvSpPr>
        <p:spPr>
          <a:xfrm>
            <a:off x="3107913" y="1462225"/>
            <a:ext cx="2237700" cy="36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7D32"/>
              </a:buClr>
              <a:buSzPts val="1800"/>
              <a:buFont typeface="Arial"/>
              <a:buNone/>
            </a:pPr>
            <a:r>
              <a:rPr b="1" i="0" lang="en" sz="1800" u="none" cap="none" strike="noStrike">
                <a:solidFill>
                  <a:srgbClr val="2E7D32"/>
                </a:solidFill>
                <a:latin typeface="Arial"/>
                <a:ea typeface="Arial"/>
                <a:cs typeface="Arial"/>
                <a:sym typeface="Arial"/>
              </a:rPr>
              <a:t>CPU</a:t>
            </a:r>
            <a:endParaRPr b="0" i="0" sz="1800" u="none" cap="none" strike="noStrike">
              <a:solidFill>
                <a:schemeClr val="dk1"/>
              </a:solidFill>
              <a:latin typeface="Calibri"/>
              <a:ea typeface="Calibri"/>
              <a:cs typeface="Calibri"/>
              <a:sym typeface="Calibri"/>
            </a:endParaRPr>
          </a:p>
        </p:txBody>
      </p:sp>
      <p:sp>
        <p:nvSpPr>
          <p:cNvPr id="100" name="Google Shape;100;g398d5a2bf02_0_13"/>
          <p:cNvSpPr/>
          <p:nvPr/>
        </p:nvSpPr>
        <p:spPr>
          <a:xfrm>
            <a:off x="3107925" y="2009543"/>
            <a:ext cx="2194500" cy="18480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Container: 1-</a:t>
            </a:r>
            <a:r>
              <a:rPr lang="en" sz="1350">
                <a:solidFill>
                  <a:srgbClr val="292929"/>
                </a:solidFill>
              </a:rPr>
              <a:t>3 </a:t>
            </a:r>
            <a:r>
              <a:rPr b="0" i="0" lang="en" sz="1350" u="none" cap="none" strike="noStrike">
                <a:solidFill>
                  <a:srgbClr val="292929"/>
                </a:solidFill>
                <a:latin typeface="Arial"/>
                <a:ea typeface="Arial"/>
                <a:cs typeface="Arial"/>
                <a:sym typeface="Arial"/>
              </a:rPr>
              <a:t>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Simple </a:t>
            </a:r>
            <a:r>
              <a:rPr b="0" i="0" lang="en" sz="1350" u="none" cap="none" strike="noStrike">
                <a:solidFill>
                  <a:srgbClr val="292929"/>
                </a:solidFill>
                <a:latin typeface="Arial"/>
                <a:ea typeface="Arial"/>
                <a:cs typeface="Arial"/>
                <a:sym typeface="Arial"/>
              </a:rPr>
              <a:t>Runtime</a:t>
            </a:r>
            <a:endParaRPr sz="1350">
              <a:solidFill>
                <a:srgbClr val="292929"/>
              </a:solidFill>
            </a:endParaRPr>
          </a:p>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RAM</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Negligible</a:t>
            </a:r>
            <a:endParaRPr sz="1350">
              <a:solidFill>
                <a:srgbClr val="292929"/>
              </a:solidFill>
            </a:endParaRPr>
          </a:p>
          <a:p>
            <a:pPr indent="-85725" lvl="0" marL="85725" marR="0" rtl="0" algn="l">
              <a:lnSpc>
                <a:spcPct val="155555"/>
              </a:lnSpc>
              <a:spcBef>
                <a:spcPts val="0"/>
              </a:spcBef>
              <a:spcAft>
                <a:spcPts val="0"/>
              </a:spcAft>
              <a:buClr>
                <a:srgbClr val="292929"/>
              </a:buClr>
              <a:buSzPts val="1350"/>
              <a:buChar char="•"/>
            </a:pPr>
            <a:r>
              <a:rPr lang="en" sz="1350">
                <a:solidFill>
                  <a:srgbClr val="292929"/>
                </a:solidFill>
              </a:rPr>
              <a:t>Native</a:t>
            </a:r>
            <a:endParaRPr sz="1350">
              <a:solidFill>
                <a:srgbClr val="292929"/>
              </a:solidFill>
            </a:endParaRPr>
          </a:p>
        </p:txBody>
      </p:sp>
      <p:sp>
        <p:nvSpPr>
          <p:cNvPr id="101" name="Google Shape;101;g398d5a2bf02_0_13"/>
          <p:cNvSpPr/>
          <p:nvPr/>
        </p:nvSpPr>
        <p:spPr>
          <a:xfrm>
            <a:off x="6324925" y="1100700"/>
            <a:ext cx="2514300" cy="2942100"/>
          </a:xfrm>
          <a:prstGeom prst="roundRect">
            <a:avLst>
              <a:gd fmla="val 2481" name="adj"/>
            </a:avLst>
          </a:prstGeom>
          <a:solidFill>
            <a:srgbClr val="FFE5E5"/>
          </a:solidFill>
          <a:ln cap="flat" cmpd="sng" w="28575">
            <a:solidFill>
              <a:srgbClr val="E337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2" name="Google Shape;102;g398d5a2bf02_0_13"/>
          <p:cNvSpPr/>
          <p:nvPr/>
        </p:nvSpPr>
        <p:spPr>
          <a:xfrm>
            <a:off x="6587475" y="1408575"/>
            <a:ext cx="2064900" cy="36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E33737"/>
              </a:buClr>
              <a:buSzPts val="1800"/>
              <a:buFont typeface="Arial"/>
              <a:buNone/>
            </a:pPr>
            <a:r>
              <a:rPr b="1" i="0" lang="en" sz="1800" u="none" cap="none" strike="noStrike">
                <a:solidFill>
                  <a:srgbClr val="E33737"/>
                </a:solidFill>
                <a:latin typeface="Arial"/>
                <a:ea typeface="Arial"/>
                <a:cs typeface="Arial"/>
                <a:sym typeface="Arial"/>
              </a:rPr>
              <a:t>GPU</a:t>
            </a:r>
            <a:endParaRPr b="0" i="0" sz="1800" u="none" cap="none" strike="noStrike">
              <a:solidFill>
                <a:schemeClr val="dk1"/>
              </a:solidFill>
              <a:latin typeface="Calibri"/>
              <a:ea typeface="Calibri"/>
              <a:cs typeface="Calibri"/>
              <a:sym typeface="Calibri"/>
            </a:endParaRPr>
          </a:p>
        </p:txBody>
      </p:sp>
      <p:sp>
        <p:nvSpPr>
          <p:cNvPr id="103" name="Google Shape;103;g398d5a2bf02_0_13"/>
          <p:cNvSpPr/>
          <p:nvPr/>
        </p:nvSpPr>
        <p:spPr>
          <a:xfrm>
            <a:off x="6587475" y="1955893"/>
            <a:ext cx="1994700" cy="18480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Container: </a:t>
            </a:r>
            <a:r>
              <a:rPr lang="en" sz="1350">
                <a:solidFill>
                  <a:srgbClr val="292929"/>
                </a:solidFill>
              </a:rPr>
              <a:t>10</a:t>
            </a:r>
            <a:r>
              <a:rPr b="0" i="0" lang="en" sz="1350" u="none" cap="none" strike="noStrike">
                <a:solidFill>
                  <a:srgbClr val="292929"/>
                </a:solidFill>
                <a:latin typeface="Arial"/>
                <a:ea typeface="Arial"/>
                <a:cs typeface="Arial"/>
                <a:sym typeface="Arial"/>
              </a:rPr>
              <a:t>-</a:t>
            </a:r>
            <a:r>
              <a:rPr lang="en" sz="1350">
                <a:solidFill>
                  <a:srgbClr val="292929"/>
                </a:solidFill>
              </a:rPr>
              <a:t>60</a:t>
            </a:r>
            <a:r>
              <a:rPr b="0" i="0" lang="en" sz="1350" u="none" cap="none" strike="noStrike">
                <a:solidFill>
                  <a:srgbClr val="292929"/>
                </a:solidFill>
                <a:latin typeface="Arial"/>
                <a:ea typeface="Arial"/>
                <a:cs typeface="Arial"/>
                <a:sym typeface="Arial"/>
              </a:rPr>
              <a:t>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Nvidia</a:t>
            </a:r>
            <a:r>
              <a:rPr lang="en" sz="1350">
                <a:solidFill>
                  <a:srgbClr val="292929"/>
                </a:solidFill>
              </a:rPr>
              <a:t> drivers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Slow (VRAM transfer)</a:t>
            </a:r>
            <a:endParaRPr sz="1350">
              <a:solidFill>
                <a:srgbClr val="292929"/>
              </a:solidFill>
            </a:endParaRPr>
          </a:p>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CUDA Context</a:t>
            </a:r>
            <a:endParaRPr sz="1350">
              <a:solidFill>
                <a:srgbClr val="292929"/>
              </a:solidFill>
            </a:endParaRPr>
          </a:p>
          <a:p>
            <a:pPr indent="-85725" lvl="0" marL="85725" marR="0" rtl="0" algn="l">
              <a:lnSpc>
                <a:spcPct val="155555"/>
              </a:lnSpc>
              <a:spcBef>
                <a:spcPts val="0"/>
              </a:spcBef>
              <a:spcAft>
                <a:spcPts val="0"/>
              </a:spcAft>
              <a:buClr>
                <a:srgbClr val="292929"/>
              </a:buClr>
              <a:buSzPts val="1350"/>
              <a:buChar char="•"/>
            </a:pPr>
            <a:r>
              <a:rPr lang="en" sz="1350">
                <a:solidFill>
                  <a:srgbClr val="292929"/>
                </a:solidFill>
              </a:rPr>
              <a:t>Device plugin</a:t>
            </a:r>
            <a:endParaRPr sz="1350">
              <a:solidFill>
                <a:srgbClr val="292929"/>
              </a:solidFill>
            </a:endParaRPr>
          </a:p>
        </p:txBody>
      </p:sp>
      <p:sp>
        <p:nvSpPr>
          <p:cNvPr id="104" name="Google Shape;104;g398d5a2bf02_0_13"/>
          <p:cNvSpPr/>
          <p:nvPr/>
        </p:nvSpPr>
        <p:spPr>
          <a:xfrm>
            <a:off x="304775" y="1100700"/>
            <a:ext cx="1780200" cy="2942100"/>
          </a:xfrm>
          <a:prstGeom prst="roundRect">
            <a:avLst>
              <a:gd fmla="val 2481" name="adj"/>
            </a:avLst>
          </a:prstGeom>
          <a:solidFill>
            <a:srgbClr val="E3F2FD"/>
          </a:solidFill>
          <a:ln cap="flat" cmpd="sng" w="28575">
            <a:solidFill>
              <a:srgbClr val="2196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5" name="Google Shape;105;g398d5a2bf02_0_13"/>
          <p:cNvSpPr/>
          <p:nvPr/>
        </p:nvSpPr>
        <p:spPr>
          <a:xfrm>
            <a:off x="532930" y="1408578"/>
            <a:ext cx="1340400" cy="36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7D32"/>
              </a:buClr>
              <a:buSzPts val="1800"/>
              <a:buFont typeface="Arial"/>
              <a:buNone/>
            </a:pPr>
            <a:r>
              <a:rPr b="1" lang="en" sz="1800">
                <a:solidFill>
                  <a:srgbClr val="0000FF"/>
                </a:solidFill>
              </a:rPr>
              <a:t>Aspect</a:t>
            </a:r>
            <a:endParaRPr b="0" i="0" sz="1800" u="none" cap="none" strike="noStrike">
              <a:solidFill>
                <a:srgbClr val="0000FF"/>
              </a:solidFill>
              <a:latin typeface="Calibri"/>
              <a:ea typeface="Calibri"/>
              <a:cs typeface="Calibri"/>
              <a:sym typeface="Calibri"/>
            </a:endParaRPr>
          </a:p>
        </p:txBody>
      </p:sp>
      <p:sp>
        <p:nvSpPr>
          <p:cNvPr id="106" name="Google Shape;106;g398d5a2bf02_0_13"/>
          <p:cNvSpPr/>
          <p:nvPr/>
        </p:nvSpPr>
        <p:spPr>
          <a:xfrm>
            <a:off x="299713" y="2001500"/>
            <a:ext cx="2064900" cy="17568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  Init time</a:t>
            </a:r>
            <a:endParaRPr sz="1350">
              <a:solidFill>
                <a:srgbClr val="292929"/>
              </a:solidFill>
            </a:endParaRPr>
          </a:p>
          <a:p>
            <a:pPr indent="-85725" lvl="0" marL="85725" marR="0" rtl="0" algn="l">
              <a:lnSpc>
                <a:spcPct val="155555"/>
              </a:lnSpc>
              <a:spcBef>
                <a:spcPts val="0"/>
              </a:spcBef>
              <a:spcAft>
                <a:spcPts val="0"/>
              </a:spcAft>
              <a:buClr>
                <a:srgbClr val="292929"/>
              </a:buClr>
              <a:buSzPts val="1350"/>
              <a:buFont typeface="Arial"/>
              <a:buChar char="•"/>
            </a:pPr>
            <a:r>
              <a:rPr lang="en" sz="1350">
                <a:solidFill>
                  <a:srgbClr val="292929"/>
                </a:solidFill>
              </a:rPr>
              <a:t>  Run time</a:t>
            </a:r>
            <a:endParaRPr sz="1350">
              <a:solidFill>
                <a:srgbClr val="292929"/>
              </a:solidFill>
            </a:endParaRPr>
          </a:p>
          <a:p>
            <a:pPr indent="-85725" lvl="0" marL="85725" marR="0" rtl="0" algn="l">
              <a:lnSpc>
                <a:spcPct val="155555"/>
              </a:lnSpc>
              <a:spcBef>
                <a:spcPts val="0"/>
              </a:spcBef>
              <a:spcAft>
                <a:spcPts val="0"/>
              </a:spcAft>
              <a:buClr>
                <a:srgbClr val="292929"/>
              </a:buClr>
              <a:buSzPts val="1350"/>
              <a:buChar char="•"/>
            </a:pPr>
            <a:r>
              <a:rPr lang="en" sz="1350">
                <a:solidFill>
                  <a:srgbClr val="292929"/>
                </a:solidFill>
              </a:rPr>
              <a:t>  Model load</a:t>
            </a:r>
            <a:endParaRPr sz="1350">
              <a:solidFill>
                <a:srgbClr val="292929"/>
              </a:solidFill>
            </a:endParaRPr>
          </a:p>
          <a:p>
            <a:pPr indent="-85725" lvl="0" marL="85725" marR="0" rtl="0" algn="l">
              <a:lnSpc>
                <a:spcPct val="155555"/>
              </a:lnSpc>
              <a:spcBef>
                <a:spcPts val="0"/>
              </a:spcBef>
              <a:spcAft>
                <a:spcPts val="0"/>
              </a:spcAft>
              <a:buClr>
                <a:srgbClr val="292929"/>
              </a:buClr>
              <a:buSzPts val="1350"/>
              <a:buChar char="•"/>
            </a:pPr>
            <a:r>
              <a:rPr lang="en" sz="1350">
                <a:solidFill>
                  <a:srgbClr val="292929"/>
                </a:solidFill>
              </a:rPr>
              <a:t>  Warm up</a:t>
            </a:r>
            <a:endParaRPr sz="1350">
              <a:solidFill>
                <a:srgbClr val="292929"/>
              </a:solidFill>
            </a:endParaRPr>
          </a:p>
          <a:p>
            <a:pPr indent="-85725" lvl="0" marL="85725" marR="0" rtl="0" algn="l">
              <a:lnSpc>
                <a:spcPct val="155555"/>
              </a:lnSpc>
              <a:spcBef>
                <a:spcPts val="0"/>
              </a:spcBef>
              <a:spcAft>
                <a:spcPts val="0"/>
              </a:spcAft>
              <a:buClr>
                <a:srgbClr val="292929"/>
              </a:buClr>
              <a:buSzPts val="1350"/>
              <a:buChar char="•"/>
            </a:pPr>
            <a:r>
              <a:rPr lang="en" sz="1350">
                <a:solidFill>
                  <a:srgbClr val="292929"/>
                </a:solidFill>
              </a:rPr>
              <a:t>  Resource Binding</a:t>
            </a:r>
            <a:endParaRPr sz="1350">
              <a:solidFill>
                <a:srgbClr val="29292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98d5a2bf02_0_601"/>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GPU in Kubernetes</a:t>
            </a:r>
            <a:endParaRPr/>
          </a:p>
        </p:txBody>
      </p:sp>
      <p:sp>
        <p:nvSpPr>
          <p:cNvPr id="112" name="Google Shape;112;g398d5a2bf02_0_601"/>
          <p:cNvSpPr/>
          <p:nvPr/>
        </p:nvSpPr>
        <p:spPr>
          <a:xfrm>
            <a:off x="3037800" y="1433450"/>
            <a:ext cx="2000700" cy="7281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GPU Hardware</a:t>
            </a:r>
            <a:endParaRPr/>
          </a:p>
        </p:txBody>
      </p:sp>
      <p:sp>
        <p:nvSpPr>
          <p:cNvPr id="113" name="Google Shape;113;g398d5a2bf02_0_601"/>
          <p:cNvSpPr/>
          <p:nvPr/>
        </p:nvSpPr>
        <p:spPr>
          <a:xfrm>
            <a:off x="3037800" y="2351938"/>
            <a:ext cx="2000700" cy="72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Nvidia Driver</a:t>
            </a:r>
            <a:endParaRPr/>
          </a:p>
        </p:txBody>
      </p:sp>
      <p:sp>
        <p:nvSpPr>
          <p:cNvPr id="114" name="Google Shape;114;g398d5a2bf02_0_601"/>
          <p:cNvSpPr/>
          <p:nvPr/>
        </p:nvSpPr>
        <p:spPr>
          <a:xfrm>
            <a:off x="3037800" y="3270450"/>
            <a:ext cx="2000700" cy="72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Container Runtime Toolkit</a:t>
            </a:r>
            <a:endParaRPr/>
          </a:p>
        </p:txBody>
      </p:sp>
      <p:sp>
        <p:nvSpPr>
          <p:cNvPr id="115" name="Google Shape;115;g398d5a2bf02_0_601"/>
          <p:cNvSpPr/>
          <p:nvPr/>
        </p:nvSpPr>
        <p:spPr>
          <a:xfrm>
            <a:off x="3037800" y="4188950"/>
            <a:ext cx="2000700" cy="72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Device Plugin</a:t>
            </a:r>
            <a:endParaRPr/>
          </a:p>
        </p:txBody>
      </p:sp>
      <p:pic>
        <p:nvPicPr>
          <p:cNvPr id="116" name="Google Shape;116;g398d5a2bf02_0_601"/>
          <p:cNvPicPr preferRelativeResize="0"/>
          <p:nvPr/>
        </p:nvPicPr>
        <p:blipFill>
          <a:blip r:embed="rId3">
            <a:alphaModFix/>
          </a:blip>
          <a:stretch>
            <a:fillRect/>
          </a:stretch>
        </p:blipFill>
        <p:spPr>
          <a:xfrm>
            <a:off x="1427475" y="1522550"/>
            <a:ext cx="1136299" cy="639000"/>
          </a:xfrm>
          <a:prstGeom prst="rect">
            <a:avLst/>
          </a:prstGeom>
          <a:noFill/>
          <a:ln>
            <a:noFill/>
          </a:ln>
        </p:spPr>
      </p:pic>
      <p:pic>
        <p:nvPicPr>
          <p:cNvPr id="117" name="Google Shape;117;g398d5a2bf02_0_601" title="Screenshot 2025-11-07 at 9.06.48 AM.png"/>
          <p:cNvPicPr preferRelativeResize="0"/>
          <p:nvPr/>
        </p:nvPicPr>
        <p:blipFill rotWithShape="1">
          <a:blip r:embed="rId4">
            <a:alphaModFix/>
          </a:blip>
          <a:srcRect b="0" l="6550" r="0" t="0"/>
          <a:stretch/>
        </p:blipFill>
        <p:spPr>
          <a:xfrm>
            <a:off x="1301900" y="4360575"/>
            <a:ext cx="1387451" cy="501350"/>
          </a:xfrm>
          <a:prstGeom prst="rect">
            <a:avLst/>
          </a:prstGeom>
          <a:noFill/>
          <a:ln>
            <a:noFill/>
          </a:ln>
        </p:spPr>
      </p:pic>
      <p:sp>
        <p:nvSpPr>
          <p:cNvPr id="118" name="Google Shape;118;g398d5a2bf02_0_601"/>
          <p:cNvSpPr txBox="1"/>
          <p:nvPr/>
        </p:nvSpPr>
        <p:spPr>
          <a:xfrm>
            <a:off x="5930275" y="2523575"/>
            <a:ext cx="141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Communicate</a:t>
            </a:r>
            <a:endParaRPr/>
          </a:p>
        </p:txBody>
      </p:sp>
      <p:sp>
        <p:nvSpPr>
          <p:cNvPr id="119" name="Google Shape;119;g398d5a2bf02_0_601"/>
          <p:cNvSpPr txBox="1"/>
          <p:nvPr/>
        </p:nvSpPr>
        <p:spPr>
          <a:xfrm>
            <a:off x="5992525" y="3442075"/>
            <a:ext cx="141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Access</a:t>
            </a:r>
            <a:endParaRPr/>
          </a:p>
        </p:txBody>
      </p:sp>
      <p:sp>
        <p:nvSpPr>
          <p:cNvPr id="120" name="Google Shape;120;g398d5a2bf02_0_601"/>
          <p:cNvSpPr txBox="1"/>
          <p:nvPr/>
        </p:nvSpPr>
        <p:spPr>
          <a:xfrm>
            <a:off x="5992525" y="4360575"/>
            <a:ext cx="204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Inform and Expose</a:t>
            </a:r>
            <a:endParaRPr/>
          </a:p>
        </p:txBody>
      </p:sp>
      <p:sp>
        <p:nvSpPr>
          <p:cNvPr id="121" name="Google Shape;121;g398d5a2bf02_0_601"/>
          <p:cNvSpPr txBox="1"/>
          <p:nvPr/>
        </p:nvSpPr>
        <p:spPr>
          <a:xfrm>
            <a:off x="5930275" y="1605075"/>
            <a:ext cx="141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Computation</a:t>
            </a:r>
            <a:endParaRPr/>
          </a:p>
        </p:txBody>
      </p:sp>
      <p:pic>
        <p:nvPicPr>
          <p:cNvPr id="122" name="Google Shape;122;g398d5a2bf02_0_601"/>
          <p:cNvPicPr preferRelativeResize="0"/>
          <p:nvPr/>
        </p:nvPicPr>
        <p:blipFill>
          <a:blip r:embed="rId5">
            <a:alphaModFix/>
          </a:blip>
          <a:stretch>
            <a:fillRect/>
          </a:stretch>
        </p:blipFill>
        <p:spPr>
          <a:xfrm>
            <a:off x="8254750" y="4241301"/>
            <a:ext cx="657623" cy="638999"/>
          </a:xfrm>
          <a:prstGeom prst="rect">
            <a:avLst/>
          </a:prstGeom>
          <a:noFill/>
          <a:ln>
            <a:noFill/>
          </a:ln>
        </p:spPr>
      </p:pic>
      <p:cxnSp>
        <p:nvCxnSpPr>
          <p:cNvPr id="123" name="Google Shape;123;g398d5a2bf02_0_601"/>
          <p:cNvCxnSpPr>
            <a:endCxn id="120" idx="1"/>
          </p:cNvCxnSpPr>
          <p:nvPr/>
        </p:nvCxnSpPr>
        <p:spPr>
          <a:xfrm>
            <a:off x="5051725" y="4560675"/>
            <a:ext cx="940800" cy="0"/>
          </a:xfrm>
          <a:prstGeom prst="straightConnector1">
            <a:avLst/>
          </a:prstGeom>
          <a:noFill/>
          <a:ln cap="flat" cmpd="sng" w="9525">
            <a:solidFill>
              <a:schemeClr val="dk2"/>
            </a:solidFill>
            <a:prstDash val="solid"/>
            <a:round/>
            <a:headEnd len="med" w="med" type="none"/>
            <a:tailEnd len="med" w="med" type="triangle"/>
          </a:ln>
        </p:spPr>
      </p:cxnSp>
      <p:cxnSp>
        <p:nvCxnSpPr>
          <p:cNvPr id="124" name="Google Shape;124;g398d5a2bf02_0_601"/>
          <p:cNvCxnSpPr>
            <a:endCxn id="122" idx="1"/>
          </p:cNvCxnSpPr>
          <p:nvPr/>
        </p:nvCxnSpPr>
        <p:spPr>
          <a:xfrm>
            <a:off x="7764850" y="4560800"/>
            <a:ext cx="489900" cy="0"/>
          </a:xfrm>
          <a:prstGeom prst="straightConnector1">
            <a:avLst/>
          </a:prstGeom>
          <a:noFill/>
          <a:ln cap="flat" cmpd="sng" w="9525">
            <a:solidFill>
              <a:schemeClr val="dk2"/>
            </a:solidFill>
            <a:prstDash val="solid"/>
            <a:round/>
            <a:headEnd len="med" w="med" type="none"/>
            <a:tailEnd len="med" w="med" type="triangle"/>
          </a:ln>
        </p:spPr>
      </p:cxnSp>
      <p:cxnSp>
        <p:nvCxnSpPr>
          <p:cNvPr id="125" name="Google Shape;125;g398d5a2bf02_0_601"/>
          <p:cNvCxnSpPr>
            <a:stCxn id="115" idx="3"/>
            <a:endCxn id="114" idx="3"/>
          </p:cNvCxnSpPr>
          <p:nvPr/>
        </p:nvCxnSpPr>
        <p:spPr>
          <a:xfrm flipH="1" rot="10800000">
            <a:off x="5038500" y="3634400"/>
            <a:ext cx="600" cy="9186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126" name="Google Shape;126;g398d5a2bf02_0_601"/>
          <p:cNvCxnSpPr/>
          <p:nvPr/>
        </p:nvCxnSpPr>
        <p:spPr>
          <a:xfrm flipH="1" rot="10800000">
            <a:off x="5038500" y="2710300"/>
            <a:ext cx="600" cy="9186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127" name="Google Shape;127;g398d5a2bf02_0_601"/>
          <p:cNvCxnSpPr/>
          <p:nvPr/>
        </p:nvCxnSpPr>
        <p:spPr>
          <a:xfrm flipH="1" rot="10800000">
            <a:off x="5038500" y="1786200"/>
            <a:ext cx="600" cy="918600"/>
          </a:xfrm>
          <a:prstGeom prst="bentConnector3">
            <a:avLst>
              <a:gd fmla="val 3968750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98d5a2bf02_0_165"/>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What's Happening Under the Hood?</a:t>
            </a:r>
            <a:endParaRPr/>
          </a:p>
        </p:txBody>
      </p:sp>
      <p:sp>
        <p:nvSpPr>
          <p:cNvPr id="133" name="Google Shape;133;g398d5a2bf02_0_165"/>
          <p:cNvSpPr txBox="1"/>
          <p:nvPr>
            <p:ph idx="1" type="body"/>
          </p:nvPr>
        </p:nvSpPr>
        <p:spPr>
          <a:xfrm>
            <a:off x="311700" y="1395100"/>
            <a:ext cx="8520600" cy="36393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AutoNum type="arabicPeriod"/>
            </a:pPr>
            <a:r>
              <a:rPr b="1" lang="en" sz="1800">
                <a:solidFill>
                  <a:schemeClr val="dk1"/>
                </a:solidFill>
              </a:rPr>
              <a:t>Pod &amp; Runtime Init (K8s orchestration)</a:t>
            </a:r>
            <a:br>
              <a:rPr b="1" lang="en" sz="1800">
                <a:solidFill>
                  <a:schemeClr val="dk1"/>
                </a:solidFill>
              </a:rPr>
            </a:br>
            <a:r>
              <a:rPr lang="en" sz="1800">
                <a:solidFill>
                  <a:schemeClr val="dk1"/>
                </a:solidFill>
              </a:rPr>
              <a:t> → Scheduler + kubelet assign GPU, device plugin exposes resources.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AutoNum type="arabicPeriod"/>
            </a:pPr>
            <a:r>
              <a:rPr b="1" lang="en" sz="1800">
                <a:solidFill>
                  <a:schemeClr val="dk1"/>
                </a:solidFill>
              </a:rPr>
              <a:t>Container + Driver Init (CRI + NVIDIA runtime)</a:t>
            </a:r>
            <a:br>
              <a:rPr b="1" lang="en" sz="1800">
                <a:solidFill>
                  <a:schemeClr val="dk1"/>
                </a:solidFill>
              </a:rPr>
            </a:br>
            <a:r>
              <a:rPr lang="en" sz="1800">
                <a:solidFill>
                  <a:schemeClr val="dk1"/>
                </a:solidFill>
              </a:rPr>
              <a:t> → Load NVIDIA drivers, CUDA runtime, establish device handles.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AutoNum type="arabicPeriod"/>
            </a:pPr>
            <a:r>
              <a:rPr b="1" lang="en" sz="1800">
                <a:solidFill>
                  <a:schemeClr val="dk1"/>
                </a:solidFill>
              </a:rPr>
              <a:t>Device Context Warm-up</a:t>
            </a:r>
            <a:br>
              <a:rPr b="1" lang="en" sz="1800">
                <a:solidFill>
                  <a:schemeClr val="dk1"/>
                </a:solidFill>
              </a:rPr>
            </a:br>
            <a:r>
              <a:rPr lang="en" sz="1800">
                <a:solidFill>
                  <a:schemeClr val="dk1"/>
                </a:solidFill>
              </a:rPr>
              <a:t> → CUDA context creation, memory graph build, kernel caching.</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AutoNum type="arabicPeriod"/>
            </a:pPr>
            <a:r>
              <a:rPr b="1" lang="en" sz="1800">
                <a:solidFill>
                  <a:schemeClr val="dk1"/>
                </a:solidFill>
              </a:rPr>
              <a:t>Model Weight Load (Deserialization)</a:t>
            </a:r>
            <a:br>
              <a:rPr b="1" lang="en" sz="1800">
                <a:solidFill>
                  <a:schemeClr val="dk1"/>
                </a:solidFill>
              </a:rPr>
            </a:br>
            <a:r>
              <a:rPr lang="en" sz="1800">
                <a:solidFill>
                  <a:schemeClr val="dk1"/>
                </a:solidFill>
              </a:rPr>
              <a:t> → Transfer large weights (GBs) to VRAM, allocate GPU memory.</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98d5a2bf02_0_622"/>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The Orchestration Tax</a:t>
            </a:r>
            <a:endParaRPr/>
          </a:p>
        </p:txBody>
      </p:sp>
      <p:sp>
        <p:nvSpPr>
          <p:cNvPr id="139" name="Google Shape;139;g398d5a2bf02_0_62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800">
                <a:solidFill>
                  <a:srgbClr val="912666"/>
                </a:solidFill>
              </a:rPr>
              <a:t>Kubernetes Scheduler and Kubelet</a:t>
            </a:r>
            <a:endParaRPr sz="1800">
              <a:solidFill>
                <a:srgbClr val="912666"/>
              </a:solidFill>
            </a:endParaRPr>
          </a:p>
          <a:p>
            <a:pPr indent="0" lvl="0" marL="0" rtl="0" algn="ctr">
              <a:lnSpc>
                <a:spcPct val="100000"/>
              </a:lnSpc>
              <a:spcBef>
                <a:spcPts val="0"/>
              </a:spcBef>
              <a:spcAft>
                <a:spcPts val="0"/>
              </a:spcAft>
              <a:buNone/>
            </a:pPr>
            <a:r>
              <a:t/>
            </a:r>
            <a:endParaRPr sz="1800">
              <a:solidFill>
                <a:srgbClr val="912666"/>
              </a:solidFill>
            </a:endParaRPr>
          </a:p>
          <a:p>
            <a:pPr indent="0" lvl="0" marL="0" rtl="0" algn="ctr">
              <a:lnSpc>
                <a:spcPct val="100000"/>
              </a:lnSpc>
              <a:spcBef>
                <a:spcPts val="0"/>
              </a:spcBef>
              <a:spcAft>
                <a:spcPts val="0"/>
              </a:spcAft>
              <a:buNone/>
            </a:pPr>
            <a:r>
              <a:t/>
            </a:r>
            <a:endParaRPr sz="1800">
              <a:solidFill>
                <a:srgbClr val="912666"/>
              </a:solidFill>
            </a:endParaRPr>
          </a:p>
          <a:p>
            <a:pPr indent="0" lvl="0" marL="0" rtl="0" algn="ctr">
              <a:lnSpc>
                <a:spcPct val="100000"/>
              </a:lnSpc>
              <a:spcBef>
                <a:spcPts val="0"/>
              </a:spcBef>
              <a:spcAft>
                <a:spcPts val="0"/>
              </a:spcAft>
              <a:buNone/>
            </a:pPr>
            <a:r>
              <a:rPr lang="en" sz="1800">
                <a:solidFill>
                  <a:schemeClr val="dk1"/>
                </a:solidFill>
              </a:rPr>
              <a:t>When a GPU pod is submitted, the </a:t>
            </a:r>
            <a:r>
              <a:rPr b="1" lang="en" sz="1800">
                <a:solidFill>
                  <a:schemeClr val="dk1"/>
                </a:solidFill>
              </a:rPr>
              <a:t>Kubernetes scheduler</a:t>
            </a:r>
            <a:r>
              <a:rPr lang="en" sz="1800">
                <a:solidFill>
                  <a:schemeClr val="dk1"/>
                </a:solidFill>
              </a:rPr>
              <a:t> looks for a node advertising available GPU resources.</a:t>
            </a:r>
            <a:br>
              <a:rPr lang="en" sz="1800">
                <a:solidFill>
                  <a:schemeClr val="dk1"/>
                </a:solidFill>
              </a:rPr>
            </a:br>
            <a:endParaRPr sz="1800">
              <a:solidFill>
                <a:schemeClr val="dk1"/>
              </a:solidFill>
            </a:endParaRPr>
          </a:p>
          <a:p>
            <a:pPr indent="0" lvl="0" marL="457200" rtl="0" algn="ctr">
              <a:spcBef>
                <a:spcPts val="1200"/>
              </a:spcBef>
              <a:spcAft>
                <a:spcPts val="0"/>
              </a:spcAft>
              <a:buNone/>
            </a:pPr>
            <a:r>
              <a:rPr lang="en" sz="1800">
                <a:solidFill>
                  <a:schemeClr val="dk1"/>
                </a:solidFill>
              </a:rPr>
              <a:t>GPU resources are </a:t>
            </a:r>
            <a:r>
              <a:rPr b="1" lang="en" sz="1800">
                <a:solidFill>
                  <a:schemeClr val="dk1"/>
                </a:solidFill>
              </a:rPr>
              <a:t>not native</a:t>
            </a:r>
            <a:r>
              <a:rPr lang="en" sz="1800">
                <a:solidFill>
                  <a:schemeClr val="dk1"/>
                </a:solidFill>
              </a:rPr>
              <a:t> to Kubernetes; they’re exposed via </a:t>
            </a:r>
            <a:br>
              <a:rPr lang="en" sz="1800">
                <a:solidFill>
                  <a:schemeClr val="dk1"/>
                </a:solidFill>
              </a:rPr>
            </a:br>
            <a:r>
              <a:rPr b="1" lang="en" sz="1800">
                <a:solidFill>
                  <a:schemeClr val="dk1"/>
                </a:solidFill>
              </a:rPr>
              <a:t>NVIDIA’s Device Plugin</a:t>
            </a:r>
            <a:r>
              <a:rPr lang="en" sz="1800">
                <a:solidFill>
                  <a:schemeClr val="dk1"/>
                </a:solidFill>
              </a:rPr>
              <a:t>.</a:t>
            </a:r>
            <a:br>
              <a:rPr lang="en" sz="1800">
                <a:solidFill>
                  <a:schemeClr val="dk1"/>
                </a:solidFill>
              </a:rPr>
            </a:br>
            <a:endParaRPr sz="1800">
              <a:solidFill>
                <a:schemeClr val="dk1"/>
              </a:solidFill>
            </a:endParaRPr>
          </a:p>
          <a:p>
            <a:pPr indent="0" lvl="0" marL="457200" rtl="0" algn="ctr">
              <a:spcBef>
                <a:spcPts val="1200"/>
              </a:spcBef>
              <a:spcAft>
                <a:spcPts val="1200"/>
              </a:spcAft>
              <a:buNone/>
            </a:pPr>
            <a:r>
              <a:rPr lang="en" sz="1800">
                <a:solidFill>
                  <a:schemeClr val="dk1"/>
                </a:solidFill>
              </a:rPr>
              <a:t>The scheduler waits until a node reports “nvidia.com/gpu: ” as allocatable.</a:t>
            </a:r>
            <a:endParaRPr sz="1800">
              <a:solidFill>
                <a:srgbClr val="91266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98d5a2bf02_0_627"/>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Latency Sources</a:t>
            </a:r>
            <a:endParaRPr/>
          </a:p>
        </p:txBody>
      </p:sp>
      <p:sp>
        <p:nvSpPr>
          <p:cNvPr id="145" name="Google Shape;145;g398d5a2bf02_0_627"/>
          <p:cNvSpPr txBox="1"/>
          <p:nvPr>
            <p:ph idx="1" type="body"/>
          </p:nvPr>
        </p:nvSpPr>
        <p:spPr>
          <a:xfrm>
            <a:off x="311700" y="1152475"/>
            <a:ext cx="8520600" cy="37764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t/>
            </a:r>
            <a:endParaRPr b="1" sz="1800">
              <a:solidFill>
                <a:schemeClr val="dk1"/>
              </a:solidFill>
            </a:endParaRPr>
          </a:p>
          <a:p>
            <a:pPr indent="-342900" lvl="0" marL="457200" rtl="0" algn="l">
              <a:spcBef>
                <a:spcPts val="1200"/>
              </a:spcBef>
              <a:spcAft>
                <a:spcPts val="0"/>
              </a:spcAft>
              <a:buClr>
                <a:schemeClr val="dk1"/>
              </a:buClr>
              <a:buSzPts val="1800"/>
              <a:buChar char="●"/>
            </a:pPr>
            <a:r>
              <a:rPr b="1" lang="en" sz="1800">
                <a:solidFill>
                  <a:schemeClr val="dk1"/>
                </a:solidFill>
              </a:rPr>
              <a:t>Scheduling delay:</a:t>
            </a:r>
            <a:r>
              <a:rPr lang="en" sz="1800">
                <a:solidFill>
                  <a:schemeClr val="dk1"/>
                </a:solidFill>
              </a:rPr>
              <a:t> Pod remains in “Pending” until the Device Plugin reports available GPUs (hundreds of ms to seconds).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Device allocation delay:</a:t>
            </a:r>
            <a:r>
              <a:rPr lang="en" sz="1800">
                <a:solidFill>
                  <a:schemeClr val="dk1"/>
                </a:solidFill>
              </a:rPr>
              <a:t> The </a:t>
            </a:r>
            <a:r>
              <a:rPr b="1" lang="en" sz="1800">
                <a:solidFill>
                  <a:schemeClr val="dk1"/>
                </a:solidFill>
              </a:rPr>
              <a:t>kubelet</a:t>
            </a:r>
            <a:r>
              <a:rPr lang="en" sz="1800">
                <a:solidFill>
                  <a:schemeClr val="dk1"/>
                </a:solidFill>
              </a:rPr>
              <a:t> interacts with the plugin over gRPC to allocate a specific GPU ID. </a:t>
            </a:r>
            <a:endParaRPr sz="1800">
              <a:solidFill>
                <a:schemeClr val="dk1"/>
              </a:solidFill>
            </a:endParaRPr>
          </a:p>
          <a:p>
            <a:pPr indent="0" lvl="0" marL="457200" rtl="0" algn="l">
              <a:spcBef>
                <a:spcPts val="1200"/>
              </a:spcBef>
              <a:spcAft>
                <a:spcPts val="0"/>
              </a:spcAft>
              <a:buNone/>
            </a:pPr>
            <a:r>
              <a:rPr lang="en" sz="1100">
                <a:solidFill>
                  <a:schemeClr val="dk1"/>
                </a:solidFill>
                <a:latin typeface="Comic Sans MS"/>
                <a:ea typeface="Comic Sans MS"/>
                <a:cs typeface="Comic Sans MS"/>
                <a:sym typeface="Comic Sans MS"/>
              </a:rPr>
              <a:t>rpc ListAndWatch(Empty)</a:t>
            </a:r>
            <a:endParaRPr sz="1100">
              <a:solidFill>
                <a:schemeClr val="dk1"/>
              </a:solidFill>
              <a:latin typeface="Comic Sans MS"/>
              <a:ea typeface="Comic Sans MS"/>
              <a:cs typeface="Comic Sans MS"/>
              <a:sym typeface="Comic Sans MS"/>
            </a:endParaRPr>
          </a:p>
          <a:p>
            <a:pPr indent="0" lvl="0" marL="457200" rtl="0" algn="l">
              <a:spcBef>
                <a:spcPts val="1200"/>
              </a:spcBef>
              <a:spcAft>
                <a:spcPts val="0"/>
              </a:spcAft>
              <a:buNone/>
            </a:pPr>
            <a:r>
              <a:rPr lang="en" sz="1100">
                <a:solidFill>
                  <a:schemeClr val="dk1"/>
                </a:solidFill>
                <a:latin typeface="Comic Sans MS"/>
                <a:ea typeface="Comic Sans MS"/>
                <a:cs typeface="Comic Sans MS"/>
                <a:sym typeface="Comic Sans MS"/>
              </a:rPr>
              <a:t>rpc Allocate(AllocateRequest)</a:t>
            </a:r>
            <a:endParaRPr sz="1100">
              <a:solidFill>
                <a:schemeClr val="dk1"/>
              </a:solidFill>
              <a:latin typeface="Comic Sans MS"/>
              <a:ea typeface="Comic Sans MS"/>
              <a:cs typeface="Comic Sans MS"/>
              <a:sym typeface="Comic Sans MS"/>
            </a:endParaRPr>
          </a:p>
          <a:p>
            <a:pPr indent="-342900" lvl="0" marL="457200" rtl="0" algn="l">
              <a:spcBef>
                <a:spcPts val="1200"/>
              </a:spcBef>
              <a:spcAft>
                <a:spcPts val="0"/>
              </a:spcAft>
              <a:buClr>
                <a:schemeClr val="dk1"/>
              </a:buClr>
              <a:buSzPts val="1800"/>
              <a:buChar char="●"/>
            </a:pPr>
            <a:r>
              <a:rPr b="1" lang="en" sz="1800">
                <a:solidFill>
                  <a:schemeClr val="dk1"/>
                </a:solidFill>
              </a:rPr>
              <a:t>Cold node path:</a:t>
            </a:r>
            <a:r>
              <a:rPr lang="en" sz="1800">
                <a:solidFill>
                  <a:schemeClr val="dk1"/>
                </a:solidFill>
              </a:rPr>
              <a:t> If the node just came online or restarted, this handshake adds 1–3 seconds.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98d5a2bf02_0_617"/>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NVIDIA Device Plugin</a:t>
            </a:r>
            <a:endParaRPr/>
          </a:p>
        </p:txBody>
      </p:sp>
      <p:sp>
        <p:nvSpPr>
          <p:cNvPr id="151" name="Google Shape;151;g398d5a2bf02_0_617"/>
          <p:cNvSpPr txBox="1"/>
          <p:nvPr>
            <p:ph idx="1" type="body"/>
          </p:nvPr>
        </p:nvSpPr>
        <p:spPr>
          <a:xfrm>
            <a:off x="311700" y="1735050"/>
            <a:ext cx="8520600" cy="25728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Char char="●"/>
            </a:pPr>
            <a:r>
              <a:rPr lang="en" sz="1800">
                <a:solidFill>
                  <a:schemeClr val="dk1"/>
                </a:solidFill>
              </a:rPr>
              <a:t>Runs as a </a:t>
            </a:r>
            <a:r>
              <a:rPr b="1" lang="en" sz="1800">
                <a:solidFill>
                  <a:schemeClr val="dk1"/>
                </a:solidFill>
              </a:rPr>
              <a:t>DaemonSet</a:t>
            </a:r>
            <a:r>
              <a:rPr lang="en" sz="1800">
                <a:solidFill>
                  <a:schemeClr val="dk1"/>
                </a:solidFill>
              </a:rPr>
              <a:t> on each GPU node.</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Discovers GPUs using </a:t>
            </a:r>
            <a:r>
              <a:rPr b="1" lang="en" sz="1800">
                <a:solidFill>
                  <a:schemeClr val="dk1"/>
                </a:solidFill>
              </a:rPr>
              <a:t>NVML (NVIDIA Management Library)</a:t>
            </a:r>
            <a:r>
              <a:rPr lang="en" sz="1800">
                <a:solidFill>
                  <a:schemeClr val="dk1"/>
                </a:solidFill>
              </a:rPr>
              <a:t>.</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Advertises GPU resources to the kubelet.</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Handles allocation requests: decides which </a:t>
            </a:r>
            <a:r>
              <a:rPr lang="en" sz="1800">
                <a:solidFill>
                  <a:srgbClr val="188038"/>
                </a:solidFill>
                <a:latin typeface="Roboto Mono"/>
                <a:ea typeface="Roboto Mono"/>
                <a:cs typeface="Roboto Mono"/>
                <a:sym typeface="Roboto Mono"/>
              </a:rPr>
              <a:t>/dev/nvidia*</a:t>
            </a:r>
            <a:r>
              <a:rPr lang="en" sz="1800">
                <a:solidFill>
                  <a:schemeClr val="dk1"/>
                </a:solidFill>
              </a:rPr>
              <a:t> device to mount into the container.</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98d5a2bf02_0_658"/>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Latency Sources</a:t>
            </a:r>
            <a:endParaRPr/>
          </a:p>
        </p:txBody>
      </p:sp>
      <p:sp>
        <p:nvSpPr>
          <p:cNvPr id="157" name="Google Shape;157;g398d5a2bf02_0_658"/>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t/>
            </a:r>
            <a:endParaRPr b="1" sz="1800">
              <a:solidFill>
                <a:schemeClr val="dk1"/>
              </a:solidFill>
            </a:endParaRPr>
          </a:p>
          <a:p>
            <a:pPr indent="-342900" lvl="0" marL="457200" rtl="0" algn="l">
              <a:spcBef>
                <a:spcPts val="1200"/>
              </a:spcBef>
              <a:spcAft>
                <a:spcPts val="0"/>
              </a:spcAft>
              <a:buClr>
                <a:schemeClr val="dk1"/>
              </a:buClr>
              <a:buSzPts val="1800"/>
              <a:buChar char="●"/>
            </a:pPr>
            <a:r>
              <a:rPr b="1" lang="en" sz="1800">
                <a:solidFill>
                  <a:schemeClr val="dk1"/>
                </a:solidFill>
              </a:rPr>
              <a:t>Discovery latency:</a:t>
            </a:r>
            <a:r>
              <a:rPr lang="en" sz="1800">
                <a:solidFill>
                  <a:schemeClr val="dk1"/>
                </a:solidFill>
              </a:rPr>
              <a:t> On node start, NVML takes ~1–2 seconds to enumerate devices.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Allocation latency:</a:t>
            </a:r>
            <a:r>
              <a:rPr lang="en" sz="1800">
                <a:solidFill>
                  <a:schemeClr val="dk1"/>
                </a:solidFill>
              </a:rPr>
              <a:t> Each pod request triggers a device allocation call via gRPC; if contention or re-init occurs, it can take seconds.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Serialization overhead:</a:t>
            </a:r>
            <a:r>
              <a:rPr lang="en" sz="1800">
                <a:solidFill>
                  <a:schemeClr val="dk1"/>
                </a:solidFill>
              </a:rPr>
              <a:t> In multi-GPU setups, device plugin sometimes serializes allocations to avoid conflicts.</a:t>
            </a:r>
            <a:br>
              <a:rPr lang="en" sz="1800">
                <a:solidFill>
                  <a:schemeClr val="dk1"/>
                </a:solidFill>
              </a:rPr>
            </a:b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98d5a2bf02_0_663"/>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Container Runtime Interface (CRI)</a:t>
            </a:r>
            <a:endParaRPr/>
          </a:p>
        </p:txBody>
      </p:sp>
      <p:sp>
        <p:nvSpPr>
          <p:cNvPr id="163" name="Google Shape;163;g398d5a2bf02_0_663"/>
          <p:cNvSpPr txBox="1"/>
          <p:nvPr>
            <p:ph idx="1" type="body"/>
          </p:nvPr>
        </p:nvSpPr>
        <p:spPr>
          <a:xfrm>
            <a:off x="311700" y="1543400"/>
            <a:ext cx="8520600" cy="33174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Char char="●"/>
            </a:pPr>
            <a:r>
              <a:rPr lang="en" sz="1800">
                <a:solidFill>
                  <a:schemeClr val="dk1"/>
                </a:solidFill>
              </a:rPr>
              <a:t>Kubelet calls CRI (containerd / CRI-O / Docker-shim) to create the container.</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The CRI uses the </a:t>
            </a:r>
            <a:r>
              <a:rPr b="1" lang="en" sz="1800">
                <a:solidFill>
                  <a:schemeClr val="dk1"/>
                </a:solidFill>
              </a:rPr>
              <a:t>NVIDIA Container Runtime hook</a:t>
            </a:r>
            <a:r>
              <a:rPr lang="en" sz="1800">
                <a:solidFill>
                  <a:schemeClr val="dk1"/>
                </a:solidFill>
              </a:rPr>
              <a:t> to inject GPU libraries, drivers, and environment variables.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It mounts: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rgbClr val="188038"/>
                </a:solidFill>
                <a:latin typeface="Roboto Mono"/>
                <a:ea typeface="Roboto Mono"/>
                <a:cs typeface="Roboto Mono"/>
                <a:sym typeface="Roboto Mono"/>
              </a:rPr>
              <a:t>/dev/nvidia0</a:t>
            </a:r>
            <a:r>
              <a:rPr lang="en" sz="1800">
                <a:solidFill>
                  <a:schemeClr val="dk1"/>
                </a:solidFill>
              </a:rPr>
              <a:t>, </a:t>
            </a:r>
            <a:r>
              <a:rPr lang="en" sz="1800">
                <a:solidFill>
                  <a:srgbClr val="188038"/>
                </a:solidFill>
                <a:latin typeface="Roboto Mono"/>
                <a:ea typeface="Roboto Mono"/>
                <a:cs typeface="Roboto Mono"/>
                <a:sym typeface="Roboto Mono"/>
              </a:rPr>
              <a:t>/dev/nvidiactl</a:t>
            </a:r>
            <a:r>
              <a:rPr lang="en" sz="1800">
                <a:solidFill>
                  <a:schemeClr val="dk1"/>
                </a:solidFill>
              </a:rPr>
              <a:t>, </a:t>
            </a:r>
            <a:r>
              <a:rPr lang="en" sz="1800">
                <a:solidFill>
                  <a:srgbClr val="188038"/>
                </a:solidFill>
                <a:latin typeface="Roboto Mono"/>
                <a:ea typeface="Roboto Mono"/>
                <a:cs typeface="Roboto Mono"/>
                <a:sym typeface="Roboto Mono"/>
              </a:rPr>
              <a:t>/dev/nvidia-uvm</a:t>
            </a:r>
            <a:r>
              <a:rPr lang="en" sz="1800">
                <a:solidFill>
                  <a:schemeClr val="dk1"/>
                </a:solidFill>
              </a:rPr>
              <a:t>, etc.</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Libraries like </a:t>
            </a:r>
            <a:r>
              <a:rPr lang="en" sz="1800">
                <a:solidFill>
                  <a:srgbClr val="188038"/>
                </a:solidFill>
                <a:latin typeface="Roboto Mono"/>
                <a:ea typeface="Roboto Mono"/>
                <a:cs typeface="Roboto Mono"/>
                <a:sym typeface="Roboto Mono"/>
              </a:rPr>
              <a:t>libcuda.so</a:t>
            </a:r>
            <a:r>
              <a:rPr lang="en" sz="1800">
                <a:solidFill>
                  <a:schemeClr val="dk1"/>
                </a:solidFill>
              </a:rPr>
              <a:t>, </a:t>
            </a:r>
            <a:r>
              <a:rPr lang="en" sz="1800">
                <a:solidFill>
                  <a:srgbClr val="188038"/>
                </a:solidFill>
                <a:latin typeface="Roboto Mono"/>
                <a:ea typeface="Roboto Mono"/>
                <a:cs typeface="Roboto Mono"/>
                <a:sym typeface="Roboto Mono"/>
              </a:rPr>
              <a:t>libnvidia-ml.so</a:t>
            </a:r>
            <a:r>
              <a:rPr lang="en" sz="1800">
                <a:solidFill>
                  <a:schemeClr val="dk1"/>
                </a:solidFill>
              </a:rPr>
              <a:t> into </a:t>
            </a:r>
            <a:r>
              <a:rPr lang="en" sz="1800">
                <a:solidFill>
                  <a:srgbClr val="188038"/>
                </a:solidFill>
                <a:latin typeface="Roboto Mono"/>
                <a:ea typeface="Roboto Mono"/>
                <a:cs typeface="Roboto Mono"/>
                <a:sym typeface="Roboto Mono"/>
              </a:rPr>
              <a:t>/usr/lib64</a:t>
            </a:r>
            <a:r>
              <a:rPr lang="en" sz="1800">
                <a:solidFill>
                  <a:schemeClr val="dk1"/>
                </a:solidFill>
              </a:rPr>
              <a:t> inside container</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98d5a2bf02_0_668"/>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Latency Sources</a:t>
            </a:r>
            <a:endParaRPr/>
          </a:p>
        </p:txBody>
      </p:sp>
      <p:sp>
        <p:nvSpPr>
          <p:cNvPr id="169" name="Google Shape;169;g398d5a2bf02_0_668"/>
          <p:cNvSpPr txBox="1"/>
          <p:nvPr>
            <p:ph idx="1" type="body"/>
          </p:nvPr>
        </p:nvSpPr>
        <p:spPr>
          <a:xfrm>
            <a:off x="311700" y="1850025"/>
            <a:ext cx="8520600" cy="26037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Char char="●"/>
            </a:pPr>
            <a:r>
              <a:rPr b="1" lang="en" sz="1800">
                <a:solidFill>
                  <a:schemeClr val="dk1"/>
                </a:solidFill>
              </a:rPr>
              <a:t>Mount setup delay:</a:t>
            </a:r>
            <a:r>
              <a:rPr lang="en" sz="1800">
                <a:solidFill>
                  <a:schemeClr val="dk1"/>
                </a:solidFill>
              </a:rPr>
              <a:t> Each mount and library copy (especially on slow disks or networked filesystems) adds milliseconds–seconds.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Hook execution time:</a:t>
            </a:r>
            <a:r>
              <a:rPr lang="en" sz="1800">
                <a:solidFill>
                  <a:schemeClr val="dk1"/>
                </a:solidFill>
              </a:rPr>
              <a:t> NVIDIA runtime hook validates driver/runtime compatibility - an extra few seconds on first use.</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Cold driver path:</a:t>
            </a:r>
            <a:r>
              <a:rPr lang="en" sz="1800">
                <a:solidFill>
                  <a:schemeClr val="dk1"/>
                </a:solidFill>
              </a:rPr>
              <a:t> If driver container or runtime images were evicted, it has to re-pull and unpack them (~tens of seconds).</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98d5a2bf02_0_674"/>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Container started, what now?</a:t>
            </a:r>
            <a:endParaRPr/>
          </a:p>
        </p:txBody>
      </p:sp>
      <p:sp>
        <p:nvSpPr>
          <p:cNvPr id="175" name="Google Shape;175;g398d5a2bf02_0_674"/>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The application can now: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68300" lvl="0" marL="457200" rtl="0" algn="l">
              <a:spcBef>
                <a:spcPts val="0"/>
              </a:spcBef>
              <a:spcAft>
                <a:spcPts val="0"/>
              </a:spcAft>
              <a:buClr>
                <a:schemeClr val="dk1"/>
              </a:buClr>
              <a:buSzPts val="2200"/>
              <a:buChar char="-"/>
            </a:pPr>
            <a:r>
              <a:rPr lang="en" sz="1800">
                <a:solidFill>
                  <a:schemeClr val="dk1"/>
                </a:solidFill>
              </a:rPr>
              <a:t>Create CUDA contexts (200-300ms initialization) </a:t>
            </a:r>
            <a:endParaRPr sz="1800">
              <a:solidFill>
                <a:schemeClr val="dk1"/>
              </a:solidFill>
            </a:endParaRPr>
          </a:p>
          <a:p>
            <a:pPr indent="-368300" lvl="0" marL="457200" rtl="0" algn="l">
              <a:spcBef>
                <a:spcPts val="0"/>
              </a:spcBef>
              <a:spcAft>
                <a:spcPts val="0"/>
              </a:spcAft>
              <a:buClr>
                <a:schemeClr val="dk1"/>
              </a:buClr>
              <a:buSzPts val="2200"/>
              <a:buChar char="-"/>
            </a:pPr>
            <a:r>
              <a:rPr lang="en" sz="1800">
                <a:solidFill>
                  <a:schemeClr val="dk1"/>
                </a:solidFill>
              </a:rPr>
              <a:t>Allocate GPU memory (in large pools) </a:t>
            </a:r>
            <a:endParaRPr sz="1800">
              <a:solidFill>
                <a:schemeClr val="dk1"/>
              </a:solidFill>
            </a:endParaRPr>
          </a:p>
          <a:p>
            <a:pPr indent="-368300" lvl="0" marL="457200" rtl="0" algn="l">
              <a:spcBef>
                <a:spcPts val="0"/>
              </a:spcBef>
              <a:spcAft>
                <a:spcPts val="0"/>
              </a:spcAft>
              <a:buClr>
                <a:schemeClr val="dk1"/>
              </a:buClr>
              <a:buSzPts val="2200"/>
              <a:buChar char="-"/>
            </a:pPr>
            <a:r>
              <a:rPr lang="en" sz="1800">
                <a:solidFill>
                  <a:schemeClr val="dk1"/>
                </a:solidFill>
              </a:rPr>
              <a:t>Launch kernels (non-preemptible execution) </a:t>
            </a:r>
            <a:endParaRPr sz="1800">
              <a:solidFill>
                <a:schemeClr val="dk1"/>
              </a:solidFill>
            </a:endParaRPr>
          </a:p>
          <a:p>
            <a:pPr indent="-368300" lvl="0" marL="457200" rtl="0" algn="l">
              <a:spcBef>
                <a:spcPts val="0"/>
              </a:spcBef>
              <a:spcAft>
                <a:spcPts val="0"/>
              </a:spcAft>
              <a:buClr>
                <a:schemeClr val="dk1"/>
              </a:buClr>
              <a:buSzPts val="2200"/>
              <a:buChar char="-"/>
            </a:pPr>
            <a:r>
              <a:rPr lang="en" sz="1800">
                <a:solidFill>
                  <a:schemeClr val="dk1"/>
                </a:solidFill>
              </a:rPr>
              <a:t>Process data parallely on a lot of cores and hope it gives correct output</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98d5a2bf02_0_680"/>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CUDA Runtime</a:t>
            </a:r>
            <a:endParaRPr/>
          </a:p>
        </p:txBody>
      </p:sp>
      <p:sp>
        <p:nvSpPr>
          <p:cNvPr id="181" name="Google Shape;181;g398d5a2bf02_0_680"/>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br>
              <a:rPr b="1" lang="en" sz="1800">
                <a:solidFill>
                  <a:schemeClr val="dk1"/>
                </a:solidFill>
              </a:rPr>
            </a:br>
            <a:br>
              <a:rPr b="1" lang="en" sz="1800">
                <a:solidFill>
                  <a:schemeClr val="dk1"/>
                </a:solidFill>
              </a:rPr>
            </a:br>
            <a:r>
              <a:rPr b="1" lang="en" sz="1800">
                <a:solidFill>
                  <a:schemeClr val="dk1"/>
                </a:solidFill>
              </a:rPr>
              <a:t>What Happens (inside your container):</a:t>
            </a:r>
            <a:endParaRPr b="1" sz="1800">
              <a:solidFill>
                <a:schemeClr val="dk1"/>
              </a:solidFill>
            </a:endParaRPr>
          </a:p>
          <a:p>
            <a:pPr indent="-342900" lvl="0" marL="457200" rtl="0" algn="l">
              <a:spcBef>
                <a:spcPts val="1200"/>
              </a:spcBef>
              <a:spcAft>
                <a:spcPts val="0"/>
              </a:spcAft>
              <a:buClr>
                <a:schemeClr val="dk1"/>
              </a:buClr>
              <a:buSzPts val="1800"/>
              <a:buChar char="●"/>
            </a:pPr>
            <a:r>
              <a:rPr lang="en" sz="1800">
                <a:solidFill>
                  <a:schemeClr val="dk1"/>
                </a:solidFill>
              </a:rPr>
              <a:t>Once the container is running, CUDA APIs like </a:t>
            </a:r>
            <a:r>
              <a:rPr lang="en" sz="1800">
                <a:solidFill>
                  <a:srgbClr val="188038"/>
                </a:solidFill>
                <a:latin typeface="Roboto Mono"/>
                <a:ea typeface="Roboto Mono"/>
                <a:cs typeface="Roboto Mono"/>
                <a:sym typeface="Roboto Mono"/>
              </a:rPr>
              <a:t>cudaSetDevice()</a:t>
            </a:r>
            <a:r>
              <a:rPr lang="en" sz="1800">
                <a:solidFill>
                  <a:schemeClr val="dk1"/>
                </a:solidFill>
              </a:rPr>
              <a:t> and </a:t>
            </a:r>
            <a:r>
              <a:rPr lang="en" sz="1800">
                <a:solidFill>
                  <a:srgbClr val="188038"/>
                </a:solidFill>
                <a:latin typeface="Roboto Mono"/>
                <a:ea typeface="Roboto Mono"/>
                <a:cs typeface="Roboto Mono"/>
                <a:sym typeface="Roboto Mono"/>
              </a:rPr>
              <a:t>cuInit()</a:t>
            </a:r>
            <a:r>
              <a:rPr lang="en" sz="1800">
                <a:solidFill>
                  <a:schemeClr val="dk1"/>
                </a:solidFill>
              </a:rPr>
              <a:t> create a </a:t>
            </a:r>
            <a:r>
              <a:rPr b="1" lang="en" sz="1800">
                <a:solidFill>
                  <a:schemeClr val="dk1"/>
                </a:solidFill>
              </a:rPr>
              <a:t>CUDA context</a:t>
            </a:r>
            <a:r>
              <a:rPr lang="en" sz="1800">
                <a:solidFill>
                  <a:schemeClr val="dk1"/>
                </a:solidFill>
              </a:rPr>
              <a:t> by talking to the GPU driver.</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Runtime loads device properties, allocates initial VRAM buffers, and JIT-compiles kernels.</a:t>
            </a:r>
            <a:br>
              <a:rPr lang="en" sz="1800">
                <a:solidFill>
                  <a:schemeClr val="dk1"/>
                </a:solidFill>
              </a:rPr>
            </a:br>
            <a:endParaRPr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98d5a2bf02_0_685"/>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CUDA Context Initialization</a:t>
            </a:r>
            <a:endParaRPr/>
          </a:p>
        </p:txBody>
      </p:sp>
      <p:sp>
        <p:nvSpPr>
          <p:cNvPr id="187" name="Google Shape;187;g398d5a2bf02_0_685"/>
          <p:cNvSpPr txBox="1"/>
          <p:nvPr>
            <p:ph idx="1" type="body"/>
          </p:nvPr>
        </p:nvSpPr>
        <p:spPr>
          <a:xfrm>
            <a:off x="311700" y="1152475"/>
            <a:ext cx="8520600" cy="3990900"/>
          </a:xfrm>
          <a:prstGeom prst="rect">
            <a:avLst/>
          </a:prstGeom>
        </p:spPr>
        <p:txBody>
          <a:bodyPr anchorCtr="0" anchor="t" bIns="0" lIns="0" spcFirstLastPara="1" rIns="0" wrap="square" tIns="0">
            <a:noAutofit/>
          </a:bodyPr>
          <a:lstStyle/>
          <a:p>
            <a:pPr indent="-342900" lvl="0" marL="457200" rtl="0" algn="l">
              <a:spcBef>
                <a:spcPts val="0"/>
              </a:spcBef>
              <a:spcAft>
                <a:spcPts val="0"/>
              </a:spcAft>
              <a:buClr>
                <a:schemeClr val="dk1"/>
              </a:buClr>
              <a:buSzPts val="1800"/>
              <a:buChar char="●"/>
            </a:pPr>
            <a:r>
              <a:rPr lang="en" sz="1800">
                <a:solidFill>
                  <a:schemeClr val="dk1"/>
                </a:solidFill>
              </a:rPr>
              <a:t>Allocating </a:t>
            </a:r>
            <a:r>
              <a:rPr b="1" lang="en" sz="1800">
                <a:solidFill>
                  <a:schemeClr val="dk1"/>
                </a:solidFill>
              </a:rPr>
              <a:t>context-local memory</a:t>
            </a:r>
            <a:r>
              <a:rPr lang="en" sz="1800">
                <a:solidFill>
                  <a:schemeClr val="dk1"/>
                </a:solidFill>
              </a:rPr>
              <a:t> in VRAM to track state (streams, kernels, handles).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Initializing the </a:t>
            </a:r>
            <a:r>
              <a:rPr b="1" lang="en" sz="1800">
                <a:solidFill>
                  <a:schemeClr val="dk1"/>
                </a:solidFill>
              </a:rPr>
              <a:t>GPU command processor</a:t>
            </a:r>
            <a:r>
              <a:rPr lang="en" sz="1800">
                <a:solidFill>
                  <a:schemeClr val="dk1"/>
                </a:solidFill>
              </a:rPr>
              <a:t> to accept instructions.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Loading </a:t>
            </a:r>
            <a:r>
              <a:rPr b="1" lang="en" sz="1800">
                <a:solidFill>
                  <a:schemeClr val="dk1"/>
                </a:solidFill>
              </a:rPr>
              <a:t>PTX / SASS kernel stubs</a:t>
            </a:r>
            <a:r>
              <a:rPr lang="en" sz="1800">
                <a:solidFill>
                  <a:schemeClr val="dk1"/>
                </a:solidFill>
              </a:rPr>
              <a:t> into GPU instruction memory (JIT if needed).</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Setting up </a:t>
            </a:r>
            <a:r>
              <a:rPr b="1" lang="en" sz="1800">
                <a:solidFill>
                  <a:schemeClr val="dk1"/>
                </a:solidFill>
              </a:rPr>
              <a:t>virtual memory mappings</a:t>
            </a:r>
            <a:r>
              <a:rPr lang="en" sz="1800">
                <a:solidFill>
                  <a:schemeClr val="dk1"/>
                </a:solidFill>
              </a:rPr>
              <a:t> between the process and the GPU’s memory controller.</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Establishing </a:t>
            </a:r>
            <a:r>
              <a:rPr b="1" lang="en" sz="1800">
                <a:solidFill>
                  <a:schemeClr val="dk1"/>
                </a:solidFill>
              </a:rPr>
              <a:t>RPC channels</a:t>
            </a:r>
            <a:r>
              <a:rPr lang="en" sz="1800">
                <a:solidFill>
                  <a:schemeClr val="dk1"/>
                </a:solidFill>
              </a:rPr>
              <a:t> between user-space (libcuda.so) and kernel-space (nvidia.ko).</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98d5a2bf02_0_701"/>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Latency Sources</a:t>
            </a:r>
            <a:endParaRPr/>
          </a:p>
        </p:txBody>
      </p:sp>
      <p:sp>
        <p:nvSpPr>
          <p:cNvPr id="193" name="Google Shape;193;g398d5a2bf02_0_701"/>
          <p:cNvSpPr txBox="1"/>
          <p:nvPr>
            <p:ph idx="1" type="body"/>
          </p:nvPr>
        </p:nvSpPr>
        <p:spPr>
          <a:xfrm>
            <a:off x="311700" y="1152475"/>
            <a:ext cx="8520600" cy="35664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t/>
            </a:r>
            <a:endParaRPr b="1" sz="1800">
              <a:solidFill>
                <a:schemeClr val="dk1"/>
              </a:solidFill>
            </a:endParaRPr>
          </a:p>
          <a:p>
            <a:pPr indent="-342900" lvl="0" marL="457200" rtl="0" algn="l">
              <a:spcBef>
                <a:spcPts val="1200"/>
              </a:spcBef>
              <a:spcAft>
                <a:spcPts val="0"/>
              </a:spcAft>
              <a:buClr>
                <a:schemeClr val="dk1"/>
              </a:buClr>
              <a:buSzPts val="1800"/>
              <a:buChar char="●"/>
            </a:pPr>
            <a:r>
              <a:rPr lang="en" sz="1800">
                <a:solidFill>
                  <a:schemeClr val="dk1"/>
                </a:solidFill>
              </a:rPr>
              <a:t>It requires driver              kernel            GPU negotiation.</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If GPU was idle, power state must ramp from </a:t>
            </a:r>
            <a:r>
              <a:rPr b="1" lang="en" sz="1800">
                <a:solidFill>
                  <a:schemeClr val="dk1"/>
                </a:solidFill>
              </a:rPr>
              <a:t>P8→P0</a:t>
            </a:r>
            <a:r>
              <a:rPr lang="en" sz="1800">
                <a:solidFill>
                  <a:schemeClr val="dk1"/>
                </a:solidFill>
              </a:rPr>
              <a:t> (low power to performance state).</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GPU interrupts and scheduling queues are initialized lazily.</a:t>
            </a:r>
            <a:br>
              <a:rPr lang="en" sz="1800">
                <a:solidFill>
                  <a:schemeClr val="dk1"/>
                </a:solidFill>
              </a:rPr>
            </a:br>
            <a:endParaRPr sz="1800">
              <a:solidFill>
                <a:schemeClr val="dk1"/>
              </a:solidFill>
            </a:endParaRPr>
          </a:p>
          <a:p>
            <a:pPr indent="0" lvl="0" marL="0" rtl="0" algn="l">
              <a:spcBef>
                <a:spcPts val="1200"/>
              </a:spcBef>
              <a:spcAft>
                <a:spcPts val="1200"/>
              </a:spcAft>
              <a:buClr>
                <a:schemeClr val="dk1"/>
              </a:buClr>
              <a:buSzPts val="1100"/>
              <a:buFont typeface="Arial"/>
              <a:buNone/>
            </a:pPr>
            <a:r>
              <a:rPr b="1" lang="en" sz="1800">
                <a:solidFill>
                  <a:schemeClr val="dk1"/>
                </a:solidFill>
              </a:rPr>
              <a:t>Typical Latency:</a:t>
            </a:r>
            <a:br>
              <a:rPr b="1" lang="en" sz="1800">
                <a:solidFill>
                  <a:schemeClr val="dk1"/>
                </a:solidFill>
              </a:rPr>
            </a:br>
            <a:r>
              <a:rPr lang="en" sz="1800">
                <a:solidFill>
                  <a:schemeClr val="dk1"/>
                </a:solidFill>
              </a:rPr>
              <a:t> ~150 ms to ~2000 ms (depends on GPU, driver, power state).</a:t>
            </a:r>
            <a:endParaRPr sz="1800"/>
          </a:p>
        </p:txBody>
      </p:sp>
      <p:cxnSp>
        <p:nvCxnSpPr>
          <p:cNvPr id="194" name="Google Shape;194;g398d5a2bf02_0_701"/>
          <p:cNvCxnSpPr/>
          <p:nvPr/>
        </p:nvCxnSpPr>
        <p:spPr>
          <a:xfrm>
            <a:off x="2480875" y="1759400"/>
            <a:ext cx="744000" cy="0"/>
          </a:xfrm>
          <a:prstGeom prst="straightConnector1">
            <a:avLst/>
          </a:prstGeom>
          <a:noFill/>
          <a:ln cap="flat" cmpd="sng" w="19050">
            <a:solidFill>
              <a:schemeClr val="dk2"/>
            </a:solidFill>
            <a:prstDash val="solid"/>
            <a:round/>
            <a:headEnd len="med" w="med" type="triangle"/>
            <a:tailEnd len="med" w="med" type="triangle"/>
          </a:ln>
        </p:spPr>
      </p:cxnSp>
      <p:cxnSp>
        <p:nvCxnSpPr>
          <p:cNvPr id="195" name="Google Shape;195;g398d5a2bf02_0_701"/>
          <p:cNvCxnSpPr/>
          <p:nvPr/>
        </p:nvCxnSpPr>
        <p:spPr>
          <a:xfrm>
            <a:off x="3945577" y="1759400"/>
            <a:ext cx="640200" cy="16200"/>
          </a:xfrm>
          <a:prstGeom prst="straightConnector1">
            <a:avLst/>
          </a:prstGeom>
          <a:noFill/>
          <a:ln cap="flat" cmpd="sng" w="19050">
            <a:solidFill>
              <a:schemeClr val="dk2"/>
            </a:solidFill>
            <a:prstDash val="solid"/>
            <a:round/>
            <a:headEnd len="med" w="med" type="triangl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98d5a2bf02_0_690"/>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Model Weights → CPU RAM → GPU VRAM Transfer</a:t>
            </a:r>
            <a:endParaRPr/>
          </a:p>
        </p:txBody>
      </p:sp>
      <p:sp>
        <p:nvSpPr>
          <p:cNvPr id="201" name="Google Shape;201;g398d5a2bf02_0_690"/>
          <p:cNvSpPr txBox="1"/>
          <p:nvPr>
            <p:ph idx="1" type="body"/>
          </p:nvPr>
        </p:nvSpPr>
        <p:spPr>
          <a:xfrm>
            <a:off x="311700" y="1516400"/>
            <a:ext cx="8520600" cy="33174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AutoNum type="arabicPeriod"/>
            </a:pPr>
            <a:r>
              <a:rPr b="1" lang="en" sz="1800">
                <a:solidFill>
                  <a:schemeClr val="dk1"/>
                </a:solidFill>
              </a:rPr>
              <a:t>Load from disk / container layer</a:t>
            </a:r>
            <a:r>
              <a:rPr lang="en" sz="1800">
                <a:solidFill>
                  <a:schemeClr val="dk1"/>
                </a:solidFill>
              </a:rPr>
              <a:t> into CPU memory.</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AutoNum type="arabicPeriod"/>
            </a:pPr>
            <a:r>
              <a:rPr b="1" lang="en" sz="1800">
                <a:solidFill>
                  <a:schemeClr val="dk1"/>
                </a:solidFill>
              </a:rPr>
              <a:t>Deserialize</a:t>
            </a:r>
            <a:r>
              <a:rPr lang="en" sz="1800">
                <a:solidFill>
                  <a:schemeClr val="dk1"/>
                </a:solidFill>
              </a:rPr>
              <a:t> into contiguous tensor buffers, </a:t>
            </a:r>
            <a:r>
              <a:rPr lang="en" sz="1800">
                <a:solidFill>
                  <a:schemeClr val="dk1"/>
                </a:solidFill>
              </a:rPr>
              <a:t>Framework allocates GPU memory via CUDA malloc.</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AutoNum type="arabicPeriod"/>
            </a:pPr>
            <a:r>
              <a:rPr b="1" lang="en" sz="1800">
                <a:solidFill>
                  <a:schemeClr val="dk1"/>
                </a:solidFill>
              </a:rPr>
              <a:t>Copy</a:t>
            </a:r>
            <a:r>
              <a:rPr lang="en" sz="1800">
                <a:solidFill>
                  <a:schemeClr val="dk1"/>
                </a:solidFill>
              </a:rPr>
              <a:t> from </a:t>
            </a:r>
            <a:r>
              <a:rPr b="1" lang="en" sz="1800">
                <a:solidFill>
                  <a:schemeClr val="dk1"/>
                </a:solidFill>
              </a:rPr>
              <a:t>host (RAM)</a:t>
            </a:r>
            <a:r>
              <a:rPr lang="en" sz="1800">
                <a:solidFill>
                  <a:schemeClr val="dk1"/>
                </a:solidFill>
              </a:rPr>
              <a:t> to </a:t>
            </a:r>
            <a:r>
              <a:rPr b="1" lang="en" sz="1800">
                <a:solidFill>
                  <a:schemeClr val="dk1"/>
                </a:solidFill>
              </a:rPr>
              <a:t>device (VRAM)</a:t>
            </a:r>
            <a:r>
              <a:rPr lang="en" sz="1800">
                <a:solidFill>
                  <a:schemeClr val="dk1"/>
                </a:solidFill>
              </a:rPr>
              <a:t> using:</a:t>
            </a:r>
            <a:br>
              <a:rPr lang="en" sz="1800">
                <a:solidFill>
                  <a:schemeClr val="dk1"/>
                </a:solidFill>
              </a:rPr>
            </a:b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PCIe (12–28 GB/s effective)</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NVLink (50–150 GB/s effective, if available)</a:t>
            </a:r>
            <a:endParaRPr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98d5a2bf02_0_707"/>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Latency Sources</a:t>
            </a:r>
            <a:endParaRPr/>
          </a:p>
        </p:txBody>
      </p:sp>
      <p:sp>
        <p:nvSpPr>
          <p:cNvPr id="207" name="Google Shape;207;g398d5a2bf02_0_707"/>
          <p:cNvSpPr txBox="1"/>
          <p:nvPr>
            <p:ph idx="1" type="body"/>
          </p:nvPr>
        </p:nvSpPr>
        <p:spPr>
          <a:xfrm>
            <a:off x="311700" y="1152475"/>
            <a:ext cx="8520600" cy="37119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t/>
            </a:r>
            <a:endParaRPr b="1" sz="1800">
              <a:solidFill>
                <a:schemeClr val="dk1"/>
              </a:solidFill>
            </a:endParaRPr>
          </a:p>
          <a:p>
            <a:pPr indent="-342900" lvl="0" marL="457200" rtl="0" algn="l">
              <a:spcBef>
                <a:spcPts val="1200"/>
              </a:spcBef>
              <a:spcAft>
                <a:spcPts val="0"/>
              </a:spcAft>
              <a:buClr>
                <a:schemeClr val="dk1"/>
              </a:buClr>
              <a:buSzPts val="1800"/>
              <a:buChar char="●"/>
            </a:pPr>
            <a:r>
              <a:rPr lang="en" sz="1800">
                <a:solidFill>
                  <a:schemeClr val="dk1"/>
                </a:solidFill>
              </a:rPr>
              <a:t>Large models = </a:t>
            </a:r>
            <a:r>
              <a:rPr b="1" lang="en" sz="1800">
                <a:solidFill>
                  <a:schemeClr val="dk1"/>
                </a:solidFill>
              </a:rPr>
              <a:t>gigabytes to move</a:t>
            </a:r>
            <a:r>
              <a:rPr lang="en" sz="1800">
                <a:solidFill>
                  <a:schemeClr val="dk1"/>
                </a:solidFill>
              </a:rPr>
              <a:t>.</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If weights are fp32 → often </a:t>
            </a:r>
            <a:r>
              <a:rPr b="1" lang="en" sz="1800">
                <a:solidFill>
                  <a:schemeClr val="dk1"/>
                </a:solidFill>
              </a:rPr>
              <a:t>converted to fp16/bf16</a:t>
            </a:r>
            <a:r>
              <a:rPr lang="en" sz="1800">
                <a:solidFill>
                  <a:schemeClr val="dk1"/>
                </a:solidFill>
              </a:rPr>
              <a:t> at load time → extra compute overhead.</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NUMA penalties if CPU RAM is on wrong memory bank.</a:t>
            </a:r>
            <a:br>
              <a:rPr lang="en" sz="1800">
                <a:solidFill>
                  <a:schemeClr val="dk1"/>
                </a:solidFill>
              </a:rPr>
            </a:br>
            <a:endParaRPr sz="1800">
              <a:solidFill>
                <a:schemeClr val="dk1"/>
              </a:solidFill>
            </a:endParaRPr>
          </a:p>
          <a:p>
            <a:pPr indent="0" lvl="0" marL="0" rtl="0" algn="l">
              <a:spcBef>
                <a:spcPts val="1200"/>
              </a:spcBef>
              <a:spcAft>
                <a:spcPts val="0"/>
              </a:spcAft>
              <a:buClr>
                <a:schemeClr val="dk1"/>
              </a:buClr>
              <a:buSzPts val="1100"/>
              <a:buFont typeface="Arial"/>
              <a:buNone/>
            </a:pPr>
            <a:r>
              <a:rPr b="1" lang="en" sz="1800">
                <a:solidFill>
                  <a:schemeClr val="dk1"/>
                </a:solidFill>
              </a:rPr>
              <a:t>Typical Latency:</a:t>
            </a:r>
            <a:br>
              <a:rPr b="1" lang="en" sz="1800">
                <a:solidFill>
                  <a:schemeClr val="dk1"/>
                </a:solidFill>
              </a:rPr>
            </a:br>
            <a:r>
              <a:rPr lang="en" sz="1800">
                <a:solidFill>
                  <a:schemeClr val="dk1"/>
                </a:solidFill>
              </a:rPr>
              <a:t> 7B model: ~0.7–3 seconds; 13B+: 2–10 seconds.</a:t>
            </a:r>
            <a:endParaRPr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98d5a2bf02_0_712"/>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Workspace and Memory Pool Allocation</a:t>
            </a:r>
            <a:endParaRPr/>
          </a:p>
        </p:txBody>
      </p:sp>
      <p:sp>
        <p:nvSpPr>
          <p:cNvPr id="213" name="Google Shape;213;g398d5a2bf02_0_71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rPr lang="en" sz="1800">
                <a:solidFill>
                  <a:schemeClr val="dk1"/>
                </a:solidFill>
              </a:rPr>
              <a:t>Deep learning libraries use internal </a:t>
            </a:r>
            <a:r>
              <a:rPr b="1" lang="en" sz="1800">
                <a:solidFill>
                  <a:schemeClr val="dk1"/>
                </a:solidFill>
              </a:rPr>
              <a:t>scratch buffers</a:t>
            </a:r>
            <a:r>
              <a:rPr lang="en" sz="1800">
                <a:solidFill>
                  <a:schemeClr val="dk1"/>
                </a:solidFill>
              </a:rPr>
              <a:t> to reduce repeated malloc/free overhead:</a:t>
            </a:r>
            <a:endParaRPr sz="1800">
              <a:solidFill>
                <a:schemeClr val="dk1"/>
              </a:solidFill>
            </a:endParaRPr>
          </a:p>
          <a:p>
            <a:pPr indent="-342900" lvl="0" marL="457200" rtl="0" algn="l">
              <a:spcBef>
                <a:spcPts val="1200"/>
              </a:spcBef>
              <a:spcAft>
                <a:spcPts val="0"/>
              </a:spcAft>
              <a:buClr>
                <a:schemeClr val="dk1"/>
              </a:buClr>
              <a:buSzPts val="1800"/>
              <a:buChar char="●"/>
            </a:pPr>
            <a:r>
              <a:rPr lang="en" sz="1800">
                <a:solidFill>
                  <a:schemeClr val="dk1"/>
                </a:solidFill>
              </a:rPr>
              <a:t>cuBLAS: GEMM tiling workspace.</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cuDNN: convolution algorithm scratch.</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Attention kernels: QKV projections, softmax workspace.</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Framework-level GPU memory caching (PyTorch’s </a:t>
            </a:r>
            <a:r>
              <a:rPr b="1" lang="en" sz="1800">
                <a:solidFill>
                  <a:schemeClr val="dk1"/>
                </a:solidFill>
              </a:rPr>
              <a:t>CUDACachingAllocator</a:t>
            </a:r>
            <a:r>
              <a:rPr lang="en" sz="1800">
                <a:solidFill>
                  <a:schemeClr val="dk1"/>
                </a:solidFill>
              </a:rPr>
              <a:t>)</a:t>
            </a:r>
            <a:endParaRPr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98d5a2bf02_0_717"/>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Latency Sources</a:t>
            </a:r>
            <a:endParaRPr/>
          </a:p>
        </p:txBody>
      </p:sp>
      <p:sp>
        <p:nvSpPr>
          <p:cNvPr id="219" name="Google Shape;219;g398d5a2bf02_0_717"/>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t/>
            </a:r>
            <a:endParaRPr b="1" sz="1800">
              <a:solidFill>
                <a:schemeClr val="dk1"/>
              </a:solidFill>
            </a:endParaRPr>
          </a:p>
          <a:p>
            <a:pPr indent="-342900" lvl="0" marL="457200" rtl="0" algn="l">
              <a:spcBef>
                <a:spcPts val="1200"/>
              </a:spcBef>
              <a:spcAft>
                <a:spcPts val="0"/>
              </a:spcAft>
              <a:buClr>
                <a:schemeClr val="dk1"/>
              </a:buClr>
              <a:buSzPts val="1800"/>
              <a:buChar char="●"/>
            </a:pPr>
            <a:r>
              <a:rPr lang="en" sz="1800">
                <a:solidFill>
                  <a:schemeClr val="dk1"/>
                </a:solidFill>
              </a:rPr>
              <a:t>GPU memory fragmentation means allocator may need to </a:t>
            </a:r>
            <a:r>
              <a:rPr b="1" lang="en" sz="1800">
                <a:solidFill>
                  <a:schemeClr val="dk1"/>
                </a:solidFill>
              </a:rPr>
              <a:t>defragment</a:t>
            </a:r>
            <a:r>
              <a:rPr lang="en" sz="1800">
                <a:solidFill>
                  <a:schemeClr val="dk1"/>
                </a:solidFill>
              </a:rPr>
              <a:t> (involves memcpy or partial realloc).</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First few batches may trigger </a:t>
            </a:r>
            <a:r>
              <a:rPr b="1" lang="en" sz="1800">
                <a:solidFill>
                  <a:schemeClr val="dk1"/>
                </a:solidFill>
              </a:rPr>
              <a:t>dynamic resizing</a:t>
            </a:r>
            <a:r>
              <a:rPr lang="en" sz="1800">
                <a:solidFill>
                  <a:schemeClr val="dk1"/>
                </a:solidFill>
              </a:rPr>
              <a:t> until steady-state memory footprint stabilizes.</a:t>
            </a:r>
            <a:endParaRPr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98d5a2bf02_0_722"/>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Runtime Data Transfer and Batching</a:t>
            </a:r>
            <a:endParaRPr/>
          </a:p>
        </p:txBody>
      </p:sp>
      <p:sp>
        <p:nvSpPr>
          <p:cNvPr id="225" name="Google Shape;225;g398d5a2bf02_0_72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Char char="●"/>
            </a:pPr>
            <a:r>
              <a:rPr lang="en" sz="1800">
                <a:solidFill>
                  <a:schemeClr val="dk1"/>
                </a:solidFill>
              </a:rPr>
              <a:t>Inputs (token IDs, image tensors, etc.) often begin in </a:t>
            </a:r>
            <a:r>
              <a:rPr b="1" lang="en" sz="1800">
                <a:solidFill>
                  <a:schemeClr val="dk1"/>
                </a:solidFill>
              </a:rPr>
              <a:t>CPU memory</a:t>
            </a:r>
            <a:r>
              <a:rPr lang="en" sz="1800">
                <a:solidFill>
                  <a:schemeClr val="dk1"/>
                </a:solidFill>
              </a:rPr>
              <a:t>.</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They are copied into </a:t>
            </a:r>
            <a:r>
              <a:rPr b="1" lang="en" sz="1800">
                <a:solidFill>
                  <a:schemeClr val="dk1"/>
                </a:solidFill>
              </a:rPr>
              <a:t>GPU staging buffers</a:t>
            </a:r>
            <a:r>
              <a:rPr lang="en" sz="1800">
                <a:solidFill>
                  <a:schemeClr val="dk1"/>
                </a:solidFill>
              </a:rPr>
              <a:t> each inference.</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If dynamic batching is enabled (Triton, vLLM, FasterTransformer):</a:t>
            </a:r>
            <a:br>
              <a:rPr lang="en" sz="1800">
                <a:solidFill>
                  <a:schemeClr val="dk1"/>
                </a:solidFill>
              </a:rPr>
            </a:b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Requests queue until batch is formed.</a:t>
            </a:r>
            <a:br>
              <a:rPr lang="en" sz="1800">
                <a:solidFill>
                  <a:schemeClr val="dk1"/>
                </a:solidFill>
              </a:rPr>
            </a:b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GPU compute is amortized over multiple inputs.</a:t>
            </a:r>
            <a:endParaRPr b="1"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98d5a2bf02_0_612"/>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Latency Sources</a:t>
            </a:r>
            <a:endParaRPr/>
          </a:p>
        </p:txBody>
      </p:sp>
      <p:sp>
        <p:nvSpPr>
          <p:cNvPr id="231" name="Google Shape;231;g398d5a2bf02_0_612"/>
          <p:cNvSpPr txBox="1"/>
          <p:nvPr>
            <p:ph idx="1" type="body"/>
          </p:nvPr>
        </p:nvSpPr>
        <p:spPr>
          <a:xfrm>
            <a:off x="311700" y="1862100"/>
            <a:ext cx="8520600" cy="14193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Char char="●"/>
            </a:pPr>
            <a:r>
              <a:rPr lang="en" sz="1800">
                <a:solidFill>
                  <a:schemeClr val="dk1"/>
                </a:solidFill>
              </a:rPr>
              <a:t>Small inputs lead to </a:t>
            </a:r>
            <a:r>
              <a:rPr b="1" lang="en" sz="1800">
                <a:solidFill>
                  <a:schemeClr val="dk1"/>
                </a:solidFill>
              </a:rPr>
              <a:t>low compute-to-transfer ratio</a:t>
            </a:r>
            <a:r>
              <a:rPr lang="en" sz="1800">
                <a:solidFill>
                  <a:schemeClr val="dk1"/>
                </a:solidFill>
              </a:rPr>
              <a:t> → poor efficiency.</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Batch formation may introduce queue delays under low throughput traffic.</a:t>
            </a:r>
            <a:endParaRPr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6"/>
          <p:cNvSpPr txBox="1"/>
          <p:nvPr>
            <p:ph type="title"/>
          </p:nvPr>
        </p:nvSpPr>
        <p:spPr>
          <a:xfrm>
            <a:off x="311700" y="2285400"/>
            <a:ext cx="8520600" cy="5727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
              <a:t>Strategies to Eliminate Cold Starts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41" name="Shape 241"/>
        <p:cNvGrpSpPr/>
        <p:nvPr/>
      </p:nvGrpSpPr>
      <p:grpSpPr>
        <a:xfrm>
          <a:off x="0" y="0"/>
          <a:ext cx="0" cy="0"/>
          <a:chOff x="0" y="0"/>
          <a:chExt cx="0" cy="0"/>
        </a:xfrm>
      </p:grpSpPr>
      <p:sp>
        <p:nvSpPr>
          <p:cNvPr id="242" name="Google Shape;242;g3a186b5d295_0_0"/>
          <p:cNvSpPr/>
          <p:nvPr/>
        </p:nvSpPr>
        <p:spPr>
          <a:xfrm>
            <a:off x="304800" y="228600"/>
            <a:ext cx="43623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Solution Overview</a:t>
            </a:r>
            <a:endParaRPr b="0" i="0" sz="2700" u="none" cap="none" strike="noStrike">
              <a:solidFill>
                <a:schemeClr val="dk1"/>
              </a:solidFill>
              <a:latin typeface="Calibri"/>
              <a:ea typeface="Calibri"/>
              <a:cs typeface="Calibri"/>
              <a:sym typeface="Calibri"/>
            </a:endParaRPr>
          </a:p>
        </p:txBody>
      </p:sp>
      <p:sp>
        <p:nvSpPr>
          <p:cNvPr id="243" name="Google Shape;243;g3a186b5d295_0_0"/>
          <p:cNvSpPr/>
          <p:nvPr/>
        </p:nvSpPr>
        <p:spPr>
          <a:xfrm>
            <a:off x="304800" y="1066800"/>
            <a:ext cx="8534400" cy="1104900"/>
          </a:xfrm>
          <a:prstGeom prst="roundRect">
            <a:avLst>
              <a:gd fmla="val 5517" name="adj"/>
            </a:avLst>
          </a:prstGeom>
          <a:solidFill>
            <a:srgbClr val="E8F5E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44" name="Google Shape;244;g3a186b5d295_0_0"/>
          <p:cNvCxnSpPr/>
          <p:nvPr/>
        </p:nvCxnSpPr>
        <p:spPr>
          <a:xfrm>
            <a:off x="333375" y="1066800"/>
            <a:ext cx="0" cy="1104900"/>
          </a:xfrm>
          <a:prstGeom prst="straightConnector1">
            <a:avLst/>
          </a:prstGeom>
          <a:noFill/>
          <a:ln cap="flat" cmpd="sng" w="57150">
            <a:solidFill>
              <a:srgbClr val="4CAF50"/>
            </a:solidFill>
            <a:prstDash val="solid"/>
            <a:round/>
            <a:headEnd len="sm" w="sm" type="none"/>
            <a:tailEnd len="sm" w="sm" type="none"/>
          </a:ln>
        </p:spPr>
      </p:cxnSp>
      <p:sp>
        <p:nvSpPr>
          <p:cNvPr id="245" name="Google Shape;245;g3a186b5d295_0_0"/>
          <p:cNvSpPr/>
          <p:nvPr/>
        </p:nvSpPr>
        <p:spPr>
          <a:xfrm>
            <a:off x="590550" y="1295400"/>
            <a:ext cx="81804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7D32"/>
              </a:buClr>
              <a:buSzPts val="1800"/>
              <a:buFont typeface="Arial"/>
              <a:buNone/>
            </a:pPr>
            <a:r>
              <a:rPr b="1" i="0" lang="en" sz="1800" u="none" cap="none" strike="noStrike">
                <a:solidFill>
                  <a:srgbClr val="2E7D32"/>
                </a:solidFill>
                <a:latin typeface="Arial"/>
                <a:ea typeface="Arial"/>
                <a:cs typeface="Arial"/>
                <a:sym typeface="Arial"/>
              </a:rPr>
              <a:t>1. Avoid the cold start</a:t>
            </a:r>
            <a:endParaRPr b="0" i="0" sz="1800" u="none" cap="none" strike="noStrike">
              <a:solidFill>
                <a:schemeClr val="dk1"/>
              </a:solidFill>
              <a:latin typeface="Calibri"/>
              <a:ea typeface="Calibri"/>
              <a:cs typeface="Calibri"/>
              <a:sym typeface="Calibri"/>
            </a:endParaRPr>
          </a:p>
        </p:txBody>
      </p:sp>
      <p:sp>
        <p:nvSpPr>
          <p:cNvPr id="246" name="Google Shape;246;g3a186b5d295_0_0"/>
          <p:cNvSpPr/>
          <p:nvPr/>
        </p:nvSpPr>
        <p:spPr>
          <a:xfrm>
            <a:off x="590550" y="1638300"/>
            <a:ext cx="81804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Pre-warmed GPU pools keep models ready</a:t>
            </a:r>
            <a:endParaRPr b="0" i="0" sz="1350" u="none" cap="none" strike="noStrike">
              <a:solidFill>
                <a:schemeClr val="dk1"/>
              </a:solidFill>
              <a:latin typeface="Calibri"/>
              <a:ea typeface="Calibri"/>
              <a:cs typeface="Calibri"/>
              <a:sym typeface="Calibri"/>
            </a:endParaRPr>
          </a:p>
        </p:txBody>
      </p:sp>
      <p:sp>
        <p:nvSpPr>
          <p:cNvPr id="247" name="Google Shape;247;g3a186b5d295_0_0"/>
          <p:cNvSpPr/>
          <p:nvPr/>
        </p:nvSpPr>
        <p:spPr>
          <a:xfrm>
            <a:off x="304800" y="2400300"/>
            <a:ext cx="8534400" cy="1104900"/>
          </a:xfrm>
          <a:prstGeom prst="roundRect">
            <a:avLst>
              <a:gd fmla="val 5517" name="adj"/>
            </a:avLst>
          </a:prstGeom>
          <a:solidFill>
            <a:srgbClr val="FFF3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48" name="Google Shape;248;g3a186b5d295_0_0"/>
          <p:cNvCxnSpPr/>
          <p:nvPr/>
        </p:nvCxnSpPr>
        <p:spPr>
          <a:xfrm>
            <a:off x="333375" y="2400300"/>
            <a:ext cx="0" cy="1104900"/>
          </a:xfrm>
          <a:prstGeom prst="straightConnector1">
            <a:avLst/>
          </a:prstGeom>
          <a:noFill/>
          <a:ln cap="flat" cmpd="sng" w="57150">
            <a:solidFill>
              <a:srgbClr val="FF9800"/>
            </a:solidFill>
            <a:prstDash val="solid"/>
            <a:round/>
            <a:headEnd len="sm" w="sm" type="none"/>
            <a:tailEnd len="sm" w="sm" type="none"/>
          </a:ln>
        </p:spPr>
      </p:cxnSp>
      <p:sp>
        <p:nvSpPr>
          <p:cNvPr id="249" name="Google Shape;249;g3a186b5d295_0_0"/>
          <p:cNvSpPr/>
          <p:nvPr/>
        </p:nvSpPr>
        <p:spPr>
          <a:xfrm>
            <a:off x="590550" y="2628900"/>
            <a:ext cx="81804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E65100"/>
              </a:buClr>
              <a:buSzPts val="1800"/>
              <a:buFont typeface="Arial"/>
              <a:buNone/>
            </a:pPr>
            <a:r>
              <a:rPr b="1" i="0" lang="en" sz="1800" u="none" cap="none" strike="noStrike">
                <a:solidFill>
                  <a:srgbClr val="E65100"/>
                </a:solidFill>
                <a:latin typeface="Arial"/>
                <a:ea typeface="Arial"/>
                <a:cs typeface="Arial"/>
                <a:sym typeface="Arial"/>
              </a:rPr>
              <a:t>2. Speed up the cold start</a:t>
            </a:r>
            <a:endParaRPr b="0" i="0" sz="1800" u="none" cap="none" strike="noStrike">
              <a:solidFill>
                <a:schemeClr val="dk1"/>
              </a:solidFill>
              <a:latin typeface="Calibri"/>
              <a:ea typeface="Calibri"/>
              <a:cs typeface="Calibri"/>
              <a:sym typeface="Calibri"/>
            </a:endParaRPr>
          </a:p>
        </p:txBody>
      </p:sp>
      <p:sp>
        <p:nvSpPr>
          <p:cNvPr id="250" name="Google Shape;250;g3a186b5d295_0_0"/>
          <p:cNvSpPr/>
          <p:nvPr/>
        </p:nvSpPr>
        <p:spPr>
          <a:xfrm>
            <a:off x="590550" y="2971800"/>
            <a:ext cx="81804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Model snapshotting with TorchScript, ONNX, Safetensors</a:t>
            </a:r>
            <a:endParaRPr b="0" i="0" sz="1350" u="none" cap="none" strike="noStrike">
              <a:solidFill>
                <a:schemeClr val="dk1"/>
              </a:solidFill>
              <a:latin typeface="Calibri"/>
              <a:ea typeface="Calibri"/>
              <a:cs typeface="Calibri"/>
              <a:sym typeface="Calibri"/>
            </a:endParaRPr>
          </a:p>
        </p:txBody>
      </p:sp>
      <p:sp>
        <p:nvSpPr>
          <p:cNvPr id="251" name="Google Shape;251;g3a186b5d295_0_0"/>
          <p:cNvSpPr/>
          <p:nvPr/>
        </p:nvSpPr>
        <p:spPr>
          <a:xfrm>
            <a:off x="304800" y="3733800"/>
            <a:ext cx="8534400" cy="1104900"/>
          </a:xfrm>
          <a:prstGeom prst="roundRect">
            <a:avLst>
              <a:gd fmla="val 5517" name="adj"/>
            </a:avLst>
          </a:prstGeom>
          <a:solidFill>
            <a:srgbClr val="E3F2FD"/>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52" name="Google Shape;252;g3a186b5d295_0_0"/>
          <p:cNvCxnSpPr/>
          <p:nvPr/>
        </p:nvCxnSpPr>
        <p:spPr>
          <a:xfrm>
            <a:off x="333375" y="3733800"/>
            <a:ext cx="0" cy="1104900"/>
          </a:xfrm>
          <a:prstGeom prst="straightConnector1">
            <a:avLst/>
          </a:prstGeom>
          <a:noFill/>
          <a:ln cap="flat" cmpd="sng" w="57150">
            <a:solidFill>
              <a:srgbClr val="2196F3"/>
            </a:solidFill>
            <a:prstDash val="solid"/>
            <a:round/>
            <a:headEnd len="sm" w="sm" type="none"/>
            <a:tailEnd len="sm" w="sm" type="none"/>
          </a:ln>
        </p:spPr>
      </p:cxnSp>
      <p:sp>
        <p:nvSpPr>
          <p:cNvPr id="253" name="Google Shape;253;g3a186b5d295_0_0"/>
          <p:cNvSpPr/>
          <p:nvPr/>
        </p:nvSpPr>
        <p:spPr>
          <a:xfrm>
            <a:off x="590550" y="3962400"/>
            <a:ext cx="81804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565C0"/>
              </a:buClr>
              <a:buSzPts val="1800"/>
              <a:buFont typeface="Arial"/>
              <a:buNone/>
            </a:pPr>
            <a:r>
              <a:rPr b="1" i="0" lang="en" sz="1800" u="none" cap="none" strike="noStrike">
                <a:solidFill>
                  <a:srgbClr val="1565C0"/>
                </a:solidFill>
                <a:latin typeface="Arial"/>
                <a:ea typeface="Arial"/>
                <a:cs typeface="Arial"/>
                <a:sym typeface="Arial"/>
              </a:rPr>
              <a:t>3. Defer the cold start</a:t>
            </a:r>
            <a:endParaRPr b="0" i="0" sz="1800" u="none" cap="none" strike="noStrike">
              <a:solidFill>
                <a:schemeClr val="dk1"/>
              </a:solidFill>
              <a:latin typeface="Calibri"/>
              <a:ea typeface="Calibri"/>
              <a:cs typeface="Calibri"/>
              <a:sym typeface="Calibri"/>
            </a:endParaRPr>
          </a:p>
        </p:txBody>
      </p:sp>
      <p:sp>
        <p:nvSpPr>
          <p:cNvPr id="254" name="Google Shape;254;g3a186b5d295_0_0"/>
          <p:cNvSpPr/>
          <p:nvPr/>
        </p:nvSpPr>
        <p:spPr>
          <a:xfrm>
            <a:off x="590550" y="4305300"/>
            <a:ext cx="81804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Lazy loading delays initialization until first request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59" name="Shape 259"/>
        <p:cNvGrpSpPr/>
        <p:nvPr/>
      </p:nvGrpSpPr>
      <p:grpSpPr>
        <a:xfrm>
          <a:off x="0" y="0"/>
          <a:ext cx="0" cy="0"/>
          <a:chOff x="0" y="0"/>
          <a:chExt cx="0" cy="0"/>
        </a:xfrm>
      </p:grpSpPr>
      <p:sp>
        <p:nvSpPr>
          <p:cNvPr id="260" name="Google Shape;260;g3a186b5d295_0_17"/>
          <p:cNvSpPr/>
          <p:nvPr/>
        </p:nvSpPr>
        <p:spPr>
          <a:xfrm>
            <a:off x="304800" y="228600"/>
            <a:ext cx="58197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Solution 1: Pre-warmed GPU Pools</a:t>
            </a:r>
            <a:endParaRPr b="0" i="0" sz="2700" u="none" cap="none" strike="noStrike">
              <a:solidFill>
                <a:schemeClr val="dk1"/>
              </a:solidFill>
              <a:latin typeface="Calibri"/>
              <a:ea typeface="Calibri"/>
              <a:cs typeface="Calibri"/>
              <a:sym typeface="Calibri"/>
            </a:endParaRPr>
          </a:p>
        </p:txBody>
      </p:sp>
      <p:sp>
        <p:nvSpPr>
          <p:cNvPr id="261" name="Google Shape;261;g3a186b5d295_0_17"/>
          <p:cNvSpPr/>
          <p:nvPr/>
        </p:nvSpPr>
        <p:spPr>
          <a:xfrm>
            <a:off x="304800" y="1495425"/>
            <a:ext cx="8534400" cy="381000"/>
          </a:xfrm>
          <a:prstGeom prst="roundRect">
            <a:avLst>
              <a:gd fmla="val 16000" name="adj"/>
            </a:avLst>
          </a:prstGeom>
          <a:solidFill>
            <a:srgbClr val="29292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2" name="Google Shape;262;g3a186b5d295_0_17"/>
          <p:cNvSpPr/>
          <p:nvPr/>
        </p:nvSpPr>
        <p:spPr>
          <a:xfrm>
            <a:off x="219456" y="1533525"/>
            <a:ext cx="8705100" cy="304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FFFFFF"/>
              </a:buClr>
              <a:buSzPts val="1800"/>
              <a:buFont typeface="Arial"/>
              <a:buNone/>
            </a:pPr>
            <a:r>
              <a:rPr b="1" i="0" lang="en" sz="1800" u="none" cap="none" strike="noStrike">
                <a:solidFill>
                  <a:srgbClr val="FFFFFF"/>
                </a:solidFill>
                <a:latin typeface="Arial"/>
                <a:ea typeface="Arial"/>
                <a:cs typeface="Arial"/>
                <a:sym typeface="Arial"/>
              </a:rPr>
              <a:t>Load Balancer</a:t>
            </a:r>
            <a:endParaRPr b="0" i="0" sz="1800" u="none" cap="none" strike="noStrike">
              <a:solidFill>
                <a:schemeClr val="dk1"/>
              </a:solidFill>
              <a:latin typeface="Calibri"/>
              <a:ea typeface="Calibri"/>
              <a:cs typeface="Calibri"/>
              <a:sym typeface="Calibri"/>
            </a:endParaRPr>
          </a:p>
        </p:txBody>
      </p:sp>
      <p:sp>
        <p:nvSpPr>
          <p:cNvPr id="263" name="Google Shape;263;g3a186b5d295_0_17"/>
          <p:cNvSpPr/>
          <p:nvPr/>
        </p:nvSpPr>
        <p:spPr>
          <a:xfrm>
            <a:off x="4552950" y="2105025"/>
            <a:ext cx="38100" cy="285900"/>
          </a:xfrm>
          <a:prstGeom prst="rect">
            <a:avLst/>
          </a:prstGeom>
          <a:solidFill>
            <a:srgbClr val="E3373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4" name="Google Shape;264;g3a186b5d295_0_17"/>
          <p:cNvSpPr/>
          <p:nvPr/>
        </p:nvSpPr>
        <p:spPr>
          <a:xfrm>
            <a:off x="304800" y="2619375"/>
            <a:ext cx="8534400" cy="381000"/>
          </a:xfrm>
          <a:prstGeom prst="roundRect">
            <a:avLst>
              <a:gd fmla="val 16000" name="adj"/>
            </a:avLst>
          </a:prstGeom>
          <a:solidFill>
            <a:srgbClr val="CCCBC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5" name="Google Shape;265;g3a186b5d295_0_17"/>
          <p:cNvSpPr/>
          <p:nvPr/>
        </p:nvSpPr>
        <p:spPr>
          <a:xfrm>
            <a:off x="219456" y="2657475"/>
            <a:ext cx="8705100" cy="304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292929"/>
              </a:buClr>
              <a:buSzPts val="1800"/>
              <a:buFont typeface="Arial"/>
              <a:buNone/>
            </a:pPr>
            <a:r>
              <a:rPr b="1" i="0" lang="en" sz="1800" u="none" cap="none" strike="noStrike">
                <a:solidFill>
                  <a:srgbClr val="292929"/>
                </a:solidFill>
                <a:latin typeface="Arial"/>
                <a:ea typeface="Arial"/>
                <a:cs typeface="Arial"/>
                <a:sym typeface="Arial"/>
              </a:rPr>
              <a:t>Request Queue</a:t>
            </a:r>
            <a:endParaRPr b="0" i="0" sz="1800" u="none" cap="none" strike="noStrike">
              <a:solidFill>
                <a:schemeClr val="dk1"/>
              </a:solidFill>
              <a:latin typeface="Calibri"/>
              <a:ea typeface="Calibri"/>
              <a:cs typeface="Calibri"/>
              <a:sym typeface="Calibri"/>
            </a:endParaRPr>
          </a:p>
        </p:txBody>
      </p:sp>
      <p:sp>
        <p:nvSpPr>
          <p:cNvPr id="266" name="Google Shape;266;g3a186b5d295_0_17"/>
          <p:cNvSpPr/>
          <p:nvPr/>
        </p:nvSpPr>
        <p:spPr>
          <a:xfrm>
            <a:off x="3181350" y="3352800"/>
            <a:ext cx="1143000" cy="38100"/>
          </a:xfrm>
          <a:prstGeom prst="rect">
            <a:avLst/>
          </a:prstGeom>
          <a:solidFill>
            <a:srgbClr val="E3373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7" name="Google Shape;267;g3a186b5d295_0_17"/>
          <p:cNvSpPr/>
          <p:nvPr/>
        </p:nvSpPr>
        <p:spPr>
          <a:xfrm>
            <a:off x="4552950" y="3228975"/>
            <a:ext cx="38100" cy="285900"/>
          </a:xfrm>
          <a:prstGeom prst="rect">
            <a:avLst/>
          </a:prstGeom>
          <a:solidFill>
            <a:srgbClr val="E3373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8" name="Google Shape;268;g3a186b5d295_0_17"/>
          <p:cNvSpPr/>
          <p:nvPr/>
        </p:nvSpPr>
        <p:spPr>
          <a:xfrm>
            <a:off x="4819650" y="3352800"/>
            <a:ext cx="1143000" cy="38100"/>
          </a:xfrm>
          <a:prstGeom prst="rect">
            <a:avLst/>
          </a:prstGeom>
          <a:solidFill>
            <a:srgbClr val="E3373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9" name="Google Shape;269;g3a186b5d295_0_17"/>
          <p:cNvSpPr/>
          <p:nvPr/>
        </p:nvSpPr>
        <p:spPr>
          <a:xfrm>
            <a:off x="304800" y="3743325"/>
            <a:ext cx="4152900" cy="666900"/>
          </a:xfrm>
          <a:prstGeom prst="roundRect">
            <a:avLst>
              <a:gd fmla="val 9143" name="adj"/>
            </a:avLst>
          </a:prstGeom>
          <a:solidFill>
            <a:srgbClr val="E8F5E9"/>
          </a:solidFill>
          <a:ln cap="flat" cmpd="sng" w="28575">
            <a:solidFill>
              <a:srgbClr val="4CAF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0" name="Google Shape;270;g3a186b5d295_0_17"/>
          <p:cNvSpPr/>
          <p:nvPr/>
        </p:nvSpPr>
        <p:spPr>
          <a:xfrm>
            <a:off x="292418" y="3810000"/>
            <a:ext cx="41778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E7D32"/>
              </a:buClr>
              <a:buSzPts val="1500"/>
              <a:buFont typeface="Arial"/>
              <a:buNone/>
            </a:pPr>
            <a:r>
              <a:rPr b="1" i="0" lang="en" sz="1500" u="none" cap="none" strike="noStrike">
                <a:solidFill>
                  <a:srgbClr val="2E7D32"/>
                </a:solidFill>
                <a:latin typeface="Arial"/>
                <a:ea typeface="Arial"/>
                <a:cs typeface="Arial"/>
                <a:sym typeface="Arial"/>
              </a:rPr>
              <a:t>GPU 1 (warm)</a:t>
            </a:r>
            <a:endParaRPr b="0" i="0" sz="1500" u="none" cap="none" strike="noStrike">
              <a:solidFill>
                <a:schemeClr val="dk1"/>
              </a:solidFill>
              <a:latin typeface="Calibri"/>
              <a:ea typeface="Calibri"/>
              <a:cs typeface="Calibri"/>
              <a:sym typeface="Calibri"/>
            </a:endParaRPr>
          </a:p>
        </p:txBody>
      </p:sp>
      <p:sp>
        <p:nvSpPr>
          <p:cNvPr id="271" name="Google Shape;271;g3a186b5d295_0_17"/>
          <p:cNvSpPr/>
          <p:nvPr/>
        </p:nvSpPr>
        <p:spPr>
          <a:xfrm>
            <a:off x="292418" y="4114800"/>
            <a:ext cx="41778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292929"/>
              </a:buClr>
              <a:buSzPts val="1200"/>
              <a:buFont typeface="Arial"/>
              <a:buNone/>
            </a:pPr>
            <a:r>
              <a:rPr b="0" i="0" lang="en" sz="1200" u="none" cap="none" strike="noStrike">
                <a:solidFill>
                  <a:srgbClr val="292929"/>
                </a:solidFill>
                <a:latin typeface="Arial"/>
                <a:ea typeface="Arial"/>
                <a:cs typeface="Arial"/>
                <a:sym typeface="Arial"/>
              </a:rPr>
              <a:t>Model loaded</a:t>
            </a:r>
            <a:endParaRPr b="0" i="0" sz="1200" u="none" cap="none" strike="noStrike">
              <a:solidFill>
                <a:schemeClr val="dk1"/>
              </a:solidFill>
              <a:latin typeface="Calibri"/>
              <a:ea typeface="Calibri"/>
              <a:cs typeface="Calibri"/>
              <a:sym typeface="Calibri"/>
            </a:endParaRPr>
          </a:p>
        </p:txBody>
      </p:sp>
      <p:sp>
        <p:nvSpPr>
          <p:cNvPr id="272" name="Google Shape;272;g3a186b5d295_0_17"/>
          <p:cNvSpPr/>
          <p:nvPr/>
        </p:nvSpPr>
        <p:spPr>
          <a:xfrm>
            <a:off x="4686300" y="3743325"/>
            <a:ext cx="4152900" cy="666900"/>
          </a:xfrm>
          <a:prstGeom prst="roundRect">
            <a:avLst>
              <a:gd fmla="val 9143" name="adj"/>
            </a:avLst>
          </a:prstGeom>
          <a:solidFill>
            <a:srgbClr val="E8F5E9"/>
          </a:solidFill>
          <a:ln cap="flat" cmpd="sng" w="28575">
            <a:solidFill>
              <a:srgbClr val="4CAF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3" name="Google Shape;273;g3a186b5d295_0_17"/>
          <p:cNvSpPr/>
          <p:nvPr/>
        </p:nvSpPr>
        <p:spPr>
          <a:xfrm>
            <a:off x="4673918" y="3810000"/>
            <a:ext cx="41778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E7D32"/>
              </a:buClr>
              <a:buSzPts val="1500"/>
              <a:buFont typeface="Arial"/>
              <a:buNone/>
            </a:pPr>
            <a:r>
              <a:rPr b="1" i="0" lang="en" sz="1500" u="none" cap="none" strike="noStrike">
                <a:solidFill>
                  <a:srgbClr val="2E7D32"/>
                </a:solidFill>
                <a:latin typeface="Arial"/>
                <a:ea typeface="Arial"/>
                <a:cs typeface="Arial"/>
                <a:sym typeface="Arial"/>
              </a:rPr>
              <a:t>GPU 2 (warm)</a:t>
            </a:r>
            <a:endParaRPr b="0" i="0" sz="1500" u="none" cap="none" strike="noStrike">
              <a:solidFill>
                <a:schemeClr val="dk1"/>
              </a:solidFill>
              <a:latin typeface="Calibri"/>
              <a:ea typeface="Calibri"/>
              <a:cs typeface="Calibri"/>
              <a:sym typeface="Calibri"/>
            </a:endParaRPr>
          </a:p>
        </p:txBody>
      </p:sp>
      <p:sp>
        <p:nvSpPr>
          <p:cNvPr id="274" name="Google Shape;274;g3a186b5d295_0_17"/>
          <p:cNvSpPr/>
          <p:nvPr/>
        </p:nvSpPr>
        <p:spPr>
          <a:xfrm>
            <a:off x="4673918" y="4114800"/>
            <a:ext cx="41778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292929"/>
              </a:buClr>
              <a:buSzPts val="1200"/>
              <a:buFont typeface="Arial"/>
              <a:buNone/>
            </a:pPr>
            <a:r>
              <a:rPr b="0" i="0" lang="en" sz="1200" u="none" cap="none" strike="noStrike">
                <a:solidFill>
                  <a:srgbClr val="292929"/>
                </a:solidFill>
                <a:latin typeface="Arial"/>
                <a:ea typeface="Arial"/>
                <a:cs typeface="Arial"/>
                <a:sym typeface="Arial"/>
              </a:rPr>
              <a:t>Model loaded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79" name="Shape 279"/>
        <p:cNvGrpSpPr/>
        <p:nvPr/>
      </p:nvGrpSpPr>
      <p:grpSpPr>
        <a:xfrm>
          <a:off x="0" y="0"/>
          <a:ext cx="0" cy="0"/>
          <a:chOff x="0" y="0"/>
          <a:chExt cx="0" cy="0"/>
        </a:xfrm>
      </p:grpSpPr>
      <p:sp>
        <p:nvSpPr>
          <p:cNvPr id="280" name="Google Shape;280;g3a186b5d295_0_333"/>
          <p:cNvSpPr/>
          <p:nvPr/>
        </p:nvSpPr>
        <p:spPr>
          <a:xfrm>
            <a:off x="304800" y="228600"/>
            <a:ext cx="47898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Pool Management Strategies</a:t>
            </a:r>
            <a:endParaRPr b="0" i="0" sz="2700" u="none" cap="none" strike="noStrike">
              <a:solidFill>
                <a:schemeClr val="dk1"/>
              </a:solidFill>
              <a:latin typeface="Calibri"/>
              <a:ea typeface="Calibri"/>
              <a:cs typeface="Calibri"/>
              <a:sym typeface="Calibri"/>
            </a:endParaRPr>
          </a:p>
        </p:txBody>
      </p:sp>
      <p:sp>
        <p:nvSpPr>
          <p:cNvPr id="281" name="Google Shape;281;g3a186b5d295_0_333"/>
          <p:cNvSpPr/>
          <p:nvPr/>
        </p:nvSpPr>
        <p:spPr>
          <a:xfrm>
            <a:off x="304800" y="1752600"/>
            <a:ext cx="8534400" cy="647700"/>
          </a:xfrm>
          <a:prstGeom prst="roundRect">
            <a:avLst>
              <a:gd fmla="val 9412"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82" name="Google Shape;282;g3a186b5d295_0_333"/>
          <p:cNvSpPr/>
          <p:nvPr/>
        </p:nvSpPr>
        <p:spPr>
          <a:xfrm>
            <a:off x="304800" y="1752600"/>
            <a:ext cx="8705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b="1" i="0" lang="en" sz="1500" u="none" cap="none" strike="noStrike">
                <a:solidFill>
                  <a:srgbClr val="292929"/>
                </a:solidFill>
                <a:latin typeface="Arial"/>
                <a:ea typeface="Arial"/>
                <a:cs typeface="Arial"/>
                <a:sym typeface="Arial"/>
              </a:rPr>
              <a:t>Static Pool</a:t>
            </a:r>
            <a:endParaRPr b="0" i="0" sz="1500" u="none" cap="none" strike="noStrike">
              <a:solidFill>
                <a:schemeClr val="dk1"/>
              </a:solidFill>
              <a:latin typeface="Calibri"/>
              <a:ea typeface="Calibri"/>
              <a:cs typeface="Calibri"/>
              <a:sym typeface="Calibri"/>
            </a:endParaRPr>
          </a:p>
        </p:txBody>
      </p:sp>
      <p:sp>
        <p:nvSpPr>
          <p:cNvPr id="283" name="Google Shape;283;g3a186b5d295_0_333"/>
          <p:cNvSpPr/>
          <p:nvPr/>
        </p:nvSpPr>
        <p:spPr>
          <a:xfrm>
            <a:off x="304800" y="2095500"/>
            <a:ext cx="87051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Fixed number of warm instances. Simple but inflexible.</a:t>
            </a:r>
            <a:endParaRPr b="0" i="0" sz="1350" u="none" cap="none" strike="noStrike">
              <a:solidFill>
                <a:schemeClr val="dk1"/>
              </a:solidFill>
              <a:latin typeface="Calibri"/>
              <a:ea typeface="Calibri"/>
              <a:cs typeface="Calibri"/>
              <a:sym typeface="Calibri"/>
            </a:endParaRPr>
          </a:p>
        </p:txBody>
      </p:sp>
      <p:sp>
        <p:nvSpPr>
          <p:cNvPr id="284" name="Google Shape;284;g3a186b5d295_0_333"/>
          <p:cNvSpPr/>
          <p:nvPr/>
        </p:nvSpPr>
        <p:spPr>
          <a:xfrm>
            <a:off x="304800" y="2628900"/>
            <a:ext cx="8534400" cy="647700"/>
          </a:xfrm>
          <a:prstGeom prst="roundRect">
            <a:avLst>
              <a:gd fmla="val 9412"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85" name="Google Shape;285;g3a186b5d295_0_333"/>
          <p:cNvSpPr/>
          <p:nvPr/>
        </p:nvSpPr>
        <p:spPr>
          <a:xfrm>
            <a:off x="304800" y="2628900"/>
            <a:ext cx="8705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b="1" i="0" lang="en" sz="1500" u="none" cap="none" strike="noStrike">
                <a:solidFill>
                  <a:srgbClr val="292929"/>
                </a:solidFill>
                <a:latin typeface="Arial"/>
                <a:ea typeface="Arial"/>
                <a:cs typeface="Arial"/>
                <a:sym typeface="Arial"/>
              </a:rPr>
              <a:t>Dynamic Pool with Min Replicas</a:t>
            </a:r>
            <a:endParaRPr b="0" i="0" sz="1500" u="none" cap="none" strike="noStrike">
              <a:solidFill>
                <a:schemeClr val="dk1"/>
              </a:solidFill>
              <a:latin typeface="Calibri"/>
              <a:ea typeface="Calibri"/>
              <a:cs typeface="Calibri"/>
              <a:sym typeface="Calibri"/>
            </a:endParaRPr>
          </a:p>
        </p:txBody>
      </p:sp>
      <p:sp>
        <p:nvSpPr>
          <p:cNvPr id="286" name="Google Shape;286;g3a186b5d295_0_333"/>
          <p:cNvSpPr/>
          <p:nvPr/>
        </p:nvSpPr>
        <p:spPr>
          <a:xfrm>
            <a:off x="304800" y="2971800"/>
            <a:ext cx="87051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Autoscaling with guaranteed minimum. Balances cost and performance.</a:t>
            </a:r>
            <a:endParaRPr b="0" i="0" sz="1350" u="none" cap="none" strike="noStrike">
              <a:solidFill>
                <a:schemeClr val="dk1"/>
              </a:solidFill>
              <a:latin typeface="Calibri"/>
              <a:ea typeface="Calibri"/>
              <a:cs typeface="Calibri"/>
              <a:sym typeface="Calibri"/>
            </a:endParaRPr>
          </a:p>
        </p:txBody>
      </p:sp>
      <p:sp>
        <p:nvSpPr>
          <p:cNvPr id="287" name="Google Shape;287;g3a186b5d295_0_333"/>
          <p:cNvSpPr/>
          <p:nvPr/>
        </p:nvSpPr>
        <p:spPr>
          <a:xfrm>
            <a:off x="304800" y="3505200"/>
            <a:ext cx="8534400" cy="647700"/>
          </a:xfrm>
          <a:prstGeom prst="roundRect">
            <a:avLst>
              <a:gd fmla="val 9412" name="adj"/>
            </a:avLst>
          </a:prstGeom>
          <a:solidFill>
            <a:srgbClr val="FFF3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88" name="Google Shape;288;g3a186b5d295_0_333"/>
          <p:cNvCxnSpPr/>
          <p:nvPr/>
        </p:nvCxnSpPr>
        <p:spPr>
          <a:xfrm>
            <a:off x="333375" y="3505200"/>
            <a:ext cx="0" cy="647700"/>
          </a:xfrm>
          <a:prstGeom prst="straightConnector1">
            <a:avLst/>
          </a:prstGeom>
          <a:noFill/>
          <a:ln cap="flat" cmpd="sng" w="57150">
            <a:solidFill>
              <a:srgbClr val="FF9800"/>
            </a:solidFill>
            <a:prstDash val="solid"/>
            <a:round/>
            <a:headEnd len="sm" w="sm" type="none"/>
            <a:tailEnd len="sm" w="sm" type="none"/>
          </a:ln>
        </p:spPr>
      </p:cxnSp>
      <p:sp>
        <p:nvSpPr>
          <p:cNvPr id="289" name="Google Shape;289;g3a186b5d295_0_333"/>
          <p:cNvSpPr/>
          <p:nvPr/>
        </p:nvSpPr>
        <p:spPr>
          <a:xfrm>
            <a:off x="361950" y="3505200"/>
            <a:ext cx="86469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5100"/>
              </a:buClr>
              <a:buSzPts val="1500"/>
              <a:buFont typeface="Arial"/>
              <a:buNone/>
            </a:pPr>
            <a:r>
              <a:rPr b="1" i="0" lang="en" sz="1500" u="none" cap="none" strike="noStrike">
                <a:solidFill>
                  <a:srgbClr val="E65100"/>
                </a:solidFill>
                <a:latin typeface="Arial"/>
                <a:ea typeface="Arial"/>
                <a:cs typeface="Arial"/>
                <a:sym typeface="Arial"/>
              </a:rPr>
              <a:t>Predictive Scaling</a:t>
            </a:r>
            <a:endParaRPr b="0" i="0" sz="1500" u="none" cap="none" strike="noStrike">
              <a:solidFill>
                <a:schemeClr val="dk1"/>
              </a:solidFill>
              <a:latin typeface="Calibri"/>
              <a:ea typeface="Calibri"/>
              <a:cs typeface="Calibri"/>
              <a:sym typeface="Calibri"/>
            </a:endParaRPr>
          </a:p>
        </p:txBody>
      </p:sp>
      <p:sp>
        <p:nvSpPr>
          <p:cNvPr id="290" name="Google Shape;290;g3a186b5d295_0_333"/>
          <p:cNvSpPr/>
          <p:nvPr/>
        </p:nvSpPr>
        <p:spPr>
          <a:xfrm>
            <a:off x="361950" y="3848100"/>
            <a:ext cx="86469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ML-based traffic forecasting. Scales proactively before demand spikes.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95" name="Shape 295"/>
        <p:cNvGrpSpPr/>
        <p:nvPr/>
      </p:nvGrpSpPr>
      <p:grpSpPr>
        <a:xfrm>
          <a:off x="0" y="0"/>
          <a:ext cx="0" cy="0"/>
          <a:chOff x="0" y="0"/>
          <a:chExt cx="0" cy="0"/>
        </a:xfrm>
      </p:grpSpPr>
      <p:sp>
        <p:nvSpPr>
          <p:cNvPr id="296" name="Google Shape;296;g3a186b5d295_0_322"/>
          <p:cNvSpPr/>
          <p:nvPr/>
        </p:nvSpPr>
        <p:spPr>
          <a:xfrm>
            <a:off x="304800" y="228600"/>
            <a:ext cx="66744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Pre-warmed Pools: Benefits &amp; Tradeoffs</a:t>
            </a:r>
            <a:endParaRPr b="0" i="0" sz="2700" u="none" cap="none" strike="noStrike">
              <a:solidFill>
                <a:schemeClr val="dk1"/>
              </a:solidFill>
              <a:latin typeface="Calibri"/>
              <a:ea typeface="Calibri"/>
              <a:cs typeface="Calibri"/>
              <a:sym typeface="Calibri"/>
            </a:endParaRPr>
          </a:p>
        </p:txBody>
      </p:sp>
      <p:sp>
        <p:nvSpPr>
          <p:cNvPr id="297" name="Google Shape;297;g3a186b5d295_0_322"/>
          <p:cNvSpPr/>
          <p:nvPr/>
        </p:nvSpPr>
        <p:spPr>
          <a:xfrm>
            <a:off x="304800" y="1876425"/>
            <a:ext cx="4038600" cy="2152800"/>
          </a:xfrm>
          <a:prstGeom prst="roundRect">
            <a:avLst>
              <a:gd fmla="val 2832" name="adj"/>
            </a:avLst>
          </a:prstGeom>
          <a:solidFill>
            <a:srgbClr val="E8F5E9"/>
          </a:solidFill>
          <a:ln cap="flat" cmpd="sng" w="28575">
            <a:solidFill>
              <a:srgbClr val="4CAF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8" name="Google Shape;298;g3a186b5d295_0_322"/>
          <p:cNvSpPr/>
          <p:nvPr/>
        </p:nvSpPr>
        <p:spPr>
          <a:xfrm>
            <a:off x="561975" y="2133600"/>
            <a:ext cx="3594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7D32"/>
              </a:buClr>
              <a:buSzPts val="1800"/>
              <a:buFont typeface="Arial"/>
              <a:buNone/>
            </a:pPr>
            <a:r>
              <a:rPr b="1" i="0" lang="en" sz="1800" u="none" cap="none" strike="noStrike">
                <a:solidFill>
                  <a:srgbClr val="2E7D32"/>
                </a:solidFill>
                <a:latin typeface="Arial"/>
                <a:ea typeface="Arial"/>
                <a:cs typeface="Arial"/>
                <a:sym typeface="Arial"/>
              </a:rPr>
              <a:t>Benefits</a:t>
            </a:r>
            <a:endParaRPr b="0" i="0" sz="1800" u="none" cap="none" strike="noStrike">
              <a:solidFill>
                <a:schemeClr val="dk1"/>
              </a:solidFill>
              <a:latin typeface="Calibri"/>
              <a:ea typeface="Calibri"/>
              <a:cs typeface="Calibri"/>
              <a:sym typeface="Calibri"/>
            </a:endParaRPr>
          </a:p>
        </p:txBody>
      </p:sp>
      <p:sp>
        <p:nvSpPr>
          <p:cNvPr id="299" name="Google Shape;299;g3a186b5d295_0_322"/>
          <p:cNvSpPr/>
          <p:nvPr/>
        </p:nvSpPr>
        <p:spPr>
          <a:xfrm>
            <a:off x="561975" y="2590800"/>
            <a:ext cx="3524400" cy="11811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Zero cold start latency</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Predictable performance</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Better GPU utilization</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Instant scale-out capability</a:t>
            </a:r>
            <a:endParaRPr b="0" i="0" sz="1350" u="none" cap="none" strike="noStrike">
              <a:solidFill>
                <a:schemeClr val="dk1"/>
              </a:solidFill>
              <a:latin typeface="Calibri"/>
              <a:ea typeface="Calibri"/>
              <a:cs typeface="Calibri"/>
              <a:sym typeface="Calibri"/>
            </a:endParaRPr>
          </a:p>
        </p:txBody>
      </p:sp>
      <p:sp>
        <p:nvSpPr>
          <p:cNvPr id="300" name="Google Shape;300;g3a186b5d295_0_322"/>
          <p:cNvSpPr/>
          <p:nvPr/>
        </p:nvSpPr>
        <p:spPr>
          <a:xfrm>
            <a:off x="4800600" y="1876425"/>
            <a:ext cx="4038600" cy="2152800"/>
          </a:xfrm>
          <a:prstGeom prst="roundRect">
            <a:avLst>
              <a:gd fmla="val 2832" name="adj"/>
            </a:avLst>
          </a:prstGeom>
          <a:solidFill>
            <a:srgbClr val="FFE5E5"/>
          </a:solidFill>
          <a:ln cap="flat" cmpd="sng" w="28575">
            <a:solidFill>
              <a:srgbClr val="E3373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1" name="Google Shape;301;g3a186b5d295_0_322"/>
          <p:cNvSpPr/>
          <p:nvPr/>
        </p:nvSpPr>
        <p:spPr>
          <a:xfrm>
            <a:off x="5057775" y="2133600"/>
            <a:ext cx="3594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E33737"/>
              </a:buClr>
              <a:buSzPts val="1800"/>
              <a:buFont typeface="Arial"/>
              <a:buNone/>
            </a:pPr>
            <a:r>
              <a:rPr b="1" i="0" lang="en" sz="1800" u="none" cap="none" strike="noStrike">
                <a:solidFill>
                  <a:srgbClr val="E33737"/>
                </a:solidFill>
                <a:latin typeface="Arial"/>
                <a:ea typeface="Arial"/>
                <a:cs typeface="Arial"/>
                <a:sym typeface="Arial"/>
              </a:rPr>
              <a:t>Tradeoffs</a:t>
            </a:r>
            <a:endParaRPr b="0" i="0" sz="1800" u="none" cap="none" strike="noStrike">
              <a:solidFill>
                <a:schemeClr val="dk1"/>
              </a:solidFill>
              <a:latin typeface="Calibri"/>
              <a:ea typeface="Calibri"/>
              <a:cs typeface="Calibri"/>
              <a:sym typeface="Calibri"/>
            </a:endParaRPr>
          </a:p>
        </p:txBody>
      </p:sp>
      <p:sp>
        <p:nvSpPr>
          <p:cNvPr id="302" name="Google Shape;302;g3a186b5d295_0_322"/>
          <p:cNvSpPr/>
          <p:nvPr/>
        </p:nvSpPr>
        <p:spPr>
          <a:xfrm>
            <a:off x="5057775" y="2590800"/>
            <a:ext cx="3524400" cy="1181100"/>
          </a:xfrm>
          <a:prstGeom prst="rect">
            <a:avLst/>
          </a:prstGeom>
          <a:noFill/>
          <a:ln>
            <a:noFill/>
          </a:ln>
        </p:spPr>
        <p:txBody>
          <a:bodyPr anchorCtr="0" anchor="t" bIns="0" lIns="85725" spcFirstLastPara="1" rIns="0" wrap="square" tIns="0">
            <a:noAutofit/>
          </a:bodyPr>
          <a:lstStyle/>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Higher idle costs</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Pool sizing complexity</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Resource waste during low traffic</a:t>
            </a:r>
            <a:endParaRPr b="0" i="0" sz="1350" u="none" cap="none" strike="noStrike">
              <a:solidFill>
                <a:schemeClr val="dk1"/>
              </a:solidFill>
              <a:latin typeface="Calibri"/>
              <a:ea typeface="Calibri"/>
              <a:cs typeface="Calibri"/>
              <a:sym typeface="Calibri"/>
            </a:endParaRPr>
          </a:p>
          <a:p>
            <a:pPr indent="-85725" lvl="0" marL="85725" marR="0" rtl="0" algn="l">
              <a:lnSpc>
                <a:spcPct val="155555"/>
              </a:lnSpc>
              <a:spcBef>
                <a:spcPts val="0"/>
              </a:spcBef>
              <a:spcAft>
                <a:spcPts val="0"/>
              </a:spcAft>
              <a:buClr>
                <a:srgbClr val="292929"/>
              </a:buClr>
              <a:buSzPts val="1350"/>
              <a:buFont typeface="Arial"/>
              <a:buChar char="•"/>
            </a:pPr>
            <a:r>
              <a:rPr b="0" i="0" lang="en" sz="1350" u="none" cap="none" strike="noStrike">
                <a:solidFill>
                  <a:srgbClr val="292929"/>
                </a:solidFill>
                <a:latin typeface="Arial"/>
                <a:ea typeface="Arial"/>
                <a:cs typeface="Arial"/>
                <a:sym typeface="Arial"/>
              </a:rPr>
              <a:t>Autoscaling lag time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a186b5d295_0_248"/>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b="1" lang="en">
                <a:solidFill>
                  <a:schemeClr val="accent1"/>
                </a:solidFill>
              </a:rPr>
              <a:t>Platform/Kubernetes</a:t>
            </a:r>
            <a:endParaRPr>
              <a:solidFill>
                <a:schemeClr val="accent1"/>
              </a:solidFill>
            </a:endParaRPr>
          </a:p>
        </p:txBody>
      </p:sp>
      <p:sp>
        <p:nvSpPr>
          <p:cNvPr id="308" name="Google Shape;308;g3a186b5d295_0_248"/>
          <p:cNvSpPr txBox="1"/>
          <p:nvPr>
            <p:ph idx="1" type="body"/>
          </p:nvPr>
        </p:nvSpPr>
        <p:spPr>
          <a:xfrm>
            <a:off x="311700" y="1152475"/>
            <a:ext cx="8520600" cy="3990900"/>
          </a:xfrm>
          <a:prstGeom prst="rect">
            <a:avLst/>
          </a:prstGeom>
        </p:spPr>
        <p:txBody>
          <a:bodyPr anchorCtr="0" anchor="t" bIns="0" lIns="0" spcFirstLastPara="1" rIns="0" wrap="square" tIns="0">
            <a:noAutofit/>
          </a:bodyPr>
          <a:lstStyle/>
          <a:p>
            <a:pPr indent="-342900" lvl="0" marL="457200" rtl="0" algn="l">
              <a:spcBef>
                <a:spcPts val="1200"/>
              </a:spcBef>
              <a:spcAft>
                <a:spcPts val="0"/>
              </a:spcAft>
              <a:buClr>
                <a:schemeClr val="dk1"/>
              </a:buClr>
              <a:buSzPts val="1800"/>
              <a:buChar char="●"/>
            </a:pPr>
            <a:r>
              <a:rPr b="1" lang="en" sz="1800">
                <a:solidFill>
                  <a:schemeClr val="dk1"/>
                </a:solidFill>
              </a:rPr>
              <a:t>Keep 1 replica warm (if cost permits)</a:t>
            </a:r>
            <a:r>
              <a:rPr lang="en" sz="1800">
                <a:solidFill>
                  <a:schemeClr val="dk1"/>
                </a:solidFill>
              </a:rPr>
              <a:t>: Set </a:t>
            </a:r>
            <a:r>
              <a:rPr lang="en" sz="1800">
                <a:solidFill>
                  <a:srgbClr val="188038"/>
                </a:solidFill>
              </a:rPr>
              <a:t>replicas.min: 1</a:t>
            </a:r>
            <a:r>
              <a:rPr lang="en" sz="1800">
                <a:solidFill>
                  <a:schemeClr val="dk1"/>
                </a:solidFill>
              </a:rPr>
              <a:t> in </a:t>
            </a:r>
            <a:r>
              <a:rPr lang="en" sz="1800">
                <a:solidFill>
                  <a:srgbClr val="188038"/>
                </a:solidFill>
              </a:rPr>
              <a:t>scaler.yml</a:t>
            </a:r>
            <a:r>
              <a:rPr lang="en" sz="1800">
                <a:solidFill>
                  <a:schemeClr val="dk1"/>
                </a:solidFill>
              </a:rPr>
              <a:t> to eliminate cold starts entirely. Alternatively, increase the scaledown/cooldown period so the pod stays warm longer between bursts.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Pre-pull the image on GPU nodes</a:t>
            </a:r>
            <a:r>
              <a:rPr lang="en" sz="1800">
                <a:solidFill>
                  <a:schemeClr val="dk1"/>
                </a:solidFill>
              </a:rPr>
              <a:t>: Use a small DaemonSet to </a:t>
            </a:r>
            <a:r>
              <a:rPr lang="en" sz="1800">
                <a:solidFill>
                  <a:srgbClr val="188038"/>
                </a:solidFill>
              </a:rPr>
              <a:t>docker pull gpu-demo:latest</a:t>
            </a:r>
            <a:r>
              <a:rPr lang="en" sz="1800">
                <a:solidFill>
                  <a:schemeClr val="dk1"/>
                </a:solidFill>
              </a:rPr>
              <a:t> on all GPU nodes so scale-up never waits on image pulls.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Pin to a warm GPU node</a:t>
            </a:r>
            <a:r>
              <a:rPr lang="en" sz="1800">
                <a:solidFill>
                  <a:schemeClr val="dk1"/>
                </a:solidFill>
              </a:rPr>
              <a:t>: Use </a:t>
            </a:r>
            <a:r>
              <a:rPr lang="en" sz="1800">
                <a:solidFill>
                  <a:srgbClr val="188038"/>
                </a:solidFill>
              </a:rPr>
              <a:t>nodeSelector</a:t>
            </a:r>
            <a:r>
              <a:rPr lang="en" sz="1800">
                <a:solidFill>
                  <a:schemeClr val="dk1"/>
                </a:solidFill>
              </a:rPr>
              <a:t>/affinity to stick to nodes that already ran your pod recently.</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GPU persistence mode</a:t>
            </a:r>
            <a:r>
              <a:rPr lang="en" sz="1800">
                <a:solidFill>
                  <a:schemeClr val="dk1"/>
                </a:solidFill>
              </a:rPr>
              <a:t>: Enable </a:t>
            </a:r>
            <a:r>
              <a:rPr lang="en" sz="1800">
                <a:solidFill>
                  <a:srgbClr val="188038"/>
                </a:solidFill>
              </a:rPr>
              <a:t>nvidia-smi --persistence-mode=1</a:t>
            </a:r>
            <a:r>
              <a:rPr lang="en" sz="1800">
                <a:solidFill>
                  <a:schemeClr val="dk1"/>
                </a:solidFill>
              </a:rPr>
              <a:t> via a DaemonSet to reduce driver initialization latency on first context creation.</a:t>
            </a:r>
            <a:endParaRPr sz="1800">
              <a:solidFill>
                <a:schemeClr val="dk1"/>
              </a:solidFill>
            </a:endParaRPr>
          </a:p>
          <a:p>
            <a:pPr indent="0" lvl="0" marL="0" rtl="0" algn="l">
              <a:spcBef>
                <a:spcPts val="1200"/>
              </a:spcBef>
              <a:spcAft>
                <a:spcPts val="0"/>
              </a:spcAft>
              <a:buNone/>
            </a:pPr>
            <a:r>
              <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a186b5d295_0_268"/>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Image-level Optimization: Ensure Model Cache Path is Stable</a:t>
            </a:r>
            <a:endParaRPr/>
          </a:p>
        </p:txBody>
      </p:sp>
      <p:sp>
        <p:nvSpPr>
          <p:cNvPr id="314" name="Google Shape;314;g3a186b5d295_0_268"/>
          <p:cNvSpPr txBox="1"/>
          <p:nvPr>
            <p:ph idx="1" type="body"/>
          </p:nvPr>
        </p:nvSpPr>
        <p:spPr>
          <a:xfrm>
            <a:off x="311700" y="1746900"/>
            <a:ext cx="8520600" cy="2316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1800">
              <a:solidFill>
                <a:srgbClr val="001080"/>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001080"/>
                </a:solidFill>
                <a:highlight>
                  <a:srgbClr val="FFFFFF"/>
                </a:highlight>
                <a:latin typeface="Courier New"/>
                <a:ea typeface="Courier New"/>
                <a:cs typeface="Courier New"/>
                <a:sym typeface="Courier New"/>
              </a:rPr>
              <a:t>TRANSFORMERS_CACHE</a:t>
            </a:r>
            <a:r>
              <a:rPr lang="en" sz="1800">
                <a:solidFill>
                  <a:schemeClr val="dk1"/>
                </a:solidFill>
                <a:highlight>
                  <a:srgbClr val="FFFFFF"/>
                </a:highlight>
                <a:latin typeface="Courier New"/>
                <a:ea typeface="Courier New"/>
                <a:cs typeface="Courier New"/>
                <a:sym typeface="Courier New"/>
              </a:rPr>
              <a:t>=</a:t>
            </a:r>
            <a:r>
              <a:rPr lang="en" sz="1800">
                <a:solidFill>
                  <a:srgbClr val="A31515"/>
                </a:solidFill>
                <a:highlight>
                  <a:srgbClr val="FFFFFF"/>
                </a:highlight>
                <a:latin typeface="Courier New"/>
                <a:ea typeface="Courier New"/>
                <a:cs typeface="Courier New"/>
                <a:sym typeface="Courier New"/>
              </a:rPr>
              <a:t>/models/hf</a:t>
            </a:r>
            <a:endParaRPr sz="18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001080"/>
                </a:solidFill>
                <a:highlight>
                  <a:srgbClr val="FFFFFF"/>
                </a:highlight>
                <a:latin typeface="Courier New"/>
                <a:ea typeface="Courier New"/>
                <a:cs typeface="Courier New"/>
                <a:sym typeface="Courier New"/>
              </a:rPr>
              <a:t>HF_HOME</a:t>
            </a:r>
            <a:r>
              <a:rPr lang="en" sz="1800">
                <a:solidFill>
                  <a:schemeClr val="dk1"/>
                </a:solidFill>
                <a:highlight>
                  <a:srgbClr val="FFFFFF"/>
                </a:highlight>
                <a:latin typeface="Courier New"/>
                <a:ea typeface="Courier New"/>
                <a:cs typeface="Courier New"/>
                <a:sym typeface="Courier New"/>
              </a:rPr>
              <a:t>=</a:t>
            </a:r>
            <a:r>
              <a:rPr lang="en" sz="1800">
                <a:solidFill>
                  <a:srgbClr val="A31515"/>
                </a:solidFill>
                <a:highlight>
                  <a:srgbClr val="FFFFFF"/>
                </a:highlight>
                <a:latin typeface="Courier New"/>
                <a:ea typeface="Courier New"/>
                <a:cs typeface="Courier New"/>
                <a:sym typeface="Courier New"/>
              </a:rPr>
              <a:t>/models/hf</a:t>
            </a:r>
            <a:endParaRPr sz="18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001080"/>
                </a:solidFill>
                <a:highlight>
                  <a:srgbClr val="FFFFFF"/>
                </a:highlight>
                <a:latin typeface="Courier New"/>
                <a:ea typeface="Courier New"/>
                <a:cs typeface="Courier New"/>
                <a:sym typeface="Courier New"/>
              </a:rPr>
              <a:t>TOKENIZERS_PARALLELISM</a:t>
            </a:r>
            <a:r>
              <a:rPr lang="en" sz="1800">
                <a:solidFill>
                  <a:schemeClr val="dk1"/>
                </a:solidFill>
                <a:highlight>
                  <a:srgbClr val="FFFFFF"/>
                </a:highlight>
                <a:latin typeface="Courier New"/>
                <a:ea typeface="Courier New"/>
                <a:cs typeface="Courier New"/>
                <a:sym typeface="Courier New"/>
              </a:rPr>
              <a:t>=</a:t>
            </a:r>
            <a:r>
              <a:rPr lang="en" sz="1800">
                <a:solidFill>
                  <a:srgbClr val="A31515"/>
                </a:solidFill>
                <a:highlight>
                  <a:srgbClr val="FFFFFF"/>
                </a:highlight>
                <a:latin typeface="Courier New"/>
                <a:ea typeface="Courier New"/>
                <a:cs typeface="Courier New"/>
                <a:sym typeface="Courier New"/>
              </a:rPr>
              <a:t>false</a:t>
            </a:r>
            <a:endParaRPr sz="18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800">
                <a:solidFill>
                  <a:srgbClr val="001080"/>
                </a:solidFill>
                <a:highlight>
                  <a:srgbClr val="FFFFFF"/>
                </a:highlight>
                <a:latin typeface="Courier New"/>
                <a:ea typeface="Courier New"/>
                <a:cs typeface="Courier New"/>
                <a:sym typeface="Courier New"/>
              </a:rPr>
              <a:t>HF_HUB_DISABLE_TELEMETRY</a:t>
            </a:r>
            <a:r>
              <a:rPr lang="en" sz="1800">
                <a:solidFill>
                  <a:schemeClr val="dk1"/>
                </a:solidFill>
                <a:highlight>
                  <a:srgbClr val="FFFFFF"/>
                </a:highlight>
                <a:latin typeface="Courier New"/>
                <a:ea typeface="Courier New"/>
                <a:cs typeface="Courier New"/>
                <a:sym typeface="Courier New"/>
              </a:rPr>
              <a:t>=</a:t>
            </a:r>
            <a:r>
              <a:rPr lang="en" sz="1800">
                <a:solidFill>
                  <a:srgbClr val="A31515"/>
                </a:solidFill>
                <a:highlight>
                  <a:srgbClr val="FFFFFF"/>
                </a:highlight>
                <a:latin typeface="Courier New"/>
                <a:ea typeface="Courier New"/>
                <a:cs typeface="Courier New"/>
                <a:sym typeface="Courier New"/>
              </a:rPr>
              <a:t>1</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a186b5d295_0_312"/>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Image-level Optimization: Reduce Import Overhead</a:t>
            </a:r>
            <a:endParaRPr/>
          </a:p>
        </p:txBody>
      </p:sp>
      <p:sp>
        <p:nvSpPr>
          <p:cNvPr id="320" name="Google Shape;320;g3a186b5d295_0_312"/>
          <p:cNvSpPr txBox="1"/>
          <p:nvPr>
            <p:ph idx="1" type="body"/>
          </p:nvPr>
        </p:nvSpPr>
        <p:spPr>
          <a:xfrm>
            <a:off x="311700" y="1759000"/>
            <a:ext cx="8520600" cy="25353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sz="1800">
                <a:solidFill>
                  <a:schemeClr val="dk1"/>
                </a:solidFill>
              </a:rPr>
              <a:t>Move </a:t>
            </a:r>
            <a:r>
              <a:rPr b="1" lang="en" sz="1800">
                <a:solidFill>
                  <a:schemeClr val="dk1"/>
                </a:solidFill>
              </a:rPr>
              <a:t>heavy imports</a:t>
            </a:r>
            <a:r>
              <a:rPr lang="en" sz="1800">
                <a:solidFill>
                  <a:schemeClr val="dk1"/>
                </a:solidFill>
              </a:rPr>
              <a:t> </a:t>
            </a:r>
            <a:r>
              <a:rPr i="1" lang="en" sz="1800">
                <a:solidFill>
                  <a:schemeClr val="dk1"/>
                </a:solidFill>
              </a:rPr>
              <a:t>out of request handler</a:t>
            </a:r>
            <a:r>
              <a:rPr lang="en" sz="1800">
                <a:solidFill>
                  <a:schemeClr val="dk1"/>
                </a:solidFill>
              </a:rPr>
              <a:t> and into </a:t>
            </a:r>
            <a:r>
              <a:rPr b="1" lang="en" sz="1800">
                <a:solidFill>
                  <a:schemeClr val="dk1"/>
                </a:solidFill>
              </a:rPr>
              <a:t>startup</a:t>
            </a:r>
            <a:r>
              <a:rPr lang="en" sz="1800">
                <a:solidFill>
                  <a:schemeClr val="dk1"/>
                </a:solidFill>
              </a:rPr>
              <a:t> or </a:t>
            </a:r>
            <a:r>
              <a:rPr b="1" lang="en" sz="1800">
                <a:solidFill>
                  <a:schemeClr val="dk1"/>
                </a:solidFill>
              </a:rPr>
              <a:t>module scope</a:t>
            </a:r>
            <a:r>
              <a:rPr lang="en" sz="1800">
                <a:solidFill>
                  <a:schemeClr val="dk1"/>
                </a:solidFill>
              </a:rPr>
              <a:t>.</a:t>
            </a:r>
            <a:endParaRPr sz="1800">
              <a:solidFill>
                <a:schemeClr val="dk1"/>
              </a:solidFill>
            </a:endParaRPr>
          </a:p>
          <a:p>
            <a:pPr indent="0" lvl="0" marL="0" rtl="0" algn="l">
              <a:spcBef>
                <a:spcPts val="1200"/>
              </a:spcBef>
              <a:spcAft>
                <a:spcPts val="0"/>
              </a:spcAft>
              <a:buNone/>
            </a:pPr>
            <a:r>
              <a:rPr lang="en" sz="1800">
                <a:solidFill>
                  <a:schemeClr val="dk1"/>
                </a:solidFill>
              </a:rPr>
              <a:t>Prefer:</a:t>
            </a:r>
            <a:endParaRPr sz="1800">
              <a:solidFill>
                <a:schemeClr val="dk1"/>
              </a:solidFill>
            </a:endParaRPr>
          </a:p>
          <a:p>
            <a:pPr indent="0" lvl="0" marL="0" rtl="0" algn="l">
              <a:spcBef>
                <a:spcPts val="1200"/>
              </a:spcBef>
              <a:spcAft>
                <a:spcPts val="0"/>
              </a:spcAft>
              <a:buNone/>
            </a:pPr>
            <a:r>
              <a:rPr lang="en" sz="1800">
                <a:solidFill>
                  <a:srgbClr val="188038"/>
                </a:solidFill>
                <a:latin typeface="Roboto Mono"/>
                <a:ea typeface="Roboto Mono"/>
                <a:cs typeface="Roboto Mono"/>
                <a:sym typeface="Roboto Mono"/>
              </a:rPr>
              <a:t>from transformers import ...</a:t>
            </a:r>
            <a:endParaRPr sz="18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 sz="1800">
                <a:solidFill>
                  <a:srgbClr val="188038"/>
                </a:solidFill>
                <a:latin typeface="Roboto Mono"/>
                <a:ea typeface="Roboto Mono"/>
                <a:cs typeface="Roboto Mono"/>
                <a:sym typeface="Roboto Mono"/>
              </a:rPr>
              <a:t>import torch</a:t>
            </a:r>
            <a:endParaRPr sz="180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sz="1800">
              <a:solidFill>
                <a:schemeClr val="dk1"/>
              </a:solidFill>
            </a:endParaRPr>
          </a:p>
          <a:p>
            <a:pPr indent="0" lvl="0" marL="0" rtl="0" algn="l">
              <a:spcBef>
                <a:spcPts val="1200"/>
              </a:spcBef>
              <a:spcAft>
                <a:spcPts val="1200"/>
              </a:spcAft>
              <a:buNone/>
            </a:pPr>
            <a:r>
              <a:rPr lang="en" sz="1800">
                <a:solidFill>
                  <a:schemeClr val="dk1"/>
                </a:solidFill>
              </a:rPr>
              <a:t>at </a:t>
            </a:r>
            <a:r>
              <a:rPr b="1" lang="en" sz="1800">
                <a:solidFill>
                  <a:schemeClr val="dk1"/>
                </a:solidFill>
              </a:rPr>
              <a:t>top of file</a:t>
            </a:r>
            <a:r>
              <a:rPr lang="en" sz="1800">
                <a:solidFill>
                  <a:schemeClr val="dk1"/>
                </a:solidFill>
              </a:rPr>
              <a:t>, not inside functions.</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a186b5d295_0_317"/>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Image-level Optimization: Bundle Model into the Image</a:t>
            </a:r>
            <a:endParaRPr/>
          </a:p>
        </p:txBody>
      </p:sp>
      <p:sp>
        <p:nvSpPr>
          <p:cNvPr id="326" name="Google Shape;326;g3a186b5d295_0_317"/>
          <p:cNvSpPr txBox="1"/>
          <p:nvPr>
            <p:ph idx="1" type="body"/>
          </p:nvPr>
        </p:nvSpPr>
        <p:spPr>
          <a:xfrm>
            <a:off x="311700" y="2038025"/>
            <a:ext cx="8520600" cy="186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1"/>
                </a:solidFill>
              </a:rPr>
              <a:t>During cold start, the container tries to download or fetch the model weights (HF Hub, S3, or remote cache). This adds network I/O + decompression delay.</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Mitigation:</a:t>
            </a:r>
            <a:endParaRPr sz="1800">
              <a:solidFill>
                <a:schemeClr val="dk1"/>
              </a:solidFill>
            </a:endParaRPr>
          </a:p>
          <a:p>
            <a:pPr indent="0" lvl="0" marL="0" rtl="0" algn="l">
              <a:spcBef>
                <a:spcPts val="0"/>
              </a:spcBef>
              <a:spcAft>
                <a:spcPts val="0"/>
              </a:spcAft>
              <a:buNone/>
            </a:pPr>
            <a:r>
              <a:rPr lang="en" sz="1800">
                <a:solidFill>
                  <a:schemeClr val="dk1"/>
                </a:solidFill>
              </a:rPr>
              <a:t>Pre-download model + tokenizer inside the Docker image layer during build.</a:t>
            </a:r>
            <a:endParaRPr sz="18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a186b5d295_0_258"/>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App Runtime Optimization: Single Warm-up Forward Pass</a:t>
            </a:r>
            <a:endParaRPr/>
          </a:p>
        </p:txBody>
      </p:sp>
      <p:sp>
        <p:nvSpPr>
          <p:cNvPr id="332" name="Google Shape;332;g3a186b5d295_0_258"/>
          <p:cNvSpPr txBox="1"/>
          <p:nvPr>
            <p:ph idx="1" type="body"/>
          </p:nvPr>
        </p:nvSpPr>
        <p:spPr>
          <a:xfrm>
            <a:off x="311700" y="2050175"/>
            <a:ext cx="8520600" cy="21714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rPr lang="en" sz="1800">
                <a:solidFill>
                  <a:schemeClr val="dk1"/>
                </a:solidFill>
              </a:rPr>
              <a:t>After loading the model onto GPU:</a:t>
            </a:r>
            <a:endParaRPr sz="1800">
              <a:solidFill>
                <a:schemeClr val="dk1"/>
              </a:solidFill>
            </a:endParaRPr>
          </a:p>
          <a:p>
            <a:pPr indent="0" lvl="0" marL="0" rtl="0" algn="l">
              <a:spcBef>
                <a:spcPts val="1200"/>
              </a:spcBef>
              <a:spcAft>
                <a:spcPts val="0"/>
              </a:spcAft>
              <a:buNone/>
            </a:pPr>
            <a:r>
              <a:rPr lang="en" sz="1800">
                <a:solidFill>
                  <a:srgbClr val="188038"/>
                </a:solidFill>
                <a:latin typeface="Roboto Mono"/>
                <a:ea typeface="Roboto Mono"/>
                <a:cs typeface="Roboto Mono"/>
                <a:sym typeface="Roboto Mono"/>
              </a:rPr>
              <a:t>with torch.inference_mode(), torch.autocast("cuda", dtype=torch.float16):</a:t>
            </a:r>
            <a:endParaRPr sz="18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 sz="1800">
                <a:solidFill>
                  <a:srgbClr val="188038"/>
                </a:solidFill>
                <a:latin typeface="Roboto Mono"/>
                <a:ea typeface="Roboto Mono"/>
                <a:cs typeface="Roboto Mono"/>
                <a:sym typeface="Roboto Mono"/>
              </a:rPr>
              <a:t>    model(**tokenizer("warmup", return_tensors="pt").to("cuda"))</a:t>
            </a:r>
            <a:endParaRPr sz="18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 sz="1800">
                <a:solidFill>
                  <a:srgbClr val="188038"/>
                </a:solidFill>
                <a:latin typeface="Roboto Mono"/>
                <a:ea typeface="Roboto Mono"/>
                <a:cs typeface="Roboto Mono"/>
                <a:sym typeface="Roboto Mono"/>
              </a:rPr>
              <a:t>torch.cuda.synchronize()</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a186b5d295_0_263"/>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Model Handling Optimization: Use FP16 (If GPU Supports Tensor Cores)</a:t>
            </a:r>
            <a:endParaRPr/>
          </a:p>
        </p:txBody>
      </p:sp>
      <p:sp>
        <p:nvSpPr>
          <p:cNvPr id="338" name="Google Shape;338;g3a186b5d295_0_263"/>
          <p:cNvSpPr txBox="1"/>
          <p:nvPr>
            <p:ph idx="1" type="body"/>
          </p:nvPr>
        </p:nvSpPr>
        <p:spPr>
          <a:xfrm>
            <a:off x="360225" y="1698375"/>
            <a:ext cx="8520600" cy="25476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rPr lang="en" sz="1800">
                <a:solidFill>
                  <a:schemeClr val="dk1"/>
                </a:solidFill>
              </a:rPr>
              <a:t>Right after load:</a:t>
            </a:r>
            <a:endParaRPr sz="1800">
              <a:solidFill>
                <a:schemeClr val="dk1"/>
              </a:solidFill>
            </a:endParaRPr>
          </a:p>
          <a:p>
            <a:pPr indent="0" lvl="0" marL="0" rtl="0" algn="l">
              <a:spcBef>
                <a:spcPts val="1200"/>
              </a:spcBef>
              <a:spcAft>
                <a:spcPts val="0"/>
              </a:spcAft>
              <a:buNone/>
            </a:pPr>
            <a:r>
              <a:rPr lang="en" sz="1800">
                <a:solidFill>
                  <a:srgbClr val="188038"/>
                </a:solidFill>
                <a:latin typeface="Roboto Mono"/>
                <a:ea typeface="Roboto Mono"/>
                <a:cs typeface="Roboto Mono"/>
                <a:sym typeface="Roboto Mono"/>
              </a:rPr>
              <a:t>model = model.half().to("cuda")</a:t>
            </a:r>
            <a:endParaRPr sz="18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1200"/>
              </a:spcBef>
              <a:spcAft>
                <a:spcPts val="0"/>
              </a:spcAft>
              <a:buClr>
                <a:schemeClr val="dk1"/>
              </a:buClr>
              <a:buSzPts val="1100"/>
              <a:buFont typeface="Arial"/>
              <a:buNone/>
            </a:pPr>
            <a:r>
              <a:rPr lang="en" sz="1800">
                <a:solidFill>
                  <a:schemeClr val="dk1"/>
                </a:solidFill>
              </a:rPr>
              <a:t>Inputs:</a:t>
            </a:r>
            <a:endParaRPr sz="1800">
              <a:solidFill>
                <a:schemeClr val="dk1"/>
              </a:solidFill>
            </a:endParaRPr>
          </a:p>
          <a:p>
            <a:pPr indent="0" lvl="0" marL="0" rtl="0" algn="l">
              <a:spcBef>
                <a:spcPts val="1200"/>
              </a:spcBef>
              <a:spcAft>
                <a:spcPts val="0"/>
              </a:spcAft>
              <a:buNone/>
            </a:pPr>
            <a:r>
              <a:rPr lang="en" sz="1800">
                <a:solidFill>
                  <a:srgbClr val="188038"/>
                </a:solidFill>
                <a:latin typeface="Roboto Mono"/>
                <a:ea typeface="Roboto Mono"/>
                <a:cs typeface="Roboto Mono"/>
                <a:sym typeface="Roboto Mono"/>
              </a:rPr>
              <a:t>with torch.autocast("cuda", dtype=torch.float16):</a:t>
            </a:r>
            <a:endParaRPr sz="1800">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 sz="1800">
                <a:solidFill>
                  <a:srgbClr val="188038"/>
                </a:solidFill>
                <a:latin typeface="Roboto Mono"/>
                <a:ea typeface="Roboto Mono"/>
                <a:cs typeface="Roboto Mono"/>
                <a:sym typeface="Roboto Mono"/>
              </a:rPr>
              <a:t>    outputs = model(...)</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a186b5d295_0_291"/>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Model Handling Optimization: Avoid First-Request Tokenizer Cost</a:t>
            </a:r>
            <a:endParaRPr/>
          </a:p>
        </p:txBody>
      </p:sp>
      <p:sp>
        <p:nvSpPr>
          <p:cNvPr id="344" name="Google Shape;344;g3a186b5d295_0_291"/>
          <p:cNvSpPr txBox="1"/>
          <p:nvPr>
            <p:ph idx="1" type="body"/>
          </p:nvPr>
        </p:nvSpPr>
        <p:spPr>
          <a:xfrm>
            <a:off x="311700" y="1746900"/>
            <a:ext cx="8520600" cy="2377500"/>
          </a:xfrm>
          <a:prstGeom prst="rect">
            <a:avLst/>
          </a:prstGeom>
        </p:spPr>
        <p:txBody>
          <a:bodyPr anchorCtr="0" anchor="t" bIns="0" lIns="0" spcFirstLastPara="1" rIns="0" wrap="square" tIns="0">
            <a:noAutofit/>
          </a:bodyPr>
          <a:lstStyle/>
          <a:p>
            <a:pPr indent="0" lvl="0" marL="0" rtl="0" algn="l">
              <a:spcBef>
                <a:spcPts val="1200"/>
              </a:spcBef>
              <a:spcAft>
                <a:spcPts val="0"/>
              </a:spcAft>
              <a:buClr>
                <a:schemeClr val="dk1"/>
              </a:buClr>
              <a:buSzPts val="1100"/>
              <a:buFont typeface="Arial"/>
              <a:buNone/>
            </a:pPr>
            <a:r>
              <a:rPr lang="en" sz="1800">
                <a:solidFill>
                  <a:schemeClr val="dk1"/>
                </a:solidFill>
              </a:rPr>
              <a:t>Warm tokenizer separately:</a:t>
            </a:r>
            <a:endParaRPr sz="1800">
              <a:solidFill>
                <a:schemeClr val="dk1"/>
              </a:solidFill>
            </a:endParaRPr>
          </a:p>
          <a:p>
            <a:pPr indent="0" lvl="0" marL="0" rtl="0" algn="l">
              <a:spcBef>
                <a:spcPts val="1200"/>
              </a:spcBef>
              <a:spcAft>
                <a:spcPts val="0"/>
              </a:spcAft>
              <a:buNone/>
            </a:pPr>
            <a:r>
              <a:rPr lang="en" sz="1800">
                <a:solidFill>
                  <a:srgbClr val="188038"/>
                </a:solidFill>
                <a:latin typeface="Roboto Mono"/>
                <a:ea typeface="Roboto Mono"/>
                <a:cs typeface="Roboto Mono"/>
                <a:sym typeface="Roboto Mono"/>
              </a:rPr>
              <a:t>_ = tokenizer("warmup", return_tensors="pt")</a:t>
            </a:r>
            <a:endParaRPr sz="18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1200"/>
              </a:spcBef>
              <a:spcAft>
                <a:spcPts val="1200"/>
              </a:spcAft>
              <a:buNone/>
            </a:pPr>
            <a:r>
              <a:rPr b="1" lang="en" sz="1800">
                <a:solidFill>
                  <a:schemeClr val="dk1"/>
                </a:solidFill>
              </a:rPr>
              <a:t>Why:</a:t>
            </a:r>
            <a:br>
              <a:rPr b="1" lang="en" sz="1800">
                <a:solidFill>
                  <a:schemeClr val="dk1"/>
                </a:solidFill>
              </a:rPr>
            </a:br>
            <a:r>
              <a:rPr lang="en" sz="1800">
                <a:solidFill>
                  <a:schemeClr val="dk1"/>
                </a:solidFill>
              </a:rPr>
              <a:t>Tokenizers (especially HF fast tokenizers in Rust) initialize internal FSA/trie structures on first call.</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49" name="Shape 349"/>
        <p:cNvGrpSpPr/>
        <p:nvPr/>
      </p:nvGrpSpPr>
      <p:grpSpPr>
        <a:xfrm>
          <a:off x="0" y="0"/>
          <a:ext cx="0" cy="0"/>
          <a:chOff x="0" y="0"/>
          <a:chExt cx="0" cy="0"/>
        </a:xfrm>
      </p:grpSpPr>
      <p:sp>
        <p:nvSpPr>
          <p:cNvPr id="350" name="Google Shape;350;g3a186b5d295_0_68"/>
          <p:cNvSpPr/>
          <p:nvPr/>
        </p:nvSpPr>
        <p:spPr>
          <a:xfrm>
            <a:off x="304800" y="228600"/>
            <a:ext cx="51201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Solution 2: Faster Serialization</a:t>
            </a:r>
            <a:endParaRPr b="0" i="0" sz="2700" u="none" cap="none" strike="noStrike">
              <a:solidFill>
                <a:schemeClr val="dk1"/>
              </a:solidFill>
              <a:latin typeface="Calibri"/>
              <a:ea typeface="Calibri"/>
              <a:cs typeface="Calibri"/>
              <a:sym typeface="Calibri"/>
            </a:endParaRPr>
          </a:p>
        </p:txBody>
      </p:sp>
      <p:sp>
        <p:nvSpPr>
          <p:cNvPr id="351" name="Google Shape;351;g3a186b5d295_0_68"/>
          <p:cNvSpPr/>
          <p:nvPr/>
        </p:nvSpPr>
        <p:spPr>
          <a:xfrm>
            <a:off x="304800" y="1104900"/>
            <a:ext cx="4119300" cy="53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b="1" i="0" lang="en" sz="1500" u="none" cap="none" strike="noStrike">
                <a:solidFill>
                  <a:srgbClr val="292929"/>
                </a:solidFill>
                <a:latin typeface="Arial"/>
                <a:ea typeface="Arial"/>
                <a:cs typeface="Arial"/>
                <a:sym typeface="Arial"/>
              </a:rPr>
              <a:t>Different formats have drastically different load times</a:t>
            </a:r>
            <a:endParaRPr b="0" i="0" sz="1500" u="none" cap="none" strike="noStrike">
              <a:solidFill>
                <a:schemeClr val="dk1"/>
              </a:solidFill>
              <a:latin typeface="Calibri"/>
              <a:ea typeface="Calibri"/>
              <a:cs typeface="Calibri"/>
              <a:sym typeface="Calibri"/>
            </a:endParaRPr>
          </a:p>
        </p:txBody>
      </p:sp>
      <p:sp>
        <p:nvSpPr>
          <p:cNvPr id="352" name="Google Shape;352;g3a186b5d295_0_68"/>
          <p:cNvSpPr/>
          <p:nvPr/>
        </p:nvSpPr>
        <p:spPr>
          <a:xfrm>
            <a:off x="304800" y="1905000"/>
            <a:ext cx="4038600" cy="647700"/>
          </a:xfrm>
          <a:prstGeom prst="roundRect">
            <a:avLst>
              <a:gd fmla="val 9412" name="adj"/>
            </a:avLst>
          </a:prstGeom>
          <a:solidFill>
            <a:srgbClr val="FFE5E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3" name="Google Shape;353;g3a186b5d295_0_68"/>
          <p:cNvSpPr/>
          <p:nvPr/>
        </p:nvSpPr>
        <p:spPr>
          <a:xfrm>
            <a:off x="457200" y="2095500"/>
            <a:ext cx="38085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1" i="0" lang="en" sz="1350" u="none" cap="none" strike="noStrike">
                <a:solidFill>
                  <a:srgbClr val="292929"/>
                </a:solidFill>
                <a:latin typeface="Arial"/>
                <a:ea typeface="Arial"/>
                <a:cs typeface="Arial"/>
                <a:sym typeface="Arial"/>
              </a:rPr>
              <a:t>PyTorch pickle:</a:t>
            </a:r>
            <a:r>
              <a:rPr b="0" i="0" lang="en" sz="1350" u="none" cap="none" strike="noStrike">
                <a:solidFill>
                  <a:srgbClr val="292929"/>
                </a:solidFill>
                <a:latin typeface="Arial"/>
                <a:ea typeface="Arial"/>
                <a:cs typeface="Arial"/>
                <a:sym typeface="Arial"/>
              </a:rPr>
              <a:t> 12s (slow)</a:t>
            </a:r>
            <a:endParaRPr b="0" i="0" sz="1350" u="none" cap="none" strike="noStrike">
              <a:solidFill>
                <a:schemeClr val="dk1"/>
              </a:solidFill>
              <a:latin typeface="Calibri"/>
              <a:ea typeface="Calibri"/>
              <a:cs typeface="Calibri"/>
              <a:sym typeface="Calibri"/>
            </a:endParaRPr>
          </a:p>
        </p:txBody>
      </p:sp>
      <p:sp>
        <p:nvSpPr>
          <p:cNvPr id="354" name="Google Shape;354;g3a186b5d295_0_68"/>
          <p:cNvSpPr/>
          <p:nvPr/>
        </p:nvSpPr>
        <p:spPr>
          <a:xfrm>
            <a:off x="304800" y="2667000"/>
            <a:ext cx="4038600" cy="647700"/>
          </a:xfrm>
          <a:prstGeom prst="roundRect">
            <a:avLst>
              <a:gd fmla="val 9412" name="adj"/>
            </a:avLst>
          </a:prstGeom>
          <a:solidFill>
            <a:srgbClr val="FFF3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5" name="Google Shape;355;g3a186b5d295_0_68"/>
          <p:cNvSpPr/>
          <p:nvPr/>
        </p:nvSpPr>
        <p:spPr>
          <a:xfrm>
            <a:off x="457200" y="2857500"/>
            <a:ext cx="38085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1" i="0" lang="en" sz="1350" u="none" cap="none" strike="noStrike">
                <a:solidFill>
                  <a:srgbClr val="292929"/>
                </a:solidFill>
                <a:latin typeface="Arial"/>
                <a:ea typeface="Arial"/>
                <a:cs typeface="Arial"/>
                <a:sym typeface="Arial"/>
              </a:rPr>
              <a:t>TorchScript:</a:t>
            </a:r>
            <a:r>
              <a:rPr b="0" i="0" lang="en" sz="1350" u="none" cap="none" strike="noStrike">
                <a:solidFill>
                  <a:srgbClr val="292929"/>
                </a:solidFill>
                <a:latin typeface="Arial"/>
                <a:ea typeface="Arial"/>
                <a:cs typeface="Arial"/>
                <a:sym typeface="Arial"/>
              </a:rPr>
              <a:t> 7s (better)</a:t>
            </a:r>
            <a:endParaRPr b="0" i="0" sz="1350" u="none" cap="none" strike="noStrike">
              <a:solidFill>
                <a:schemeClr val="dk1"/>
              </a:solidFill>
              <a:latin typeface="Calibri"/>
              <a:ea typeface="Calibri"/>
              <a:cs typeface="Calibri"/>
              <a:sym typeface="Calibri"/>
            </a:endParaRPr>
          </a:p>
        </p:txBody>
      </p:sp>
      <p:sp>
        <p:nvSpPr>
          <p:cNvPr id="356" name="Google Shape;356;g3a186b5d295_0_68"/>
          <p:cNvSpPr/>
          <p:nvPr/>
        </p:nvSpPr>
        <p:spPr>
          <a:xfrm>
            <a:off x="304800" y="3429000"/>
            <a:ext cx="4038600" cy="647700"/>
          </a:xfrm>
          <a:prstGeom prst="roundRect">
            <a:avLst>
              <a:gd fmla="val 9412" name="adj"/>
            </a:avLst>
          </a:prstGeom>
          <a:solidFill>
            <a:srgbClr val="FFF9C4"/>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7" name="Google Shape;357;g3a186b5d295_0_68"/>
          <p:cNvSpPr/>
          <p:nvPr/>
        </p:nvSpPr>
        <p:spPr>
          <a:xfrm>
            <a:off x="457200" y="3619500"/>
            <a:ext cx="38085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1" i="0" lang="en" sz="1350" u="none" cap="none" strike="noStrike">
                <a:solidFill>
                  <a:srgbClr val="292929"/>
                </a:solidFill>
                <a:latin typeface="Arial"/>
                <a:ea typeface="Arial"/>
                <a:cs typeface="Arial"/>
                <a:sym typeface="Arial"/>
              </a:rPr>
              <a:t>Safetensors:</a:t>
            </a:r>
            <a:r>
              <a:rPr b="0" i="0" lang="en" sz="1350" u="none" cap="none" strike="noStrike">
                <a:solidFill>
                  <a:srgbClr val="292929"/>
                </a:solidFill>
                <a:latin typeface="Arial"/>
                <a:ea typeface="Arial"/>
                <a:cs typeface="Arial"/>
                <a:sym typeface="Arial"/>
              </a:rPr>
              <a:t> 5s (good)</a:t>
            </a:r>
            <a:endParaRPr b="0" i="0" sz="1350" u="none" cap="none" strike="noStrike">
              <a:solidFill>
                <a:schemeClr val="dk1"/>
              </a:solidFill>
              <a:latin typeface="Calibri"/>
              <a:ea typeface="Calibri"/>
              <a:cs typeface="Calibri"/>
              <a:sym typeface="Calibri"/>
            </a:endParaRPr>
          </a:p>
        </p:txBody>
      </p:sp>
      <p:sp>
        <p:nvSpPr>
          <p:cNvPr id="358" name="Google Shape;358;g3a186b5d295_0_68"/>
          <p:cNvSpPr/>
          <p:nvPr/>
        </p:nvSpPr>
        <p:spPr>
          <a:xfrm>
            <a:off x="304800" y="4191000"/>
            <a:ext cx="4038600" cy="647700"/>
          </a:xfrm>
          <a:prstGeom prst="roundRect">
            <a:avLst>
              <a:gd fmla="val 9412" name="adj"/>
            </a:avLst>
          </a:prstGeom>
          <a:solidFill>
            <a:srgbClr val="E8F5E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9" name="Google Shape;359;g3a186b5d295_0_68"/>
          <p:cNvSpPr/>
          <p:nvPr/>
        </p:nvSpPr>
        <p:spPr>
          <a:xfrm>
            <a:off x="457200" y="4381500"/>
            <a:ext cx="38085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1" i="0" lang="en" sz="1350" u="none" cap="none" strike="noStrike">
                <a:solidFill>
                  <a:srgbClr val="292929"/>
                </a:solidFill>
                <a:latin typeface="Arial"/>
                <a:ea typeface="Arial"/>
                <a:cs typeface="Arial"/>
                <a:sym typeface="Arial"/>
              </a:rPr>
              <a:t>ONNX:</a:t>
            </a:r>
            <a:r>
              <a:rPr b="0" i="0" lang="en" sz="1350" u="none" cap="none" strike="noStrike">
                <a:solidFill>
                  <a:srgbClr val="292929"/>
                </a:solidFill>
                <a:latin typeface="Arial"/>
                <a:ea typeface="Arial"/>
                <a:cs typeface="Arial"/>
                <a:sym typeface="Arial"/>
              </a:rPr>
              <a:t> 4s (fastest)</a:t>
            </a:r>
            <a:endParaRPr b="0" i="0" sz="1350" u="none" cap="none" strike="noStrike">
              <a:solidFill>
                <a:schemeClr val="dk1"/>
              </a:solidFill>
              <a:latin typeface="Calibri"/>
              <a:ea typeface="Calibri"/>
              <a:cs typeface="Calibri"/>
              <a:sym typeface="Calibri"/>
            </a:endParaRPr>
          </a:p>
        </p:txBody>
      </p:sp>
      <p:pic>
        <p:nvPicPr>
          <p:cNvPr id="360" name="Google Shape;360;g3a186b5d295_0_68"/>
          <p:cNvPicPr preferRelativeResize="0"/>
          <p:nvPr/>
        </p:nvPicPr>
        <p:blipFill rotWithShape="1">
          <a:blip r:embed="rId3">
            <a:alphaModFix/>
          </a:blip>
          <a:srcRect b="0" l="0" r="0" t="0"/>
          <a:stretch/>
        </p:blipFill>
        <p:spPr>
          <a:xfrm>
            <a:off x="4800600" y="1438275"/>
            <a:ext cx="4038600" cy="30291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a186b5d295_0_253"/>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b="1" lang="en">
                <a:solidFill>
                  <a:schemeClr val="accent1"/>
                </a:solidFill>
              </a:rPr>
              <a:t>Model Snapshotting / Serialization</a:t>
            </a:r>
            <a:endParaRPr>
              <a:solidFill>
                <a:schemeClr val="accent1"/>
              </a:solidFill>
            </a:endParaRPr>
          </a:p>
        </p:txBody>
      </p:sp>
      <p:sp>
        <p:nvSpPr>
          <p:cNvPr id="366" name="Google Shape;366;g3a186b5d295_0_253"/>
          <p:cNvSpPr txBox="1"/>
          <p:nvPr>
            <p:ph idx="1" type="body"/>
          </p:nvPr>
        </p:nvSpPr>
        <p:spPr>
          <a:xfrm>
            <a:off x="311700" y="1577100"/>
            <a:ext cx="8520600" cy="2850600"/>
          </a:xfrm>
          <a:prstGeom prst="rect">
            <a:avLst/>
          </a:prstGeom>
        </p:spPr>
        <p:txBody>
          <a:bodyPr anchorCtr="0" anchor="t" bIns="0" lIns="0" spcFirstLastPara="1" rIns="0" wrap="square" tIns="0">
            <a:noAutofit/>
          </a:bodyPr>
          <a:lstStyle/>
          <a:p>
            <a:pPr indent="-342900" lvl="1" marL="914400" rtl="0" algn="l">
              <a:spcBef>
                <a:spcPts val="1200"/>
              </a:spcBef>
              <a:spcAft>
                <a:spcPts val="0"/>
              </a:spcAft>
              <a:buClr>
                <a:schemeClr val="dk1"/>
              </a:buClr>
              <a:buSzPts val="1800"/>
              <a:buChar char="○"/>
            </a:pPr>
            <a:r>
              <a:rPr b="1" lang="en" sz="1800">
                <a:solidFill>
                  <a:schemeClr val="dk1"/>
                </a:solidFill>
              </a:rPr>
              <a:t>TorchScript</a:t>
            </a:r>
            <a:r>
              <a:rPr lang="en" sz="1800">
                <a:solidFill>
                  <a:schemeClr val="dk1"/>
                </a:solidFill>
              </a:rPr>
              <a:t> (</a:t>
            </a:r>
            <a:r>
              <a:rPr lang="en" sz="1800">
                <a:solidFill>
                  <a:srgbClr val="188038"/>
                </a:solidFill>
                <a:latin typeface="Roboto Mono"/>
                <a:ea typeface="Roboto Mono"/>
                <a:cs typeface="Roboto Mono"/>
                <a:sym typeface="Roboto Mono"/>
              </a:rPr>
              <a:t>torch.jit.trace</a:t>
            </a:r>
            <a:r>
              <a:rPr lang="en" sz="1800">
                <a:solidFill>
                  <a:schemeClr val="dk1"/>
                </a:solidFill>
              </a:rPr>
              <a:t> / </a:t>
            </a:r>
            <a:r>
              <a:rPr lang="en" sz="1800">
                <a:solidFill>
                  <a:srgbClr val="188038"/>
                </a:solidFill>
                <a:latin typeface="Roboto Mono"/>
                <a:ea typeface="Roboto Mono"/>
                <a:cs typeface="Roboto Mono"/>
                <a:sym typeface="Roboto Mono"/>
              </a:rPr>
              <a:t>torch.jit.script</a:t>
            </a:r>
            <a:r>
              <a:rPr lang="en" sz="1800">
                <a:solidFill>
                  <a:schemeClr val="dk1"/>
                </a:solidFill>
              </a:rPr>
              <a:t>)</a:t>
            </a:r>
            <a:br>
              <a:rPr lang="en" sz="1800">
                <a:solidFill>
                  <a:schemeClr val="dk1"/>
                </a:solidFill>
              </a:rPr>
            </a:br>
            <a:endParaRPr sz="1800">
              <a:solidFill>
                <a:schemeClr val="dk1"/>
              </a:solidFill>
            </a:endParaRPr>
          </a:p>
          <a:p>
            <a:pPr indent="-342900" lvl="1" marL="914400" rtl="0" algn="l">
              <a:spcBef>
                <a:spcPts val="0"/>
              </a:spcBef>
              <a:spcAft>
                <a:spcPts val="0"/>
              </a:spcAft>
              <a:buClr>
                <a:schemeClr val="dk1"/>
              </a:buClr>
              <a:buSzPts val="1800"/>
              <a:buChar char="○"/>
            </a:pPr>
            <a:r>
              <a:rPr b="1" lang="en" sz="1800">
                <a:solidFill>
                  <a:srgbClr val="188038"/>
                </a:solidFill>
                <a:latin typeface="Roboto Mono"/>
                <a:ea typeface="Roboto Mono"/>
                <a:cs typeface="Roboto Mono"/>
                <a:sym typeface="Roboto Mono"/>
              </a:rPr>
              <a:t>safetensors</a:t>
            </a:r>
            <a:r>
              <a:rPr b="1" lang="en" sz="1800">
                <a:solidFill>
                  <a:schemeClr val="dk1"/>
                </a:solidFill>
              </a:rPr>
              <a:t> single-file</a:t>
            </a:r>
            <a:r>
              <a:rPr lang="en" sz="1800">
                <a:solidFill>
                  <a:schemeClr val="dk1"/>
                </a:solidFill>
              </a:rPr>
              <a:t> converted and memory-mapped</a:t>
            </a:r>
            <a:br>
              <a:rPr lang="en" sz="1800">
                <a:solidFill>
                  <a:schemeClr val="dk1"/>
                </a:solidFill>
              </a:rPr>
            </a:br>
            <a:endParaRPr sz="1800">
              <a:solidFill>
                <a:schemeClr val="dk1"/>
              </a:solidFill>
            </a:endParaRPr>
          </a:p>
          <a:p>
            <a:pPr indent="-342900" lvl="1" marL="914400" rtl="0" algn="l">
              <a:spcBef>
                <a:spcPts val="0"/>
              </a:spcBef>
              <a:spcAft>
                <a:spcPts val="0"/>
              </a:spcAft>
              <a:buClr>
                <a:schemeClr val="dk1"/>
              </a:buClr>
              <a:buSzPts val="1800"/>
              <a:buChar char="○"/>
            </a:pPr>
            <a:r>
              <a:rPr b="1" lang="en" sz="1800">
                <a:solidFill>
                  <a:schemeClr val="dk1"/>
                </a:solidFill>
              </a:rPr>
              <a:t>PyTorch state dict snapshot</a:t>
            </a:r>
            <a:r>
              <a:rPr lang="en" sz="1800">
                <a:solidFill>
                  <a:schemeClr val="dk1"/>
                </a:solidFill>
              </a:rPr>
              <a:t> already converted to </a:t>
            </a:r>
            <a:r>
              <a:rPr lang="en" sz="1800">
                <a:solidFill>
                  <a:srgbClr val="188038"/>
                </a:solidFill>
                <a:latin typeface="Roboto Mono"/>
                <a:ea typeface="Roboto Mono"/>
                <a:cs typeface="Roboto Mono"/>
                <a:sym typeface="Roboto Mono"/>
              </a:rPr>
              <a:t>fp16</a:t>
            </a:r>
            <a:br>
              <a:rPr lang="en" sz="1800">
                <a:solidFill>
                  <a:srgbClr val="188038"/>
                </a:solidFill>
                <a:latin typeface="Roboto Mono"/>
                <a:ea typeface="Roboto Mono"/>
                <a:cs typeface="Roboto Mono"/>
                <a:sym typeface="Roboto Mono"/>
              </a:rPr>
            </a:br>
            <a:endParaRPr sz="1800">
              <a:solidFill>
                <a:srgbClr val="188038"/>
              </a:solidFill>
              <a:latin typeface="Roboto Mono"/>
              <a:ea typeface="Roboto Mono"/>
              <a:cs typeface="Roboto Mono"/>
              <a:sym typeface="Roboto Mono"/>
            </a:endParaRPr>
          </a:p>
          <a:p>
            <a:pPr indent="0" lvl="0" marL="0" rtl="0" algn="l">
              <a:spcBef>
                <a:spcPts val="1200"/>
              </a:spcBef>
              <a:spcAft>
                <a:spcPts val="1200"/>
              </a:spcAft>
              <a:buNone/>
            </a:pPr>
            <a:r>
              <a:rPr b="1" lang="en" sz="1800">
                <a:solidFill>
                  <a:schemeClr val="dk1"/>
                </a:solidFill>
              </a:rPr>
              <a:t>Effect:</a:t>
            </a:r>
            <a:br>
              <a:rPr b="1" lang="en" sz="1800">
                <a:solidFill>
                  <a:schemeClr val="dk1"/>
                </a:solidFill>
              </a:rPr>
            </a:br>
            <a:r>
              <a:rPr lang="en" sz="1800">
                <a:solidFill>
                  <a:schemeClr val="dk1"/>
                </a:solidFill>
              </a:rPr>
              <a:t> Reduces startup CPU work, avoids re-running layer initialization code.</a:t>
            </a:r>
            <a:endParaRPr b="1" sz="18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a186b5d295_0_349"/>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b="1" lang="en">
                <a:solidFill>
                  <a:schemeClr val="accent1"/>
                </a:solidFill>
              </a:rPr>
              <a:t>Model Snapshotting / Serialization</a:t>
            </a:r>
            <a:endParaRPr/>
          </a:p>
        </p:txBody>
      </p:sp>
      <p:sp>
        <p:nvSpPr>
          <p:cNvPr id="372" name="Google Shape;372;g3a186b5d295_0_349"/>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1800">
                <a:solidFill>
                  <a:srgbClr val="001080"/>
                </a:solidFill>
                <a:highlight>
                  <a:srgbClr val="FFFFFF"/>
                </a:highlight>
                <a:latin typeface="Courier New"/>
                <a:ea typeface="Courier New"/>
                <a:cs typeface="Courier New"/>
                <a:sym typeface="Courier New"/>
              </a:rPr>
              <a:t>model</a:t>
            </a:r>
            <a:r>
              <a:rPr lang="en" sz="1800">
                <a:solidFill>
                  <a:schemeClr val="dk1"/>
                </a:solidFill>
                <a:highlight>
                  <a:srgbClr val="FFFFFF"/>
                </a:highlight>
                <a:latin typeface="Courier New"/>
                <a:ea typeface="Courier New"/>
                <a:cs typeface="Courier New"/>
                <a:sym typeface="Courier New"/>
              </a:rPr>
              <a:t> = AutoModelForSequenceClassification.from_pretrained(name).half().eval()</a:t>
            </a:r>
            <a:endParaRPr sz="18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800">
                <a:solidFill>
                  <a:srgbClr val="001080"/>
                </a:solidFill>
                <a:highlight>
                  <a:srgbClr val="FFFFFF"/>
                </a:highlight>
                <a:latin typeface="Courier New"/>
                <a:ea typeface="Courier New"/>
                <a:cs typeface="Courier New"/>
                <a:sym typeface="Courier New"/>
              </a:rPr>
              <a:t>model</a:t>
            </a:r>
            <a:r>
              <a:rPr lang="en" sz="1800">
                <a:solidFill>
                  <a:schemeClr val="dk1"/>
                </a:solidFill>
                <a:highlight>
                  <a:srgbClr val="FFFFFF"/>
                </a:highlight>
                <a:latin typeface="Courier New"/>
                <a:ea typeface="Courier New"/>
                <a:cs typeface="Courier New"/>
                <a:sym typeface="Courier New"/>
              </a:rPr>
              <a:t> = </a:t>
            </a:r>
            <a:r>
              <a:rPr lang="en" sz="1800" u="sng">
                <a:solidFill>
                  <a:schemeClr val="hlink"/>
                </a:solidFill>
                <a:highlight>
                  <a:srgbClr val="FFFFFF"/>
                </a:highlight>
                <a:latin typeface="Courier New"/>
                <a:ea typeface="Courier New"/>
                <a:cs typeface="Courier New"/>
                <a:sym typeface="Courier New"/>
                <a:hlinkClick r:id="rId3"/>
              </a:rPr>
              <a:t>model.to</a:t>
            </a:r>
            <a:r>
              <a:rPr lang="en" sz="1800">
                <a:solidFill>
                  <a:schemeClr val="dk1"/>
                </a:solidFill>
                <a:highlight>
                  <a:srgbClr val="FFFFFF"/>
                </a:highlight>
                <a:latin typeface="Courier New"/>
                <a:ea typeface="Courier New"/>
                <a:cs typeface="Courier New"/>
                <a:sym typeface="Courier New"/>
              </a:rPr>
              <a:t>(</a:t>
            </a:r>
            <a:r>
              <a:rPr lang="en" sz="1800">
                <a:solidFill>
                  <a:srgbClr val="A31515"/>
                </a:solidFill>
                <a:highlight>
                  <a:srgbClr val="FFFFFF"/>
                </a:highlight>
                <a:latin typeface="Courier New"/>
                <a:ea typeface="Courier New"/>
                <a:cs typeface="Courier New"/>
                <a:sym typeface="Courier New"/>
              </a:rPr>
              <a:t>"cuda"</a:t>
            </a:r>
            <a:r>
              <a:rPr lang="en" sz="1800">
                <a:solidFill>
                  <a:schemeClr val="dk1"/>
                </a:solidFill>
                <a:highlight>
                  <a:srgbClr val="FFFFFF"/>
                </a:highlight>
                <a:latin typeface="Courier New"/>
                <a:ea typeface="Courier New"/>
                <a:cs typeface="Courier New"/>
                <a:sym typeface="Courier New"/>
              </a:rPr>
              <a:t>)</a:t>
            </a:r>
            <a:endParaRPr sz="18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267F99"/>
                </a:solidFill>
                <a:highlight>
                  <a:srgbClr val="FFFFFF"/>
                </a:highlight>
                <a:latin typeface="Courier New"/>
                <a:ea typeface="Courier New"/>
                <a:cs typeface="Courier New"/>
                <a:sym typeface="Courier New"/>
              </a:rPr>
              <a:t>torch</a:t>
            </a:r>
            <a:r>
              <a:rPr lang="en" sz="1800">
                <a:solidFill>
                  <a:schemeClr val="dk1"/>
                </a:solidFill>
                <a:highlight>
                  <a:srgbClr val="FFFFFF"/>
                </a:highlight>
                <a:latin typeface="Courier New"/>
                <a:ea typeface="Courier New"/>
                <a:cs typeface="Courier New"/>
                <a:sym typeface="Courier New"/>
              </a:rPr>
              <a:t>.jit.save(</a:t>
            </a:r>
            <a:r>
              <a:rPr lang="en" sz="1800">
                <a:solidFill>
                  <a:srgbClr val="267F99"/>
                </a:solidFill>
                <a:highlight>
                  <a:srgbClr val="FFFFFF"/>
                </a:highlight>
                <a:latin typeface="Courier New"/>
                <a:ea typeface="Courier New"/>
                <a:cs typeface="Courier New"/>
                <a:sym typeface="Courier New"/>
              </a:rPr>
              <a:t>torch</a:t>
            </a:r>
            <a:r>
              <a:rPr lang="en" sz="1800">
                <a:solidFill>
                  <a:schemeClr val="dk1"/>
                </a:solidFill>
                <a:highlight>
                  <a:srgbClr val="FFFFFF"/>
                </a:highlight>
                <a:latin typeface="Courier New"/>
                <a:ea typeface="Courier New"/>
                <a:cs typeface="Courier New"/>
                <a:sym typeface="Courier New"/>
              </a:rPr>
              <a:t>.jit.trace(</a:t>
            </a:r>
            <a:r>
              <a:rPr lang="en" sz="1800">
                <a:solidFill>
                  <a:srgbClr val="001080"/>
                </a:solidFill>
                <a:highlight>
                  <a:srgbClr val="FFFFFF"/>
                </a:highlight>
                <a:latin typeface="Courier New"/>
                <a:ea typeface="Courier New"/>
                <a:cs typeface="Courier New"/>
                <a:sym typeface="Courier New"/>
              </a:rPr>
              <a:t>model</a:t>
            </a:r>
            <a:r>
              <a:rPr lang="en" sz="1800">
                <a:solidFill>
                  <a:schemeClr val="dk1"/>
                </a:solidFill>
                <a:highlight>
                  <a:srgbClr val="FFFFFF"/>
                </a:highlight>
                <a:latin typeface="Courier New"/>
                <a:ea typeface="Courier New"/>
                <a:cs typeface="Courier New"/>
                <a:sym typeface="Courier New"/>
              </a:rPr>
              <a:t>, example_inputs), </a:t>
            </a:r>
            <a:r>
              <a:rPr lang="en" sz="1800">
                <a:solidFill>
                  <a:srgbClr val="A31515"/>
                </a:solidFill>
                <a:highlight>
                  <a:srgbClr val="FFFFFF"/>
                </a:highlight>
                <a:latin typeface="Courier New"/>
                <a:ea typeface="Courier New"/>
                <a:cs typeface="Courier New"/>
                <a:sym typeface="Courier New"/>
              </a:rPr>
              <a:t>"model.pt"</a:t>
            </a:r>
            <a:r>
              <a:rPr lang="en" sz="1800">
                <a:solidFill>
                  <a:schemeClr val="dk1"/>
                </a:solidFill>
                <a:highlight>
                  <a:srgbClr val="FFFFFF"/>
                </a:highlight>
                <a:latin typeface="Courier New"/>
                <a:ea typeface="Courier New"/>
                <a:cs typeface="Courier New"/>
                <a:sym typeface="Courier New"/>
              </a:rPr>
              <a:t>)</a:t>
            </a:r>
            <a:endParaRPr sz="18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77" name="Shape 377"/>
        <p:cNvGrpSpPr/>
        <p:nvPr/>
      </p:nvGrpSpPr>
      <p:grpSpPr>
        <a:xfrm>
          <a:off x="0" y="0"/>
          <a:ext cx="0" cy="0"/>
          <a:chOff x="0" y="0"/>
          <a:chExt cx="0" cy="0"/>
        </a:xfrm>
      </p:grpSpPr>
      <p:sp>
        <p:nvSpPr>
          <p:cNvPr id="378" name="Google Shape;378;g3a186b5d295_0_83"/>
          <p:cNvSpPr/>
          <p:nvPr/>
        </p:nvSpPr>
        <p:spPr>
          <a:xfrm>
            <a:off x="304800" y="228600"/>
            <a:ext cx="43623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Solution 3: Lazy Loading</a:t>
            </a:r>
            <a:endParaRPr b="0" i="0" sz="2700" u="none" cap="none" strike="noStrike">
              <a:solidFill>
                <a:schemeClr val="dk1"/>
              </a:solidFill>
              <a:latin typeface="Calibri"/>
              <a:ea typeface="Calibri"/>
              <a:cs typeface="Calibri"/>
              <a:sym typeface="Calibri"/>
            </a:endParaRPr>
          </a:p>
        </p:txBody>
      </p:sp>
      <p:sp>
        <p:nvSpPr>
          <p:cNvPr id="379" name="Google Shape;379;g3a186b5d295_0_83"/>
          <p:cNvSpPr/>
          <p:nvPr/>
        </p:nvSpPr>
        <p:spPr>
          <a:xfrm>
            <a:off x="327800" y="1144725"/>
            <a:ext cx="4061700" cy="3138000"/>
          </a:xfrm>
          <a:prstGeom prst="roundRect">
            <a:avLst>
              <a:gd fmla="val 3137"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0" name="Google Shape;380;g3a186b5d295_0_83"/>
          <p:cNvSpPr/>
          <p:nvPr/>
        </p:nvSpPr>
        <p:spPr>
          <a:xfrm>
            <a:off x="571499" y="1513890"/>
            <a:ext cx="3645900" cy="492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92929"/>
              </a:buClr>
              <a:buSzPts val="1800"/>
              <a:buFont typeface="Arial"/>
              <a:buNone/>
            </a:pPr>
            <a:r>
              <a:rPr b="1" i="0" lang="en" sz="2000" u="none" cap="none" strike="noStrike">
                <a:solidFill>
                  <a:srgbClr val="292929"/>
                </a:solidFill>
                <a:latin typeface="Arial"/>
                <a:ea typeface="Arial"/>
                <a:cs typeface="Arial"/>
                <a:sym typeface="Arial"/>
              </a:rPr>
              <a:t>The Pattern</a:t>
            </a:r>
            <a:endParaRPr b="0" i="0" sz="2000" u="none" cap="none" strike="noStrike">
              <a:solidFill>
                <a:schemeClr val="dk1"/>
              </a:solidFill>
              <a:latin typeface="Calibri"/>
              <a:ea typeface="Calibri"/>
              <a:cs typeface="Calibri"/>
              <a:sym typeface="Calibri"/>
            </a:endParaRPr>
          </a:p>
        </p:txBody>
      </p:sp>
      <p:sp>
        <p:nvSpPr>
          <p:cNvPr id="381" name="Google Shape;381;g3a186b5d295_0_83"/>
          <p:cNvSpPr/>
          <p:nvPr/>
        </p:nvSpPr>
        <p:spPr>
          <a:xfrm>
            <a:off x="571499" y="2006109"/>
            <a:ext cx="3574200" cy="1907400"/>
          </a:xfrm>
          <a:prstGeom prst="rect">
            <a:avLst/>
          </a:prstGeom>
          <a:noFill/>
          <a:ln>
            <a:noFill/>
          </a:ln>
        </p:spPr>
        <p:txBody>
          <a:bodyPr anchorCtr="0" anchor="t" bIns="0" lIns="85725" spcFirstLastPara="1" rIns="0" wrap="square" tIns="0">
            <a:noAutofit/>
          </a:bodyPr>
          <a:lstStyle/>
          <a:p>
            <a:pPr indent="-104775" lvl="0" marL="85725" marR="0" rtl="0" algn="l">
              <a:lnSpc>
                <a:spcPct val="155555"/>
              </a:lnSpc>
              <a:spcBef>
                <a:spcPts val="0"/>
              </a:spcBef>
              <a:spcAft>
                <a:spcPts val="0"/>
              </a:spcAft>
              <a:buClr>
                <a:srgbClr val="292929"/>
              </a:buClr>
              <a:buSzPts val="1650"/>
              <a:buFont typeface="Arial"/>
              <a:buChar char="•"/>
            </a:pPr>
            <a:r>
              <a:rPr b="0" i="0" lang="en" sz="1650" u="none" cap="none" strike="noStrike">
                <a:solidFill>
                  <a:srgbClr val="292929"/>
                </a:solidFill>
                <a:latin typeface="Arial"/>
                <a:ea typeface="Arial"/>
                <a:cs typeface="Arial"/>
                <a:sym typeface="Arial"/>
              </a:rPr>
              <a:t>Container starts instantly</a:t>
            </a:r>
            <a:endParaRPr b="0" i="0" sz="1650" u="none" cap="none" strike="noStrike">
              <a:solidFill>
                <a:schemeClr val="dk1"/>
              </a:solidFill>
              <a:latin typeface="Calibri"/>
              <a:ea typeface="Calibri"/>
              <a:cs typeface="Calibri"/>
              <a:sym typeface="Calibri"/>
            </a:endParaRPr>
          </a:p>
          <a:p>
            <a:pPr indent="-104775" lvl="0" marL="85725" marR="0" rtl="0" algn="l">
              <a:lnSpc>
                <a:spcPct val="155555"/>
              </a:lnSpc>
              <a:spcBef>
                <a:spcPts val="0"/>
              </a:spcBef>
              <a:spcAft>
                <a:spcPts val="0"/>
              </a:spcAft>
              <a:buClr>
                <a:srgbClr val="292929"/>
              </a:buClr>
              <a:buSzPts val="1650"/>
              <a:buFont typeface="Arial"/>
              <a:buChar char="•"/>
            </a:pPr>
            <a:r>
              <a:rPr b="0" i="0" lang="en" sz="1650" u="none" cap="none" strike="noStrike">
                <a:solidFill>
                  <a:srgbClr val="292929"/>
                </a:solidFill>
                <a:latin typeface="Arial"/>
                <a:ea typeface="Arial"/>
                <a:cs typeface="Arial"/>
                <a:sym typeface="Arial"/>
              </a:rPr>
              <a:t>Model remains unloaded</a:t>
            </a:r>
            <a:endParaRPr b="0" i="0" sz="1650" u="none" cap="none" strike="noStrike">
              <a:solidFill>
                <a:schemeClr val="dk1"/>
              </a:solidFill>
              <a:latin typeface="Calibri"/>
              <a:ea typeface="Calibri"/>
              <a:cs typeface="Calibri"/>
              <a:sym typeface="Calibri"/>
            </a:endParaRPr>
          </a:p>
          <a:p>
            <a:pPr indent="-104775" lvl="0" marL="85725" marR="0" rtl="0" algn="l">
              <a:lnSpc>
                <a:spcPct val="155555"/>
              </a:lnSpc>
              <a:spcBef>
                <a:spcPts val="0"/>
              </a:spcBef>
              <a:spcAft>
                <a:spcPts val="0"/>
              </a:spcAft>
              <a:buClr>
                <a:srgbClr val="292929"/>
              </a:buClr>
              <a:buSzPts val="1650"/>
              <a:buFont typeface="Arial"/>
              <a:buChar char="•"/>
            </a:pPr>
            <a:r>
              <a:rPr b="0" i="0" lang="en" sz="1650" u="none" cap="none" strike="noStrike">
                <a:solidFill>
                  <a:srgbClr val="292929"/>
                </a:solidFill>
                <a:latin typeface="Arial"/>
                <a:ea typeface="Arial"/>
                <a:cs typeface="Arial"/>
                <a:sym typeface="Arial"/>
              </a:rPr>
              <a:t>First request triggers load</a:t>
            </a:r>
            <a:endParaRPr b="0" i="0" sz="1650" u="none" cap="none" strike="noStrike">
              <a:solidFill>
                <a:schemeClr val="dk1"/>
              </a:solidFill>
              <a:latin typeface="Calibri"/>
              <a:ea typeface="Calibri"/>
              <a:cs typeface="Calibri"/>
              <a:sym typeface="Calibri"/>
            </a:endParaRPr>
          </a:p>
          <a:p>
            <a:pPr indent="-104775" lvl="0" marL="85725" marR="0" rtl="0" algn="l">
              <a:lnSpc>
                <a:spcPct val="155555"/>
              </a:lnSpc>
              <a:spcBef>
                <a:spcPts val="0"/>
              </a:spcBef>
              <a:spcAft>
                <a:spcPts val="0"/>
              </a:spcAft>
              <a:buClr>
                <a:srgbClr val="292929"/>
              </a:buClr>
              <a:buSzPts val="1650"/>
              <a:buFont typeface="Arial"/>
              <a:buChar char="•"/>
            </a:pPr>
            <a:r>
              <a:rPr b="0" i="0" lang="en" sz="1650" u="none" cap="none" strike="noStrike">
                <a:solidFill>
                  <a:srgbClr val="292929"/>
                </a:solidFill>
                <a:latin typeface="Arial"/>
                <a:ea typeface="Arial"/>
                <a:cs typeface="Arial"/>
                <a:sym typeface="Arial"/>
              </a:rPr>
              <a:t>Subsequent requests are fast</a:t>
            </a:r>
            <a:endParaRPr b="0" i="0" sz="1650" u="none" cap="none" strike="noStrike">
              <a:solidFill>
                <a:schemeClr val="dk1"/>
              </a:solidFill>
              <a:latin typeface="Calibri"/>
              <a:ea typeface="Calibri"/>
              <a:cs typeface="Calibri"/>
              <a:sym typeface="Calibri"/>
            </a:endParaRPr>
          </a:p>
        </p:txBody>
      </p:sp>
      <p:sp>
        <p:nvSpPr>
          <p:cNvPr id="382" name="Google Shape;382;g3a186b5d295_0_83"/>
          <p:cNvSpPr/>
          <p:nvPr/>
        </p:nvSpPr>
        <p:spPr>
          <a:xfrm>
            <a:off x="4877700" y="1581475"/>
            <a:ext cx="4061700" cy="2086500"/>
          </a:xfrm>
          <a:prstGeom prst="roundRect">
            <a:avLst>
              <a:gd fmla="val 4444" name="adj"/>
            </a:avLst>
          </a:prstGeom>
          <a:solidFill>
            <a:srgbClr val="E3F2FD"/>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83" name="Google Shape;383;g3a186b5d295_0_83"/>
          <p:cNvCxnSpPr/>
          <p:nvPr/>
        </p:nvCxnSpPr>
        <p:spPr>
          <a:xfrm flipH="1">
            <a:off x="4890879" y="1581475"/>
            <a:ext cx="3000" cy="2086500"/>
          </a:xfrm>
          <a:prstGeom prst="straightConnector1">
            <a:avLst/>
          </a:prstGeom>
          <a:noFill/>
          <a:ln cap="flat" cmpd="sng" w="57150">
            <a:solidFill>
              <a:srgbClr val="2196F3"/>
            </a:solidFill>
            <a:prstDash val="solid"/>
            <a:round/>
            <a:headEnd len="sm" w="sm" type="none"/>
            <a:tailEnd len="sm" w="sm" type="none"/>
          </a:ln>
        </p:spPr>
      </p:cxnSp>
      <p:sp>
        <p:nvSpPr>
          <p:cNvPr id="384" name="Google Shape;384;g3a186b5d295_0_83"/>
          <p:cNvSpPr/>
          <p:nvPr/>
        </p:nvSpPr>
        <p:spPr>
          <a:xfrm>
            <a:off x="5199571" y="1929220"/>
            <a:ext cx="3583500" cy="40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565C0"/>
              </a:buClr>
              <a:buSzPts val="1500"/>
              <a:buFont typeface="Arial"/>
              <a:buNone/>
            </a:pPr>
            <a:r>
              <a:rPr b="1" i="0" lang="en" sz="1800" u="none" cap="none" strike="noStrike">
                <a:solidFill>
                  <a:srgbClr val="1565C0"/>
                </a:solidFill>
                <a:latin typeface="Arial"/>
                <a:ea typeface="Arial"/>
                <a:cs typeface="Arial"/>
                <a:sym typeface="Arial"/>
              </a:rPr>
              <a:t>When to Use</a:t>
            </a:r>
            <a:endParaRPr b="0" i="0" sz="1800" u="none" cap="none" strike="noStrike">
              <a:solidFill>
                <a:schemeClr val="dk1"/>
              </a:solidFill>
              <a:latin typeface="Calibri"/>
              <a:ea typeface="Calibri"/>
              <a:cs typeface="Calibri"/>
              <a:sym typeface="Calibri"/>
            </a:endParaRPr>
          </a:p>
        </p:txBody>
      </p:sp>
      <p:sp>
        <p:nvSpPr>
          <p:cNvPr id="385" name="Google Shape;385;g3a186b5d295_0_83"/>
          <p:cNvSpPr/>
          <p:nvPr/>
        </p:nvSpPr>
        <p:spPr>
          <a:xfrm>
            <a:off x="5199571" y="2450837"/>
            <a:ext cx="3583500" cy="8115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650" u="none" cap="none" strike="noStrike">
                <a:solidFill>
                  <a:srgbClr val="292929"/>
                </a:solidFill>
                <a:latin typeface="Arial"/>
                <a:ea typeface="Arial"/>
                <a:cs typeface="Arial"/>
                <a:sym typeface="Arial"/>
              </a:rPr>
              <a:t>Fast container startup needed, can tolerate first-request penalty</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39fdcb38679_0_21"/>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Lazy Loading</a:t>
            </a:r>
            <a:endParaRPr/>
          </a:p>
        </p:txBody>
      </p:sp>
      <p:sp>
        <p:nvSpPr>
          <p:cNvPr id="391" name="Google Shape;391;g39fdcb38679_0_2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b="1" lang="en" sz="1800">
                <a:solidFill>
                  <a:schemeClr val="dk1"/>
                </a:solidFill>
              </a:rPr>
              <a:t>What Lazy Loading Means:</a:t>
            </a:r>
            <a:br>
              <a:rPr b="1" lang="en" sz="1800">
                <a:solidFill>
                  <a:schemeClr val="dk1"/>
                </a:solidFill>
              </a:rPr>
            </a:br>
            <a:r>
              <a:rPr lang="en" sz="1800">
                <a:solidFill>
                  <a:schemeClr val="dk1"/>
                </a:solidFill>
              </a:rPr>
              <a:t> Only load </a:t>
            </a:r>
            <a:r>
              <a:rPr b="1" lang="en" sz="1800">
                <a:solidFill>
                  <a:schemeClr val="dk1"/>
                </a:solidFill>
              </a:rPr>
              <a:t>critical path parts</a:t>
            </a:r>
            <a:r>
              <a:rPr lang="en" sz="1800">
                <a:solidFill>
                  <a:schemeClr val="dk1"/>
                </a:solidFill>
              </a:rPr>
              <a:t> during startup.</a:t>
            </a:r>
            <a:br>
              <a:rPr lang="en" sz="1800">
                <a:solidFill>
                  <a:schemeClr val="dk1"/>
                </a:solidFill>
              </a:rPr>
            </a:br>
            <a:r>
              <a:rPr lang="en" sz="1800">
                <a:solidFill>
                  <a:schemeClr val="dk1"/>
                </a:solidFill>
              </a:rPr>
              <a:t> Everything else is loaded </a:t>
            </a:r>
            <a:r>
              <a:rPr b="1" lang="en" sz="1800">
                <a:solidFill>
                  <a:schemeClr val="dk1"/>
                </a:solidFill>
              </a:rPr>
              <a:t>on first actual use</a:t>
            </a:r>
            <a:r>
              <a:rPr lang="en" sz="1800">
                <a:solidFill>
                  <a:schemeClr val="dk1"/>
                </a:solidFill>
              </a:rPr>
              <a:t> or </a:t>
            </a:r>
            <a:r>
              <a:rPr b="1" lang="en" sz="1800">
                <a:solidFill>
                  <a:schemeClr val="dk1"/>
                </a:solidFill>
              </a:rPr>
              <a:t>in background</a:t>
            </a:r>
            <a:r>
              <a:rPr lang="en" sz="1800">
                <a:solidFill>
                  <a:schemeClr val="dk1"/>
                </a:solidFill>
              </a:rPr>
              <a:t>.</a:t>
            </a:r>
            <a:endParaRPr sz="1800">
              <a:solidFill>
                <a:schemeClr val="dk1"/>
              </a:solidFill>
            </a:endParaRPr>
          </a:p>
          <a:p>
            <a:pPr indent="0" lvl="0" marL="0" rtl="0" algn="l">
              <a:spcBef>
                <a:spcPts val="1200"/>
              </a:spcBef>
              <a:spcAft>
                <a:spcPts val="0"/>
              </a:spcAft>
              <a:buClr>
                <a:schemeClr val="dk1"/>
              </a:buClr>
              <a:buSzPts val="1100"/>
              <a:buFont typeface="Arial"/>
              <a:buNone/>
            </a:pPr>
            <a:r>
              <a:t/>
            </a:r>
            <a:endParaRPr sz="1800">
              <a:solidFill>
                <a:schemeClr val="dk1"/>
              </a:solidFill>
            </a:endParaRPr>
          </a:p>
          <a:p>
            <a:pPr indent="0" lvl="0" marL="0" rtl="0" algn="l">
              <a:spcBef>
                <a:spcPts val="1200"/>
              </a:spcBef>
              <a:spcAft>
                <a:spcPts val="0"/>
              </a:spcAft>
              <a:buClr>
                <a:schemeClr val="dk1"/>
              </a:buClr>
              <a:buSzPts val="1100"/>
              <a:buFont typeface="Arial"/>
              <a:buNone/>
            </a:pPr>
            <a:r>
              <a:rPr b="1" lang="en" sz="1800">
                <a:solidFill>
                  <a:schemeClr val="dk1"/>
                </a:solidFill>
              </a:rPr>
              <a:t>Where It Helps:</a:t>
            </a:r>
            <a:endParaRPr b="1" sz="1800">
              <a:solidFill>
                <a:schemeClr val="dk1"/>
              </a:solidFill>
            </a:endParaRPr>
          </a:p>
          <a:p>
            <a:pPr indent="-342900" lvl="0" marL="457200" rtl="0" algn="l">
              <a:spcBef>
                <a:spcPts val="1200"/>
              </a:spcBef>
              <a:spcAft>
                <a:spcPts val="0"/>
              </a:spcAft>
              <a:buClr>
                <a:schemeClr val="dk1"/>
              </a:buClr>
              <a:buSzPts val="1800"/>
              <a:buChar char="●"/>
            </a:pPr>
            <a:r>
              <a:rPr lang="en" sz="1800">
                <a:solidFill>
                  <a:schemeClr val="dk1"/>
                </a:solidFill>
              </a:rPr>
              <a:t>Tokenizer initialization</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Model head layers (e.g., classification heads)</a:t>
            </a:r>
            <a:br>
              <a:rPr lang="en"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Optional modules (e.g., generation utilities)</a:t>
            </a:r>
            <a:endParaRPr sz="1800">
              <a:solidFill>
                <a:schemeClr val="dk1"/>
              </a:solidFill>
            </a:endParaRPr>
          </a:p>
          <a:p>
            <a:pPr indent="0" lvl="0" marL="0" rtl="0" algn="l">
              <a:spcBef>
                <a:spcPts val="1200"/>
              </a:spcBef>
              <a:spcAft>
                <a:spcPts val="0"/>
              </a:spcAft>
              <a:buNone/>
            </a:pPr>
            <a:r>
              <a:t/>
            </a:r>
            <a:endParaRPr b="1" sz="18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a186b5d295_0_354"/>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Enable lazy components in startup</a:t>
            </a:r>
            <a:endParaRPr/>
          </a:p>
        </p:txBody>
      </p:sp>
      <p:sp>
        <p:nvSpPr>
          <p:cNvPr id="397" name="Google Shape;397;g3a186b5d295_0_354"/>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008000"/>
                </a:solidFill>
                <a:highlight>
                  <a:srgbClr val="FFFFFF"/>
                </a:highlight>
                <a:latin typeface="Courier New"/>
                <a:ea typeface="Courier New"/>
                <a:cs typeface="Courier New"/>
                <a:sym typeface="Courier New"/>
              </a:rPr>
              <a:t># Load tokenizer metadata only</a:t>
            </a:r>
            <a:endParaRPr sz="1800">
              <a:solidFill>
                <a:srgbClr val="008000"/>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001080"/>
                </a:solidFill>
                <a:highlight>
                  <a:srgbClr val="FFFFFF"/>
                </a:highlight>
                <a:latin typeface="Courier New"/>
                <a:ea typeface="Courier New"/>
                <a:cs typeface="Courier New"/>
                <a:sym typeface="Courier New"/>
              </a:rPr>
              <a:t>tokenizer</a:t>
            </a:r>
            <a:r>
              <a:rPr lang="en" sz="1800">
                <a:solidFill>
                  <a:schemeClr val="dk1"/>
                </a:solidFill>
                <a:highlight>
                  <a:srgbClr val="FFFFFF"/>
                </a:highlight>
                <a:latin typeface="Courier New"/>
                <a:ea typeface="Courier New"/>
                <a:cs typeface="Courier New"/>
                <a:sym typeface="Courier New"/>
              </a:rPr>
              <a:t> = AutoTokenizer.from_pretrained(name, </a:t>
            </a:r>
            <a:r>
              <a:rPr lang="en" sz="1800">
                <a:solidFill>
                  <a:srgbClr val="001080"/>
                </a:solidFill>
                <a:highlight>
                  <a:srgbClr val="FFFFFF"/>
                </a:highlight>
                <a:latin typeface="Courier New"/>
                <a:ea typeface="Courier New"/>
                <a:cs typeface="Courier New"/>
                <a:sym typeface="Courier New"/>
              </a:rPr>
              <a:t>lazy_init</a:t>
            </a:r>
            <a:r>
              <a:rPr lang="en" sz="1800">
                <a:solidFill>
                  <a:schemeClr val="dk1"/>
                </a:solidFill>
                <a:highlight>
                  <a:srgbClr val="FFFFFF"/>
                </a:highlight>
                <a:latin typeface="Courier New"/>
                <a:ea typeface="Courier New"/>
                <a:cs typeface="Courier New"/>
                <a:sym typeface="Courier New"/>
              </a:rPr>
              <a:t>=</a:t>
            </a:r>
            <a:r>
              <a:rPr lang="en" sz="1800">
                <a:solidFill>
                  <a:srgbClr val="0000FF"/>
                </a:solidFill>
                <a:highlight>
                  <a:srgbClr val="FFFFFF"/>
                </a:highlight>
                <a:latin typeface="Courier New"/>
                <a:ea typeface="Courier New"/>
                <a:cs typeface="Courier New"/>
                <a:sym typeface="Courier New"/>
              </a:rPr>
              <a:t>True</a:t>
            </a:r>
            <a:r>
              <a:rPr lang="en" sz="1800">
                <a:solidFill>
                  <a:schemeClr val="dk1"/>
                </a:solidFill>
                <a:highlight>
                  <a:srgbClr val="FFFFFF"/>
                </a:highlight>
                <a:latin typeface="Courier New"/>
                <a:ea typeface="Courier New"/>
                <a:cs typeface="Courier New"/>
                <a:sym typeface="Courier New"/>
              </a:rPr>
              <a:t>)</a:t>
            </a:r>
            <a:endParaRPr sz="18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008000"/>
                </a:solidFill>
                <a:highlight>
                  <a:srgbClr val="FFFFFF"/>
                </a:highlight>
                <a:latin typeface="Courier New"/>
                <a:ea typeface="Courier New"/>
                <a:cs typeface="Courier New"/>
                <a:sym typeface="Courier New"/>
              </a:rPr>
              <a:t># Defer GPU mapping of some buffers until first inference</a:t>
            </a:r>
            <a:endParaRPr sz="1800">
              <a:solidFill>
                <a:srgbClr val="008000"/>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001080"/>
                </a:solidFill>
                <a:highlight>
                  <a:srgbClr val="FFFFFF"/>
                </a:highlight>
                <a:latin typeface="Courier New"/>
                <a:ea typeface="Courier New"/>
                <a:cs typeface="Courier New"/>
                <a:sym typeface="Courier New"/>
              </a:rPr>
              <a:t>model</a:t>
            </a:r>
            <a:r>
              <a:rPr lang="en" sz="1800">
                <a:solidFill>
                  <a:schemeClr val="dk1"/>
                </a:solidFill>
                <a:highlight>
                  <a:srgbClr val="FFFFFF"/>
                </a:highlight>
                <a:latin typeface="Courier New"/>
                <a:ea typeface="Courier New"/>
                <a:cs typeface="Courier New"/>
                <a:sym typeface="Courier New"/>
              </a:rPr>
              <a:t> = AutoModelForSequenceClassification.from_pretrained(name)</a:t>
            </a:r>
            <a:endParaRPr sz="1800">
              <a:solidFill>
                <a:schemeClr val="dk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800">
                <a:solidFill>
                  <a:srgbClr val="001080"/>
                </a:solidFill>
                <a:highlight>
                  <a:srgbClr val="FFFFFF"/>
                </a:highlight>
                <a:latin typeface="Courier New"/>
                <a:ea typeface="Courier New"/>
                <a:cs typeface="Courier New"/>
                <a:sym typeface="Courier New"/>
              </a:rPr>
              <a:t>model</a:t>
            </a:r>
            <a:r>
              <a:rPr lang="en" sz="1800">
                <a:solidFill>
                  <a:schemeClr val="dk1"/>
                </a:solidFill>
                <a:highlight>
                  <a:srgbClr val="FFFFFF"/>
                </a:highlight>
                <a:latin typeface="Courier New"/>
                <a:ea typeface="Courier New"/>
                <a:cs typeface="Courier New"/>
                <a:sym typeface="Courier New"/>
              </a:rPr>
              <a:t>.to(</a:t>
            </a:r>
            <a:r>
              <a:rPr lang="en" sz="1800">
                <a:solidFill>
                  <a:srgbClr val="A31515"/>
                </a:solidFill>
                <a:highlight>
                  <a:srgbClr val="FFFFFF"/>
                </a:highlight>
                <a:latin typeface="Courier New"/>
                <a:ea typeface="Courier New"/>
                <a:cs typeface="Courier New"/>
                <a:sym typeface="Courier New"/>
              </a:rPr>
              <a:t>"cuda"</a:t>
            </a:r>
            <a:r>
              <a:rPr lang="en" sz="1800">
                <a:solidFill>
                  <a:schemeClr val="dk1"/>
                </a:solidFill>
                <a:highlight>
                  <a:srgbClr val="FFFFFF"/>
                </a:highlight>
                <a:latin typeface="Courier New"/>
                <a:ea typeface="Courier New"/>
                <a:cs typeface="Courier New"/>
                <a:sym typeface="Courier New"/>
              </a:rPr>
              <a:t>, </a:t>
            </a:r>
            <a:r>
              <a:rPr lang="en" sz="1800">
                <a:solidFill>
                  <a:srgbClr val="001080"/>
                </a:solidFill>
                <a:highlight>
                  <a:srgbClr val="FFFFFF"/>
                </a:highlight>
                <a:latin typeface="Courier New"/>
                <a:ea typeface="Courier New"/>
                <a:cs typeface="Courier New"/>
                <a:sym typeface="Courier New"/>
              </a:rPr>
              <a:t>non_blocking</a:t>
            </a:r>
            <a:r>
              <a:rPr lang="en" sz="1800">
                <a:solidFill>
                  <a:schemeClr val="dk1"/>
                </a:solidFill>
                <a:highlight>
                  <a:srgbClr val="FFFFFF"/>
                </a:highlight>
                <a:latin typeface="Courier New"/>
                <a:ea typeface="Courier New"/>
                <a:cs typeface="Courier New"/>
                <a:sym typeface="Courier New"/>
              </a:rPr>
              <a:t>=</a:t>
            </a:r>
            <a:r>
              <a:rPr lang="en" sz="1800">
                <a:solidFill>
                  <a:srgbClr val="0000FF"/>
                </a:solidFill>
                <a:highlight>
                  <a:srgbClr val="FFFFFF"/>
                </a:highlight>
                <a:latin typeface="Courier New"/>
                <a:ea typeface="Courier New"/>
                <a:cs typeface="Courier New"/>
                <a:sym typeface="Courier New"/>
              </a:rPr>
              <a:t>True</a:t>
            </a:r>
            <a:r>
              <a:rPr lang="en" sz="1800">
                <a:solidFill>
                  <a:schemeClr val="dk1"/>
                </a:solidFill>
                <a:highlight>
                  <a:srgbClr val="FFFFFF"/>
                </a:highlight>
                <a:latin typeface="Courier New"/>
                <a:ea typeface="Courier New"/>
                <a:cs typeface="Courier New"/>
                <a:sym typeface="Courier New"/>
              </a:rPr>
              <a:t>)</a:t>
            </a:r>
            <a:endParaRPr sz="18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a186b5d295_0_365"/>
          <p:cNvSpPr txBox="1"/>
          <p:nvPr>
            <p:ph type="title"/>
          </p:nvPr>
        </p:nvSpPr>
        <p:spPr>
          <a:xfrm>
            <a:off x="311700" y="0"/>
            <a:ext cx="6949800" cy="1047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Using a few tips and tricks</a:t>
            </a:r>
            <a:endParaRPr/>
          </a:p>
        </p:txBody>
      </p:sp>
      <p:sp>
        <p:nvSpPr>
          <p:cNvPr id="403" name="Google Shape;403;g3a186b5d295_0_365"/>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Demo 2</a:t>
            </a:r>
            <a:endParaRPr/>
          </a:p>
        </p:txBody>
      </p:sp>
      <p:pic>
        <p:nvPicPr>
          <p:cNvPr id="404" name="Google Shape;404;g3a186b5d295_0_365" title="Atlanta_Demo_2.mp4">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09" name="Shape 409"/>
        <p:cNvGrpSpPr/>
        <p:nvPr/>
      </p:nvGrpSpPr>
      <p:grpSpPr>
        <a:xfrm>
          <a:off x="0" y="0"/>
          <a:ext cx="0" cy="0"/>
          <a:chOff x="0" y="0"/>
          <a:chExt cx="0" cy="0"/>
        </a:xfrm>
      </p:grpSpPr>
      <p:sp>
        <p:nvSpPr>
          <p:cNvPr id="410" name="Google Shape;410;g3a186b5d295_0_103"/>
          <p:cNvSpPr/>
          <p:nvPr/>
        </p:nvSpPr>
        <p:spPr>
          <a:xfrm>
            <a:off x="304800" y="228600"/>
            <a:ext cx="43623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Combining Strategies</a:t>
            </a:r>
            <a:endParaRPr b="0" i="0" sz="2700" u="none" cap="none" strike="noStrike">
              <a:solidFill>
                <a:schemeClr val="dk1"/>
              </a:solidFill>
              <a:latin typeface="Calibri"/>
              <a:ea typeface="Calibri"/>
              <a:cs typeface="Calibri"/>
              <a:sym typeface="Calibri"/>
            </a:endParaRPr>
          </a:p>
        </p:txBody>
      </p:sp>
      <p:sp>
        <p:nvSpPr>
          <p:cNvPr id="411" name="Google Shape;411;g3a186b5d295_0_103"/>
          <p:cNvSpPr/>
          <p:nvPr/>
        </p:nvSpPr>
        <p:spPr>
          <a:xfrm>
            <a:off x="304800" y="1114425"/>
            <a:ext cx="8534400" cy="3434700"/>
          </a:xfrm>
          <a:prstGeom prst="roundRect">
            <a:avLst>
              <a:gd fmla="val 3137"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2" name="Google Shape;412;g3a186b5d295_0_103"/>
          <p:cNvSpPr/>
          <p:nvPr/>
        </p:nvSpPr>
        <p:spPr>
          <a:xfrm>
            <a:off x="452628" y="1518501"/>
            <a:ext cx="8238600" cy="538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292929"/>
              </a:buClr>
              <a:buSzPts val="1800"/>
              <a:buFont typeface="Arial"/>
              <a:buNone/>
            </a:pPr>
            <a:r>
              <a:rPr b="1" i="0" lang="en" sz="1800" u="none" cap="none" strike="noStrike">
                <a:solidFill>
                  <a:srgbClr val="292929"/>
                </a:solidFill>
                <a:latin typeface="Arial"/>
                <a:ea typeface="Arial"/>
                <a:cs typeface="Arial"/>
                <a:sym typeface="Arial"/>
              </a:rPr>
              <a:t>Production Architecture</a:t>
            </a:r>
            <a:endParaRPr b="0" i="0" sz="1800" u="none" cap="none" strike="noStrike">
              <a:solidFill>
                <a:schemeClr val="dk1"/>
              </a:solidFill>
              <a:latin typeface="Calibri"/>
              <a:ea typeface="Calibri"/>
              <a:cs typeface="Calibri"/>
              <a:sym typeface="Calibri"/>
            </a:endParaRPr>
          </a:p>
        </p:txBody>
      </p:sp>
      <p:sp>
        <p:nvSpPr>
          <p:cNvPr id="413" name="Google Shape;413;g3a186b5d295_0_103"/>
          <p:cNvSpPr/>
          <p:nvPr/>
        </p:nvSpPr>
        <p:spPr>
          <a:xfrm>
            <a:off x="533400" y="2057270"/>
            <a:ext cx="8077200" cy="2087700"/>
          </a:xfrm>
          <a:prstGeom prst="rect">
            <a:avLst/>
          </a:prstGeom>
          <a:noFill/>
          <a:ln>
            <a:noFill/>
          </a:ln>
        </p:spPr>
        <p:txBody>
          <a:bodyPr anchorCtr="0" anchor="t" bIns="0" lIns="85725" spcFirstLastPara="1" rIns="0" wrap="square" tIns="0">
            <a:noAutofit/>
          </a:bodyPr>
          <a:lstStyle/>
          <a:p>
            <a:pPr indent="-114300" lvl="0" marL="85725" marR="0" rtl="0" algn="ctr">
              <a:lnSpc>
                <a:spcPct val="155555"/>
              </a:lnSpc>
              <a:spcBef>
                <a:spcPts val="0"/>
              </a:spcBef>
              <a:spcAft>
                <a:spcPts val="0"/>
              </a:spcAft>
              <a:buClr>
                <a:srgbClr val="292929"/>
              </a:buClr>
              <a:buSzPts val="1800"/>
              <a:buFont typeface="Arial"/>
              <a:buChar char="•"/>
            </a:pPr>
            <a:r>
              <a:rPr b="0" i="0" lang="en" sz="1800" u="none" cap="none" strike="noStrike">
                <a:solidFill>
                  <a:srgbClr val="292929"/>
                </a:solidFill>
                <a:latin typeface="Arial"/>
                <a:ea typeface="Arial"/>
                <a:cs typeface="Arial"/>
                <a:sym typeface="Arial"/>
              </a:rPr>
              <a:t>Pre-warmed pool: min 2 replicas, max 10</a:t>
            </a:r>
            <a:endParaRPr b="0" i="0" sz="1800" u="none" cap="none" strike="noStrike">
              <a:solidFill>
                <a:schemeClr val="dk1"/>
              </a:solidFill>
              <a:latin typeface="Calibri"/>
              <a:ea typeface="Calibri"/>
              <a:cs typeface="Calibri"/>
              <a:sym typeface="Calibri"/>
            </a:endParaRPr>
          </a:p>
          <a:p>
            <a:pPr indent="-114300" lvl="0" marL="85725" marR="0" rtl="0" algn="ctr">
              <a:lnSpc>
                <a:spcPct val="155555"/>
              </a:lnSpc>
              <a:spcBef>
                <a:spcPts val="0"/>
              </a:spcBef>
              <a:spcAft>
                <a:spcPts val="0"/>
              </a:spcAft>
              <a:buClr>
                <a:srgbClr val="292929"/>
              </a:buClr>
              <a:buSzPts val="1800"/>
              <a:buFont typeface="Arial"/>
              <a:buChar char="•"/>
            </a:pPr>
            <a:r>
              <a:rPr b="0" i="0" lang="en" sz="1800" u="none" cap="none" strike="noStrike">
                <a:solidFill>
                  <a:srgbClr val="292929"/>
                </a:solidFill>
                <a:latin typeface="Arial"/>
                <a:ea typeface="Arial"/>
                <a:cs typeface="Arial"/>
                <a:sym typeface="Arial"/>
              </a:rPr>
              <a:t>Models serialized in ONNX format</a:t>
            </a:r>
            <a:endParaRPr b="0" i="0" sz="1800" u="none" cap="none" strike="noStrike">
              <a:solidFill>
                <a:schemeClr val="dk1"/>
              </a:solidFill>
              <a:latin typeface="Calibri"/>
              <a:ea typeface="Calibri"/>
              <a:cs typeface="Calibri"/>
              <a:sym typeface="Calibri"/>
            </a:endParaRPr>
          </a:p>
          <a:p>
            <a:pPr indent="-114300" lvl="0" marL="85725" marR="0" rtl="0" algn="ctr">
              <a:lnSpc>
                <a:spcPct val="155555"/>
              </a:lnSpc>
              <a:spcBef>
                <a:spcPts val="0"/>
              </a:spcBef>
              <a:spcAft>
                <a:spcPts val="0"/>
              </a:spcAft>
              <a:buClr>
                <a:srgbClr val="292929"/>
              </a:buClr>
              <a:buSzPts val="1800"/>
              <a:buFont typeface="Arial"/>
              <a:buChar char="•"/>
            </a:pPr>
            <a:r>
              <a:rPr b="0" i="0" lang="en" sz="1800" u="none" cap="none" strike="noStrike">
                <a:solidFill>
                  <a:srgbClr val="292929"/>
                </a:solidFill>
                <a:latin typeface="Arial"/>
                <a:ea typeface="Arial"/>
                <a:cs typeface="Arial"/>
                <a:sym typeface="Arial"/>
              </a:rPr>
              <a:t>Lazy loading for rarely-used models</a:t>
            </a:r>
            <a:endParaRPr b="0" i="0" sz="1800" u="none" cap="none" strike="noStrike">
              <a:solidFill>
                <a:schemeClr val="dk1"/>
              </a:solidFill>
              <a:latin typeface="Calibri"/>
              <a:ea typeface="Calibri"/>
              <a:cs typeface="Calibri"/>
              <a:sym typeface="Calibri"/>
            </a:endParaRPr>
          </a:p>
          <a:p>
            <a:pPr indent="-114300" lvl="0" marL="85725" marR="0" rtl="0" algn="ctr">
              <a:lnSpc>
                <a:spcPct val="155555"/>
              </a:lnSpc>
              <a:spcBef>
                <a:spcPts val="0"/>
              </a:spcBef>
              <a:spcAft>
                <a:spcPts val="0"/>
              </a:spcAft>
              <a:buClr>
                <a:srgbClr val="292929"/>
              </a:buClr>
              <a:buSzPts val="1800"/>
              <a:buFont typeface="Arial"/>
              <a:buChar char="•"/>
            </a:pPr>
            <a:r>
              <a:rPr b="0" i="0" lang="en" sz="1800" u="none" cap="none" strike="noStrike">
                <a:solidFill>
                  <a:srgbClr val="292929"/>
                </a:solidFill>
                <a:latin typeface="Arial"/>
                <a:ea typeface="Arial"/>
                <a:cs typeface="Arial"/>
                <a:sym typeface="Arial"/>
              </a:rPr>
              <a:t>Aggressive autoscaling on traffic spikes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18" name="Shape 418"/>
        <p:cNvGrpSpPr/>
        <p:nvPr/>
      </p:nvGrpSpPr>
      <p:grpSpPr>
        <a:xfrm>
          <a:off x="0" y="0"/>
          <a:ext cx="0" cy="0"/>
          <a:chOff x="0" y="0"/>
          <a:chExt cx="0" cy="0"/>
        </a:xfrm>
      </p:grpSpPr>
      <p:sp>
        <p:nvSpPr>
          <p:cNvPr id="419" name="Google Shape;419;g3a186b5d295_0_151"/>
          <p:cNvSpPr/>
          <p:nvPr/>
        </p:nvSpPr>
        <p:spPr>
          <a:xfrm>
            <a:off x="304800" y="228600"/>
            <a:ext cx="43623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Emerging Techniques</a:t>
            </a:r>
            <a:endParaRPr b="0" i="0" sz="2700" u="none" cap="none" strike="noStrike">
              <a:solidFill>
                <a:schemeClr val="dk1"/>
              </a:solidFill>
              <a:latin typeface="Calibri"/>
              <a:ea typeface="Calibri"/>
              <a:cs typeface="Calibri"/>
              <a:sym typeface="Calibri"/>
            </a:endParaRPr>
          </a:p>
        </p:txBody>
      </p:sp>
      <p:sp>
        <p:nvSpPr>
          <p:cNvPr id="420" name="Google Shape;420;g3a186b5d295_0_151"/>
          <p:cNvSpPr/>
          <p:nvPr/>
        </p:nvSpPr>
        <p:spPr>
          <a:xfrm>
            <a:off x="304800" y="1752600"/>
            <a:ext cx="8534400" cy="647700"/>
          </a:xfrm>
          <a:prstGeom prst="roundRect">
            <a:avLst>
              <a:gd fmla="val 9412" name="adj"/>
            </a:avLst>
          </a:prstGeom>
          <a:solidFill>
            <a:srgbClr val="FFF3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21" name="Google Shape;421;g3a186b5d295_0_151"/>
          <p:cNvCxnSpPr/>
          <p:nvPr/>
        </p:nvCxnSpPr>
        <p:spPr>
          <a:xfrm>
            <a:off x="333375" y="1752600"/>
            <a:ext cx="0" cy="647700"/>
          </a:xfrm>
          <a:prstGeom prst="straightConnector1">
            <a:avLst/>
          </a:prstGeom>
          <a:noFill/>
          <a:ln cap="flat" cmpd="sng" w="57150">
            <a:solidFill>
              <a:srgbClr val="FF9800"/>
            </a:solidFill>
            <a:prstDash val="solid"/>
            <a:round/>
            <a:headEnd len="sm" w="sm" type="none"/>
            <a:tailEnd len="sm" w="sm" type="none"/>
          </a:ln>
        </p:spPr>
      </p:cxnSp>
      <p:sp>
        <p:nvSpPr>
          <p:cNvPr id="422" name="Google Shape;422;g3a186b5d295_0_151"/>
          <p:cNvSpPr/>
          <p:nvPr/>
        </p:nvSpPr>
        <p:spPr>
          <a:xfrm>
            <a:off x="361950" y="1752600"/>
            <a:ext cx="86469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5100"/>
              </a:buClr>
              <a:buSzPts val="1500"/>
              <a:buFont typeface="Arial"/>
              <a:buNone/>
            </a:pPr>
            <a:r>
              <a:rPr b="1" i="0" lang="en" sz="1500" u="none" cap="none" strike="noStrike">
                <a:solidFill>
                  <a:srgbClr val="E65100"/>
                </a:solidFill>
                <a:latin typeface="Arial"/>
                <a:ea typeface="Arial"/>
                <a:cs typeface="Arial"/>
                <a:sym typeface="Arial"/>
              </a:rPr>
              <a:t>GPU State Snapshotting</a:t>
            </a:r>
            <a:endParaRPr b="0" i="0" sz="1500" u="none" cap="none" strike="noStrike">
              <a:solidFill>
                <a:schemeClr val="dk1"/>
              </a:solidFill>
              <a:latin typeface="Calibri"/>
              <a:ea typeface="Calibri"/>
              <a:cs typeface="Calibri"/>
              <a:sym typeface="Calibri"/>
            </a:endParaRPr>
          </a:p>
        </p:txBody>
      </p:sp>
      <p:sp>
        <p:nvSpPr>
          <p:cNvPr id="423" name="Google Shape;423;g3a186b5d295_0_151"/>
          <p:cNvSpPr/>
          <p:nvPr/>
        </p:nvSpPr>
        <p:spPr>
          <a:xfrm>
            <a:off x="361950" y="2095500"/>
            <a:ext cx="86469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NVIDIA CRIU integration: checkpoint running GPU process, restore in seconds</a:t>
            </a:r>
            <a:endParaRPr b="0" i="0" sz="1350" u="none" cap="none" strike="noStrike">
              <a:solidFill>
                <a:schemeClr val="dk1"/>
              </a:solidFill>
              <a:latin typeface="Calibri"/>
              <a:ea typeface="Calibri"/>
              <a:cs typeface="Calibri"/>
              <a:sym typeface="Calibri"/>
            </a:endParaRPr>
          </a:p>
        </p:txBody>
      </p:sp>
      <p:sp>
        <p:nvSpPr>
          <p:cNvPr id="424" name="Google Shape;424;g3a186b5d295_0_151"/>
          <p:cNvSpPr/>
          <p:nvPr/>
        </p:nvSpPr>
        <p:spPr>
          <a:xfrm>
            <a:off x="304800" y="2628900"/>
            <a:ext cx="8534400" cy="647700"/>
          </a:xfrm>
          <a:prstGeom prst="roundRect">
            <a:avLst>
              <a:gd fmla="val 9412" name="adj"/>
            </a:avLst>
          </a:prstGeom>
          <a:solidFill>
            <a:srgbClr val="FFF3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25" name="Google Shape;425;g3a186b5d295_0_151"/>
          <p:cNvCxnSpPr/>
          <p:nvPr/>
        </p:nvCxnSpPr>
        <p:spPr>
          <a:xfrm>
            <a:off x="333375" y="2628900"/>
            <a:ext cx="0" cy="647700"/>
          </a:xfrm>
          <a:prstGeom prst="straightConnector1">
            <a:avLst/>
          </a:prstGeom>
          <a:noFill/>
          <a:ln cap="flat" cmpd="sng" w="57150">
            <a:solidFill>
              <a:srgbClr val="FF9800"/>
            </a:solidFill>
            <a:prstDash val="solid"/>
            <a:round/>
            <a:headEnd len="sm" w="sm" type="none"/>
            <a:tailEnd len="sm" w="sm" type="none"/>
          </a:ln>
        </p:spPr>
      </p:cxnSp>
      <p:sp>
        <p:nvSpPr>
          <p:cNvPr id="426" name="Google Shape;426;g3a186b5d295_0_151"/>
          <p:cNvSpPr/>
          <p:nvPr/>
        </p:nvSpPr>
        <p:spPr>
          <a:xfrm>
            <a:off x="361950" y="2628900"/>
            <a:ext cx="86469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5100"/>
              </a:buClr>
              <a:buSzPts val="1500"/>
              <a:buFont typeface="Arial"/>
              <a:buNone/>
            </a:pPr>
            <a:r>
              <a:rPr b="1" i="0" lang="en" sz="1500" u="none" cap="none" strike="noStrike">
                <a:solidFill>
                  <a:srgbClr val="E65100"/>
                </a:solidFill>
                <a:latin typeface="Arial"/>
                <a:ea typeface="Arial"/>
                <a:cs typeface="Arial"/>
                <a:sym typeface="Arial"/>
              </a:rPr>
              <a:t>Memory-mapped Models</a:t>
            </a:r>
            <a:endParaRPr b="0" i="0" sz="1500" u="none" cap="none" strike="noStrike">
              <a:solidFill>
                <a:schemeClr val="dk1"/>
              </a:solidFill>
              <a:latin typeface="Calibri"/>
              <a:ea typeface="Calibri"/>
              <a:cs typeface="Calibri"/>
              <a:sym typeface="Calibri"/>
            </a:endParaRPr>
          </a:p>
        </p:txBody>
      </p:sp>
      <p:sp>
        <p:nvSpPr>
          <p:cNvPr id="427" name="Google Shape;427;g3a186b5d295_0_151"/>
          <p:cNvSpPr/>
          <p:nvPr/>
        </p:nvSpPr>
        <p:spPr>
          <a:xfrm>
            <a:off x="361950" y="2971800"/>
            <a:ext cx="86469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Keep weights in shared memory, fork process with model pre-loaded</a:t>
            </a:r>
            <a:endParaRPr b="0" i="0" sz="1350" u="none" cap="none" strike="noStrike">
              <a:solidFill>
                <a:schemeClr val="dk1"/>
              </a:solidFill>
              <a:latin typeface="Calibri"/>
              <a:ea typeface="Calibri"/>
              <a:cs typeface="Calibri"/>
              <a:sym typeface="Calibri"/>
            </a:endParaRPr>
          </a:p>
        </p:txBody>
      </p:sp>
      <p:sp>
        <p:nvSpPr>
          <p:cNvPr id="428" name="Google Shape;428;g3a186b5d295_0_151"/>
          <p:cNvSpPr/>
          <p:nvPr/>
        </p:nvSpPr>
        <p:spPr>
          <a:xfrm>
            <a:off x="304800" y="3505200"/>
            <a:ext cx="8534400" cy="647700"/>
          </a:xfrm>
          <a:prstGeom prst="roundRect">
            <a:avLst>
              <a:gd fmla="val 9412" name="adj"/>
            </a:avLst>
          </a:prstGeom>
          <a:solidFill>
            <a:srgbClr val="FFF3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29" name="Google Shape;429;g3a186b5d295_0_151"/>
          <p:cNvCxnSpPr/>
          <p:nvPr/>
        </p:nvCxnSpPr>
        <p:spPr>
          <a:xfrm>
            <a:off x="333375" y="3505200"/>
            <a:ext cx="0" cy="647700"/>
          </a:xfrm>
          <a:prstGeom prst="straightConnector1">
            <a:avLst/>
          </a:prstGeom>
          <a:noFill/>
          <a:ln cap="flat" cmpd="sng" w="57150">
            <a:solidFill>
              <a:srgbClr val="FF9800"/>
            </a:solidFill>
            <a:prstDash val="solid"/>
            <a:round/>
            <a:headEnd len="sm" w="sm" type="none"/>
            <a:tailEnd len="sm" w="sm" type="none"/>
          </a:ln>
        </p:spPr>
      </p:cxnSp>
      <p:sp>
        <p:nvSpPr>
          <p:cNvPr id="430" name="Google Shape;430;g3a186b5d295_0_151"/>
          <p:cNvSpPr/>
          <p:nvPr/>
        </p:nvSpPr>
        <p:spPr>
          <a:xfrm>
            <a:off x="361950" y="3505200"/>
            <a:ext cx="86469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5100"/>
              </a:buClr>
              <a:buSzPts val="1500"/>
              <a:buFont typeface="Arial"/>
              <a:buNone/>
            </a:pPr>
            <a:r>
              <a:rPr b="1" i="0" lang="en" sz="1500" u="none" cap="none" strike="noStrike">
                <a:solidFill>
                  <a:srgbClr val="E65100"/>
                </a:solidFill>
                <a:latin typeface="Arial"/>
                <a:ea typeface="Arial"/>
                <a:cs typeface="Arial"/>
                <a:sym typeface="Arial"/>
              </a:rPr>
              <a:t>Speculative Warm-up</a:t>
            </a:r>
            <a:endParaRPr b="0" i="0" sz="1500" u="none" cap="none" strike="noStrike">
              <a:solidFill>
                <a:schemeClr val="dk1"/>
              </a:solidFill>
              <a:latin typeface="Calibri"/>
              <a:ea typeface="Calibri"/>
              <a:cs typeface="Calibri"/>
              <a:sym typeface="Calibri"/>
            </a:endParaRPr>
          </a:p>
        </p:txBody>
      </p:sp>
      <p:sp>
        <p:nvSpPr>
          <p:cNvPr id="431" name="Google Shape;431;g3a186b5d295_0_151"/>
          <p:cNvSpPr/>
          <p:nvPr/>
        </p:nvSpPr>
        <p:spPr>
          <a:xfrm>
            <a:off x="361950" y="3848100"/>
            <a:ext cx="86469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0" i="0" lang="en" sz="1350" u="none" cap="none" strike="noStrike">
                <a:solidFill>
                  <a:srgbClr val="292929"/>
                </a:solidFill>
                <a:latin typeface="Arial"/>
                <a:ea typeface="Arial"/>
                <a:cs typeface="Arial"/>
                <a:sym typeface="Arial"/>
              </a:rPr>
              <a:t>Predictive scaling based on traffic patterns, start warming before traffic arrives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36" name="Shape 436"/>
        <p:cNvGrpSpPr/>
        <p:nvPr/>
      </p:nvGrpSpPr>
      <p:grpSpPr>
        <a:xfrm>
          <a:off x="0" y="0"/>
          <a:ext cx="0" cy="0"/>
          <a:chOff x="0" y="0"/>
          <a:chExt cx="0" cy="0"/>
        </a:xfrm>
      </p:grpSpPr>
      <p:sp>
        <p:nvSpPr>
          <p:cNvPr id="437" name="Google Shape;437;g3a186b5d295_0_168"/>
          <p:cNvSpPr/>
          <p:nvPr/>
        </p:nvSpPr>
        <p:spPr>
          <a:xfrm>
            <a:off x="304800" y="228600"/>
            <a:ext cx="49452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Choosing the Right Approach</a:t>
            </a:r>
            <a:endParaRPr b="0" i="0" sz="2700" u="none" cap="none" strike="noStrike">
              <a:solidFill>
                <a:schemeClr val="dk1"/>
              </a:solidFill>
              <a:latin typeface="Calibri"/>
              <a:ea typeface="Calibri"/>
              <a:cs typeface="Calibri"/>
              <a:sym typeface="Calibri"/>
            </a:endParaRPr>
          </a:p>
        </p:txBody>
      </p:sp>
      <p:sp>
        <p:nvSpPr>
          <p:cNvPr id="438" name="Google Shape;438;g3a186b5d295_0_168"/>
          <p:cNvSpPr/>
          <p:nvPr/>
        </p:nvSpPr>
        <p:spPr>
          <a:xfrm>
            <a:off x="304800" y="1177100"/>
            <a:ext cx="3656100" cy="1131900"/>
          </a:xfrm>
          <a:prstGeom prst="roundRect">
            <a:avLst>
              <a:gd fmla="val 10667" name="adj"/>
            </a:avLst>
          </a:prstGeom>
          <a:solidFill>
            <a:srgbClr val="E8F5E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39" name="Google Shape;439;g3a186b5d295_0_168"/>
          <p:cNvCxnSpPr/>
          <p:nvPr/>
        </p:nvCxnSpPr>
        <p:spPr>
          <a:xfrm>
            <a:off x="333375" y="1177100"/>
            <a:ext cx="0" cy="1131900"/>
          </a:xfrm>
          <a:prstGeom prst="straightConnector1">
            <a:avLst/>
          </a:prstGeom>
          <a:noFill/>
          <a:ln cap="flat" cmpd="sng" w="57150">
            <a:solidFill>
              <a:srgbClr val="4CAF50"/>
            </a:solidFill>
            <a:prstDash val="solid"/>
            <a:round/>
            <a:headEnd len="sm" w="sm" type="none"/>
            <a:tailEnd len="sm" w="sm" type="none"/>
          </a:ln>
        </p:spPr>
      </p:cxnSp>
      <p:sp>
        <p:nvSpPr>
          <p:cNvPr id="440" name="Google Shape;440;g3a186b5d295_0_168"/>
          <p:cNvSpPr/>
          <p:nvPr/>
        </p:nvSpPr>
        <p:spPr>
          <a:xfrm>
            <a:off x="329283" y="1177100"/>
            <a:ext cx="3704400" cy="5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7D32"/>
              </a:buClr>
              <a:buSzPts val="1350"/>
              <a:buFont typeface="Arial"/>
              <a:buNone/>
            </a:pPr>
            <a:r>
              <a:rPr b="1" lang="en" sz="1650">
                <a:solidFill>
                  <a:srgbClr val="2E7D32"/>
                </a:solidFill>
              </a:rPr>
              <a:t>  </a:t>
            </a:r>
            <a:r>
              <a:rPr b="1" i="0" lang="en" sz="1650" u="none" cap="none" strike="noStrike">
                <a:solidFill>
                  <a:srgbClr val="2E7D32"/>
                </a:solidFill>
                <a:latin typeface="Arial"/>
                <a:ea typeface="Arial"/>
                <a:cs typeface="Arial"/>
                <a:sym typeface="Arial"/>
              </a:rPr>
              <a:t>Need lowest possible latency?</a:t>
            </a:r>
            <a:endParaRPr b="0" i="0" sz="1650" u="none" cap="none" strike="noStrike">
              <a:solidFill>
                <a:schemeClr val="dk1"/>
              </a:solidFill>
              <a:latin typeface="Calibri"/>
              <a:ea typeface="Calibri"/>
              <a:cs typeface="Calibri"/>
              <a:sym typeface="Calibri"/>
            </a:endParaRPr>
          </a:p>
        </p:txBody>
      </p:sp>
      <p:sp>
        <p:nvSpPr>
          <p:cNvPr id="441" name="Google Shape;441;g3a186b5d295_0_168"/>
          <p:cNvSpPr/>
          <p:nvPr/>
        </p:nvSpPr>
        <p:spPr>
          <a:xfrm>
            <a:off x="329283" y="1780993"/>
            <a:ext cx="3704400" cy="453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92929"/>
              </a:buClr>
              <a:buSzPts val="1200"/>
              <a:buFont typeface="Arial"/>
              <a:buNone/>
            </a:pPr>
            <a:r>
              <a:rPr lang="en">
                <a:solidFill>
                  <a:srgbClr val="292929"/>
                </a:solidFill>
              </a:rPr>
              <a:t> </a:t>
            </a:r>
            <a:r>
              <a:rPr b="0" i="0" lang="en" u="none" cap="none" strike="noStrike">
                <a:solidFill>
                  <a:srgbClr val="292929"/>
                </a:solidFill>
                <a:latin typeface="Arial"/>
                <a:ea typeface="Arial"/>
                <a:cs typeface="Arial"/>
                <a:sym typeface="Arial"/>
              </a:rPr>
              <a:t>→ Pre-warmed pool with min replicas</a:t>
            </a:r>
            <a:endParaRPr b="0" i="0" u="none" cap="none" strike="noStrike">
              <a:solidFill>
                <a:schemeClr val="dk1"/>
              </a:solidFill>
              <a:latin typeface="Calibri"/>
              <a:ea typeface="Calibri"/>
              <a:cs typeface="Calibri"/>
              <a:sym typeface="Calibri"/>
            </a:endParaRPr>
          </a:p>
        </p:txBody>
      </p:sp>
      <p:sp>
        <p:nvSpPr>
          <p:cNvPr id="442" name="Google Shape;442;g3a186b5d295_0_168"/>
          <p:cNvSpPr/>
          <p:nvPr/>
        </p:nvSpPr>
        <p:spPr>
          <a:xfrm>
            <a:off x="4742984" y="1177101"/>
            <a:ext cx="3840300" cy="970200"/>
          </a:xfrm>
          <a:prstGeom prst="roundRect">
            <a:avLst>
              <a:gd fmla="val 10667" name="adj"/>
            </a:avLst>
          </a:prstGeom>
          <a:solidFill>
            <a:srgbClr val="FFF3E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43" name="Google Shape;443;g3a186b5d295_0_168"/>
          <p:cNvCxnSpPr/>
          <p:nvPr/>
        </p:nvCxnSpPr>
        <p:spPr>
          <a:xfrm>
            <a:off x="4755841" y="1177101"/>
            <a:ext cx="0" cy="970200"/>
          </a:xfrm>
          <a:prstGeom prst="straightConnector1">
            <a:avLst/>
          </a:prstGeom>
          <a:noFill/>
          <a:ln cap="flat" cmpd="sng" w="57150">
            <a:solidFill>
              <a:srgbClr val="FF9800"/>
            </a:solidFill>
            <a:prstDash val="solid"/>
            <a:round/>
            <a:headEnd len="sm" w="sm" type="none"/>
            <a:tailEnd len="sm" w="sm" type="none"/>
          </a:ln>
        </p:spPr>
      </p:cxnSp>
      <p:sp>
        <p:nvSpPr>
          <p:cNvPr id="444" name="Google Shape;444;g3a186b5d295_0_168"/>
          <p:cNvSpPr/>
          <p:nvPr/>
        </p:nvSpPr>
        <p:spPr>
          <a:xfrm>
            <a:off x="4768699" y="1177101"/>
            <a:ext cx="3890700" cy="4530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E65100"/>
              </a:buClr>
              <a:buSzPts val="1350"/>
              <a:buFont typeface="Arial"/>
              <a:buNone/>
            </a:pPr>
            <a:r>
              <a:rPr b="1" lang="en" sz="1650">
                <a:solidFill>
                  <a:srgbClr val="E65100"/>
                </a:solidFill>
              </a:rPr>
              <a:t>  </a:t>
            </a:r>
            <a:r>
              <a:rPr b="1" i="0" lang="en" sz="1650" u="none" cap="none" strike="noStrike">
                <a:solidFill>
                  <a:srgbClr val="E65100"/>
                </a:solidFill>
                <a:latin typeface="Arial"/>
                <a:ea typeface="Arial"/>
                <a:cs typeface="Arial"/>
                <a:sym typeface="Arial"/>
              </a:rPr>
              <a:t>Need cost optimization?</a:t>
            </a:r>
            <a:endParaRPr b="0" i="0" sz="1650" u="none" cap="none" strike="noStrike">
              <a:solidFill>
                <a:schemeClr val="dk1"/>
              </a:solidFill>
              <a:latin typeface="Calibri"/>
              <a:ea typeface="Calibri"/>
              <a:cs typeface="Calibri"/>
              <a:sym typeface="Calibri"/>
            </a:endParaRPr>
          </a:p>
        </p:txBody>
      </p:sp>
      <p:sp>
        <p:nvSpPr>
          <p:cNvPr id="445" name="Google Shape;445;g3a186b5d295_0_168"/>
          <p:cNvSpPr/>
          <p:nvPr/>
        </p:nvSpPr>
        <p:spPr>
          <a:xfrm>
            <a:off x="4768699" y="1694701"/>
            <a:ext cx="3890700" cy="388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92929"/>
              </a:buClr>
              <a:buSzPts val="1200"/>
              <a:buFont typeface="Arial"/>
              <a:buNone/>
            </a:pPr>
            <a:r>
              <a:rPr lang="en">
                <a:solidFill>
                  <a:srgbClr val="292929"/>
                </a:solidFill>
              </a:rPr>
              <a:t> </a:t>
            </a:r>
            <a:r>
              <a:rPr b="0" i="0" lang="en" u="none" cap="none" strike="noStrike">
                <a:solidFill>
                  <a:srgbClr val="292929"/>
                </a:solidFill>
                <a:latin typeface="Arial"/>
                <a:ea typeface="Arial"/>
                <a:cs typeface="Arial"/>
                <a:sym typeface="Arial"/>
              </a:rPr>
              <a:t>→ Lazy loading + scale-to-zero</a:t>
            </a:r>
            <a:endParaRPr b="0" i="0" u="none" cap="none" strike="noStrike">
              <a:solidFill>
                <a:schemeClr val="dk1"/>
              </a:solidFill>
              <a:latin typeface="Calibri"/>
              <a:ea typeface="Calibri"/>
              <a:cs typeface="Calibri"/>
              <a:sym typeface="Calibri"/>
            </a:endParaRPr>
          </a:p>
        </p:txBody>
      </p:sp>
      <p:sp>
        <p:nvSpPr>
          <p:cNvPr id="446" name="Google Shape;446;g3a186b5d295_0_168"/>
          <p:cNvSpPr/>
          <p:nvPr/>
        </p:nvSpPr>
        <p:spPr>
          <a:xfrm>
            <a:off x="333375" y="3085750"/>
            <a:ext cx="3520800" cy="970200"/>
          </a:xfrm>
          <a:prstGeom prst="roundRect">
            <a:avLst>
              <a:gd fmla="val 10667" name="adj"/>
            </a:avLst>
          </a:prstGeom>
          <a:solidFill>
            <a:srgbClr val="E3F2FD"/>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47" name="Google Shape;447;g3a186b5d295_0_168"/>
          <p:cNvCxnSpPr/>
          <p:nvPr/>
        </p:nvCxnSpPr>
        <p:spPr>
          <a:xfrm>
            <a:off x="345164" y="3085750"/>
            <a:ext cx="0" cy="970200"/>
          </a:xfrm>
          <a:prstGeom prst="straightConnector1">
            <a:avLst/>
          </a:prstGeom>
          <a:noFill/>
          <a:ln cap="flat" cmpd="sng" w="57150">
            <a:solidFill>
              <a:srgbClr val="2196F3"/>
            </a:solidFill>
            <a:prstDash val="solid"/>
            <a:round/>
            <a:headEnd len="sm" w="sm" type="none"/>
            <a:tailEnd len="sm" w="sm" type="none"/>
          </a:ln>
        </p:spPr>
      </p:cxnSp>
      <p:sp>
        <p:nvSpPr>
          <p:cNvPr id="448" name="Google Shape;448;g3a186b5d295_0_168"/>
          <p:cNvSpPr/>
          <p:nvPr/>
        </p:nvSpPr>
        <p:spPr>
          <a:xfrm>
            <a:off x="356953" y="3085750"/>
            <a:ext cx="3567300" cy="4530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1565C0"/>
              </a:buClr>
              <a:buSzPts val="1350"/>
              <a:buFont typeface="Arial"/>
              <a:buNone/>
            </a:pPr>
            <a:r>
              <a:rPr b="1" lang="en" sz="1650">
                <a:solidFill>
                  <a:srgbClr val="1565C0"/>
                </a:solidFill>
              </a:rPr>
              <a:t>  </a:t>
            </a:r>
            <a:r>
              <a:rPr b="1" i="0" lang="en" sz="1650" u="none" cap="none" strike="noStrike">
                <a:solidFill>
                  <a:srgbClr val="1565C0"/>
                </a:solidFill>
                <a:latin typeface="Arial"/>
                <a:ea typeface="Arial"/>
                <a:cs typeface="Arial"/>
                <a:sym typeface="Arial"/>
              </a:rPr>
              <a:t>Need simple deployment?</a:t>
            </a:r>
            <a:endParaRPr b="0" i="0" sz="1650" u="none" cap="none" strike="noStrike">
              <a:solidFill>
                <a:schemeClr val="dk1"/>
              </a:solidFill>
              <a:latin typeface="Calibri"/>
              <a:ea typeface="Calibri"/>
              <a:cs typeface="Calibri"/>
              <a:sym typeface="Calibri"/>
            </a:endParaRPr>
          </a:p>
        </p:txBody>
      </p:sp>
      <p:sp>
        <p:nvSpPr>
          <p:cNvPr id="449" name="Google Shape;449;g3a186b5d295_0_168"/>
          <p:cNvSpPr/>
          <p:nvPr/>
        </p:nvSpPr>
        <p:spPr>
          <a:xfrm>
            <a:off x="356953" y="3603350"/>
            <a:ext cx="3567300" cy="388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92929"/>
              </a:buClr>
              <a:buSzPts val="1200"/>
              <a:buFont typeface="Arial"/>
              <a:buNone/>
            </a:pPr>
            <a:r>
              <a:rPr lang="en">
                <a:solidFill>
                  <a:srgbClr val="292929"/>
                </a:solidFill>
              </a:rPr>
              <a:t> </a:t>
            </a:r>
            <a:r>
              <a:rPr b="0" i="0" lang="en" u="none" cap="none" strike="noStrike">
                <a:solidFill>
                  <a:srgbClr val="292929"/>
                </a:solidFill>
                <a:latin typeface="Arial"/>
                <a:ea typeface="Arial"/>
                <a:cs typeface="Arial"/>
                <a:sym typeface="Arial"/>
              </a:rPr>
              <a:t>→ Managed platforms</a:t>
            </a:r>
            <a:endParaRPr b="0" i="0" u="none" cap="none" strike="noStrike">
              <a:solidFill>
                <a:schemeClr val="dk1"/>
              </a:solidFill>
              <a:latin typeface="Calibri"/>
              <a:ea typeface="Calibri"/>
              <a:cs typeface="Calibri"/>
              <a:sym typeface="Calibri"/>
            </a:endParaRPr>
          </a:p>
        </p:txBody>
      </p:sp>
      <p:sp>
        <p:nvSpPr>
          <p:cNvPr id="450" name="Google Shape;450;g3a186b5d295_0_168"/>
          <p:cNvSpPr/>
          <p:nvPr/>
        </p:nvSpPr>
        <p:spPr>
          <a:xfrm>
            <a:off x="4742971" y="3085752"/>
            <a:ext cx="3765300" cy="970200"/>
          </a:xfrm>
          <a:prstGeom prst="roundRect">
            <a:avLst>
              <a:gd fmla="val 10667"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451" name="Google Shape;451;g3a186b5d295_0_168"/>
          <p:cNvCxnSpPr/>
          <p:nvPr/>
        </p:nvCxnSpPr>
        <p:spPr>
          <a:xfrm>
            <a:off x="4755579" y="3085752"/>
            <a:ext cx="0" cy="970200"/>
          </a:xfrm>
          <a:prstGeom prst="straightConnector1">
            <a:avLst/>
          </a:prstGeom>
          <a:noFill/>
          <a:ln cap="flat" cmpd="sng" w="57150">
            <a:solidFill>
              <a:srgbClr val="292929"/>
            </a:solidFill>
            <a:prstDash val="solid"/>
            <a:round/>
            <a:headEnd len="sm" w="sm" type="none"/>
            <a:tailEnd len="sm" w="sm" type="none"/>
          </a:ln>
        </p:spPr>
      </p:cxnSp>
      <p:sp>
        <p:nvSpPr>
          <p:cNvPr id="452" name="Google Shape;452;g3a186b5d295_0_168"/>
          <p:cNvSpPr/>
          <p:nvPr/>
        </p:nvSpPr>
        <p:spPr>
          <a:xfrm>
            <a:off x="4768187" y="3085752"/>
            <a:ext cx="3815100" cy="4530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92929"/>
              </a:buClr>
              <a:buSzPts val="1350"/>
              <a:buFont typeface="Arial"/>
              <a:buNone/>
            </a:pPr>
            <a:r>
              <a:rPr b="1" lang="en" sz="1650">
                <a:solidFill>
                  <a:srgbClr val="292929"/>
                </a:solidFill>
              </a:rPr>
              <a:t>  </a:t>
            </a:r>
            <a:r>
              <a:rPr b="1" i="0" lang="en" sz="1650" u="none" cap="none" strike="noStrike">
                <a:solidFill>
                  <a:srgbClr val="292929"/>
                </a:solidFill>
                <a:latin typeface="Arial"/>
                <a:ea typeface="Arial"/>
                <a:cs typeface="Arial"/>
                <a:sym typeface="Arial"/>
              </a:rPr>
              <a:t>Need maximum control?</a:t>
            </a:r>
            <a:endParaRPr b="0" i="0" sz="1650" u="none" cap="none" strike="noStrike">
              <a:solidFill>
                <a:schemeClr val="dk1"/>
              </a:solidFill>
              <a:latin typeface="Calibri"/>
              <a:ea typeface="Calibri"/>
              <a:cs typeface="Calibri"/>
              <a:sym typeface="Calibri"/>
            </a:endParaRPr>
          </a:p>
        </p:txBody>
      </p:sp>
      <p:sp>
        <p:nvSpPr>
          <p:cNvPr id="453" name="Google Shape;453;g3a186b5d295_0_168"/>
          <p:cNvSpPr/>
          <p:nvPr/>
        </p:nvSpPr>
        <p:spPr>
          <a:xfrm>
            <a:off x="4768187" y="3603352"/>
            <a:ext cx="3815100" cy="388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92929"/>
              </a:buClr>
              <a:buSzPts val="1200"/>
              <a:buFont typeface="Arial"/>
              <a:buNone/>
            </a:pPr>
            <a:r>
              <a:rPr lang="en">
                <a:solidFill>
                  <a:srgbClr val="292929"/>
                </a:solidFill>
              </a:rPr>
              <a:t> </a:t>
            </a:r>
            <a:r>
              <a:rPr b="0" i="0" lang="en" u="none" cap="none" strike="noStrike">
                <a:solidFill>
                  <a:srgbClr val="292929"/>
                </a:solidFill>
                <a:latin typeface="Arial"/>
                <a:ea typeface="Arial"/>
                <a:cs typeface="Arial"/>
                <a:sym typeface="Arial"/>
              </a:rPr>
              <a:t>→ DIY with K8s + device plugin</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58" name="Shape 458"/>
        <p:cNvGrpSpPr/>
        <p:nvPr/>
      </p:nvGrpSpPr>
      <p:grpSpPr>
        <a:xfrm>
          <a:off x="0" y="0"/>
          <a:ext cx="0" cy="0"/>
          <a:chOff x="0" y="0"/>
          <a:chExt cx="0" cy="0"/>
        </a:xfrm>
      </p:grpSpPr>
      <p:sp>
        <p:nvSpPr>
          <p:cNvPr id="459" name="Google Shape;459;g3a186b5d295_0_189"/>
          <p:cNvSpPr/>
          <p:nvPr/>
        </p:nvSpPr>
        <p:spPr>
          <a:xfrm>
            <a:off x="304800" y="228600"/>
            <a:ext cx="43623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E33737"/>
              </a:buClr>
              <a:buSzPts val="2700"/>
              <a:buFont typeface="Arial"/>
              <a:buNone/>
            </a:pPr>
            <a:r>
              <a:rPr b="1" i="0" lang="en" sz="2700" u="none" cap="none" strike="noStrike">
                <a:solidFill>
                  <a:srgbClr val="E33737"/>
                </a:solidFill>
                <a:latin typeface="Arial"/>
                <a:ea typeface="Arial"/>
                <a:cs typeface="Arial"/>
                <a:sym typeface="Arial"/>
              </a:rPr>
              <a:t>Key Takeaways</a:t>
            </a:r>
            <a:endParaRPr b="0" i="0" sz="2700" u="none" cap="none" strike="noStrike">
              <a:solidFill>
                <a:schemeClr val="dk1"/>
              </a:solidFill>
              <a:latin typeface="Calibri"/>
              <a:ea typeface="Calibri"/>
              <a:cs typeface="Calibri"/>
              <a:sym typeface="Calibri"/>
            </a:endParaRPr>
          </a:p>
        </p:txBody>
      </p:sp>
      <p:sp>
        <p:nvSpPr>
          <p:cNvPr id="460" name="Google Shape;460;g3a186b5d295_0_189"/>
          <p:cNvSpPr/>
          <p:nvPr/>
        </p:nvSpPr>
        <p:spPr>
          <a:xfrm>
            <a:off x="304800" y="1638300"/>
            <a:ext cx="8534400" cy="342900"/>
          </a:xfrm>
          <a:prstGeom prst="roundRect">
            <a:avLst>
              <a:gd fmla="val 17778"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1" name="Google Shape;461;g3a186b5d295_0_189"/>
          <p:cNvSpPr/>
          <p:nvPr/>
        </p:nvSpPr>
        <p:spPr>
          <a:xfrm>
            <a:off x="219456" y="1676400"/>
            <a:ext cx="8705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lang="en" sz="1500">
                <a:solidFill>
                  <a:srgbClr val="292929"/>
                </a:solidFill>
              </a:rPr>
              <a:t>                               </a:t>
            </a:r>
            <a:r>
              <a:rPr b="0" i="0" lang="en" sz="1500" u="none" cap="none" strike="noStrike">
                <a:solidFill>
                  <a:srgbClr val="292929"/>
                </a:solidFill>
                <a:latin typeface="Arial"/>
                <a:ea typeface="Arial"/>
                <a:cs typeface="Arial"/>
                <a:sym typeface="Arial"/>
              </a:rPr>
              <a:t>1. GPU cold starts are 5-10x slower than CPU (15-25s vs 2-3s)</a:t>
            </a:r>
            <a:endParaRPr b="0" i="0" sz="1500" u="none" cap="none" strike="noStrike">
              <a:solidFill>
                <a:schemeClr val="dk1"/>
              </a:solidFill>
              <a:latin typeface="Calibri"/>
              <a:ea typeface="Calibri"/>
              <a:cs typeface="Calibri"/>
              <a:sym typeface="Calibri"/>
            </a:endParaRPr>
          </a:p>
        </p:txBody>
      </p:sp>
      <p:sp>
        <p:nvSpPr>
          <p:cNvPr id="462" name="Google Shape;462;g3a186b5d295_0_189"/>
          <p:cNvSpPr/>
          <p:nvPr/>
        </p:nvSpPr>
        <p:spPr>
          <a:xfrm>
            <a:off x="304800" y="2209800"/>
            <a:ext cx="8534400" cy="342900"/>
          </a:xfrm>
          <a:prstGeom prst="roundRect">
            <a:avLst>
              <a:gd fmla="val 17778"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3" name="Google Shape;463;g3a186b5d295_0_189"/>
          <p:cNvSpPr/>
          <p:nvPr/>
        </p:nvSpPr>
        <p:spPr>
          <a:xfrm>
            <a:off x="219456" y="2247900"/>
            <a:ext cx="87051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92929"/>
              </a:buClr>
              <a:buSzPts val="1500"/>
              <a:buFont typeface="Arial"/>
              <a:buNone/>
            </a:pPr>
            <a:r>
              <a:rPr b="0" i="0" lang="en" sz="1500" u="none" cap="none" strike="noStrike">
                <a:solidFill>
                  <a:srgbClr val="292929"/>
                </a:solidFill>
                <a:latin typeface="Arial"/>
                <a:ea typeface="Arial"/>
                <a:cs typeface="Arial"/>
                <a:sym typeface="Arial"/>
              </a:rPr>
              <a:t>2. Main culprits: driver init, CUDA context, model deserialization</a:t>
            </a:r>
            <a:endParaRPr b="0" i="0" sz="1500" u="none" cap="none" strike="noStrike">
              <a:solidFill>
                <a:schemeClr val="dk1"/>
              </a:solidFill>
              <a:latin typeface="Calibri"/>
              <a:ea typeface="Calibri"/>
              <a:cs typeface="Calibri"/>
              <a:sym typeface="Calibri"/>
            </a:endParaRPr>
          </a:p>
        </p:txBody>
      </p:sp>
      <p:sp>
        <p:nvSpPr>
          <p:cNvPr id="464" name="Google Shape;464;g3a186b5d295_0_189"/>
          <p:cNvSpPr/>
          <p:nvPr/>
        </p:nvSpPr>
        <p:spPr>
          <a:xfrm>
            <a:off x="304800" y="2781300"/>
            <a:ext cx="8534400" cy="342900"/>
          </a:xfrm>
          <a:prstGeom prst="roundRect">
            <a:avLst>
              <a:gd fmla="val 17778"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5" name="Google Shape;465;g3a186b5d295_0_189"/>
          <p:cNvSpPr/>
          <p:nvPr/>
        </p:nvSpPr>
        <p:spPr>
          <a:xfrm>
            <a:off x="219456" y="2819400"/>
            <a:ext cx="8705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lang="en" sz="1500">
                <a:solidFill>
                  <a:srgbClr val="292929"/>
                </a:solidFill>
              </a:rPr>
              <a:t>                                </a:t>
            </a:r>
            <a:r>
              <a:rPr b="0" i="0" lang="en" sz="1500" u="none" cap="none" strike="noStrike">
                <a:solidFill>
                  <a:srgbClr val="292929"/>
                </a:solidFill>
                <a:latin typeface="Arial"/>
                <a:ea typeface="Arial"/>
                <a:cs typeface="Arial"/>
                <a:sym typeface="Arial"/>
              </a:rPr>
              <a:t>3</a:t>
            </a:r>
            <a:r>
              <a:rPr b="0" i="0" lang="en" sz="1500" u="none" cap="none" strike="noStrike">
                <a:solidFill>
                  <a:srgbClr val="292929"/>
                </a:solidFill>
                <a:latin typeface="Arial"/>
                <a:ea typeface="Arial"/>
                <a:cs typeface="Arial"/>
                <a:sym typeface="Arial"/>
              </a:rPr>
              <a:t>. Pre-warming is the gold standard for production systems</a:t>
            </a:r>
            <a:endParaRPr b="0" i="0" sz="1500" u="none" cap="none" strike="noStrike">
              <a:solidFill>
                <a:schemeClr val="dk1"/>
              </a:solidFill>
              <a:latin typeface="Calibri"/>
              <a:ea typeface="Calibri"/>
              <a:cs typeface="Calibri"/>
              <a:sym typeface="Calibri"/>
            </a:endParaRPr>
          </a:p>
        </p:txBody>
      </p:sp>
      <p:sp>
        <p:nvSpPr>
          <p:cNvPr id="466" name="Google Shape;466;g3a186b5d295_0_189"/>
          <p:cNvSpPr/>
          <p:nvPr/>
        </p:nvSpPr>
        <p:spPr>
          <a:xfrm>
            <a:off x="304800" y="3352800"/>
            <a:ext cx="8534400" cy="342900"/>
          </a:xfrm>
          <a:prstGeom prst="roundRect">
            <a:avLst>
              <a:gd fmla="val 17778"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7" name="Google Shape;467;g3a186b5d295_0_189"/>
          <p:cNvSpPr/>
          <p:nvPr/>
        </p:nvSpPr>
        <p:spPr>
          <a:xfrm>
            <a:off x="219456" y="3390900"/>
            <a:ext cx="8705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lang="en" sz="1500">
                <a:solidFill>
                  <a:srgbClr val="292929"/>
                </a:solidFill>
              </a:rPr>
              <a:t>                                </a:t>
            </a:r>
            <a:r>
              <a:rPr b="0" i="0" lang="en" sz="1500" u="none" cap="none" strike="noStrike">
                <a:solidFill>
                  <a:srgbClr val="292929"/>
                </a:solidFill>
                <a:latin typeface="Arial"/>
                <a:ea typeface="Arial"/>
                <a:cs typeface="Arial"/>
                <a:sym typeface="Arial"/>
              </a:rPr>
              <a:t>4. Serialization format matters: ONNX &gt; TorchScript &gt; pickle</a:t>
            </a:r>
            <a:endParaRPr b="0" i="0" sz="1500" u="none" cap="none" strike="noStrike">
              <a:solidFill>
                <a:schemeClr val="dk1"/>
              </a:solidFill>
              <a:latin typeface="Calibri"/>
              <a:ea typeface="Calibri"/>
              <a:cs typeface="Calibri"/>
              <a:sym typeface="Calibri"/>
            </a:endParaRPr>
          </a:p>
        </p:txBody>
      </p:sp>
      <p:sp>
        <p:nvSpPr>
          <p:cNvPr id="468" name="Google Shape;468;g3a186b5d295_0_189"/>
          <p:cNvSpPr/>
          <p:nvPr/>
        </p:nvSpPr>
        <p:spPr>
          <a:xfrm>
            <a:off x="304800" y="3924300"/>
            <a:ext cx="8534400" cy="342900"/>
          </a:xfrm>
          <a:prstGeom prst="roundRect">
            <a:avLst>
              <a:gd fmla="val 17778" name="adj"/>
            </a:avLst>
          </a:prstGeom>
          <a:solidFill>
            <a:srgbClr val="F5F5F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9" name="Google Shape;469;g3a186b5d295_0_189"/>
          <p:cNvSpPr/>
          <p:nvPr/>
        </p:nvSpPr>
        <p:spPr>
          <a:xfrm>
            <a:off x="219456" y="3962400"/>
            <a:ext cx="8705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92929"/>
              </a:buClr>
              <a:buSzPts val="1500"/>
              <a:buFont typeface="Arial"/>
              <a:buNone/>
            </a:pPr>
            <a:r>
              <a:rPr lang="en" sz="1500">
                <a:solidFill>
                  <a:srgbClr val="292929"/>
                </a:solidFill>
              </a:rPr>
              <a:t>                                </a:t>
            </a:r>
            <a:r>
              <a:rPr b="0" i="0" lang="en" sz="1500" u="none" cap="none" strike="noStrike">
                <a:solidFill>
                  <a:srgbClr val="292929"/>
                </a:solidFill>
                <a:latin typeface="Arial"/>
                <a:ea typeface="Arial"/>
                <a:cs typeface="Arial"/>
                <a:sym typeface="Arial"/>
              </a:rPr>
              <a:t>5. Managed platforms handle complexity for you (at a cost)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3a186b5d295_0_204"/>
          <p:cNvSpPr/>
          <p:nvPr/>
        </p:nvSpPr>
        <p:spPr>
          <a:xfrm>
            <a:off x="3770396" y="332950"/>
            <a:ext cx="1603200" cy="3429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E33737"/>
              </a:buClr>
              <a:buSzPts val="2250"/>
              <a:buFont typeface="Arial"/>
              <a:buNone/>
            </a:pPr>
            <a:r>
              <a:rPr b="1" lang="en" sz="2250">
                <a:solidFill>
                  <a:srgbClr val="E33737"/>
                </a:solidFill>
              </a:rPr>
              <a:t>Feedback</a:t>
            </a:r>
            <a:endParaRPr b="0" i="0" sz="2250" u="none" cap="none" strike="noStrike">
              <a:solidFill>
                <a:schemeClr val="dk1"/>
              </a:solidFill>
              <a:latin typeface="Calibri"/>
              <a:ea typeface="Calibri"/>
              <a:cs typeface="Calibri"/>
              <a:sym typeface="Calibri"/>
            </a:endParaRPr>
          </a:p>
        </p:txBody>
      </p:sp>
      <p:pic>
        <p:nvPicPr>
          <p:cNvPr id="476" name="Google Shape;476;g3a186b5d295_0_204"/>
          <p:cNvPicPr preferRelativeResize="0"/>
          <p:nvPr/>
        </p:nvPicPr>
        <p:blipFill>
          <a:blip r:embed="rId3">
            <a:alphaModFix/>
          </a:blip>
          <a:stretch>
            <a:fillRect/>
          </a:stretch>
        </p:blipFill>
        <p:spPr>
          <a:xfrm>
            <a:off x="2773875" y="773625"/>
            <a:ext cx="3596250" cy="3596250"/>
          </a:xfrm>
          <a:prstGeom prst="rect">
            <a:avLst/>
          </a:prstGeom>
          <a:noFill/>
          <a:ln>
            <a:noFill/>
          </a:ln>
        </p:spPr>
      </p:pic>
      <p:sp>
        <p:nvSpPr>
          <p:cNvPr id="477" name="Google Shape;477;g3a186b5d295_0_204"/>
          <p:cNvSpPr txBox="1"/>
          <p:nvPr/>
        </p:nvSpPr>
        <p:spPr>
          <a:xfrm>
            <a:off x="2639550" y="4097375"/>
            <a:ext cx="386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https://github.com/Nk272/CNCFAtlanta</a:t>
            </a:r>
            <a:endParaRPr b="1"/>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
          <p:cNvSpPr/>
          <p:nvPr/>
        </p:nvSpPr>
        <p:spPr>
          <a:xfrm>
            <a:off x="595139" y="3107750"/>
            <a:ext cx="2496000"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3600"/>
              <a:buFont typeface="Arial"/>
              <a:buNone/>
            </a:pPr>
            <a:r>
              <a:rPr b="1" i="0" lang="en" sz="3600" u="none" cap="none" strike="noStrike">
                <a:solidFill>
                  <a:srgbClr val="FFFFFF"/>
                </a:solidFill>
                <a:latin typeface="Arial"/>
                <a:ea typeface="Arial"/>
                <a:cs typeface="Arial"/>
                <a:sym typeface="Arial"/>
              </a:rPr>
              <a:t>Thank You!</a:t>
            </a:r>
            <a:endParaRPr b="0" i="0" sz="3600" u="none" cap="none" strike="noStrike">
              <a:solidFill>
                <a:schemeClr val="dk1"/>
              </a:solidFill>
              <a:latin typeface="Calibri"/>
              <a:ea typeface="Calibri"/>
              <a:cs typeface="Calibri"/>
              <a:sym typeface="Calibri"/>
            </a:endParaRPr>
          </a:p>
        </p:txBody>
      </p:sp>
      <p:sp>
        <p:nvSpPr>
          <p:cNvPr id="483" name="Google Shape;483;p8"/>
          <p:cNvSpPr/>
          <p:nvPr/>
        </p:nvSpPr>
        <p:spPr>
          <a:xfrm>
            <a:off x="1171821" y="3958675"/>
            <a:ext cx="1603200" cy="3429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E33737"/>
              </a:buClr>
              <a:buSzPts val="2250"/>
              <a:buFont typeface="Arial"/>
              <a:buNone/>
            </a:pPr>
            <a:r>
              <a:rPr b="1" i="0" lang="en" sz="2250" u="none" cap="none" strike="noStrike">
                <a:solidFill>
                  <a:srgbClr val="E33737"/>
                </a:solidFill>
                <a:latin typeface="Arial"/>
                <a:ea typeface="Arial"/>
                <a:cs typeface="Arial"/>
                <a:sym typeface="Arial"/>
              </a:rPr>
              <a:t>Questions?</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SSNA24">
  <a:themeElements>
    <a:clrScheme name="Simple Light">
      <a:dk1>
        <a:srgbClr val="000000"/>
      </a:dk1>
      <a:lt1>
        <a:srgbClr val="FFFFFF"/>
      </a:lt1>
      <a:dk2>
        <a:srgbClr val="595959"/>
      </a:dk2>
      <a:lt2>
        <a:srgbClr val="EEEEEE"/>
      </a:lt2>
      <a:accent1>
        <a:srgbClr val="AD1D4A"/>
      </a:accent1>
      <a:accent2>
        <a:srgbClr val="D43F5B"/>
      </a:accent2>
      <a:accent3>
        <a:srgbClr val="F6D110"/>
      </a:accent3>
      <a:accent4>
        <a:srgbClr val="333333"/>
      </a:accent4>
      <a:accent5>
        <a:srgbClr val="FFFFFF"/>
      </a:accent5>
      <a:accent6>
        <a:srgbClr val="999999"/>
      </a:accent6>
      <a:hlink>
        <a:srgbClr val="AD1D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